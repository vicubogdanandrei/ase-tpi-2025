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9144000" cy="5143500" type="screen16x9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0" d="100"/>
          <a:sy n="140" d="100"/>
        </p:scale>
        <p:origin x="696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ro-R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CB1BB-DC7B-49D3-A4A2-2A87161A3CBE}" type="datetimeFigureOut">
              <a:rPr lang="ro-RO" smtClean="0"/>
              <a:t>10.12.2024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8C6B1-F851-4DA0-8028-99C34AE95B2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87337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CB1BB-DC7B-49D3-A4A2-2A87161A3CBE}" type="datetimeFigureOut">
              <a:rPr lang="ro-RO" smtClean="0"/>
              <a:t>10.12.2024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8C6B1-F851-4DA0-8028-99C34AE95B2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00454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CB1BB-DC7B-49D3-A4A2-2A87161A3CBE}" type="datetimeFigureOut">
              <a:rPr lang="ro-RO" smtClean="0"/>
              <a:t>10.12.2024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8C6B1-F851-4DA0-8028-99C34AE95B2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61617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CB1BB-DC7B-49D3-A4A2-2A87161A3CBE}" type="datetimeFigureOut">
              <a:rPr lang="ro-RO" smtClean="0"/>
              <a:t>10.12.2024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8C6B1-F851-4DA0-8028-99C34AE95B2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30236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CB1BB-DC7B-49D3-A4A2-2A87161A3CBE}" type="datetimeFigureOut">
              <a:rPr lang="ro-RO" smtClean="0"/>
              <a:t>10.12.2024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8C6B1-F851-4DA0-8028-99C34AE95B2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15978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CB1BB-DC7B-49D3-A4A2-2A87161A3CBE}" type="datetimeFigureOut">
              <a:rPr lang="ro-RO" smtClean="0"/>
              <a:t>10.12.2024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8C6B1-F851-4DA0-8028-99C34AE95B2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19974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CB1BB-DC7B-49D3-A4A2-2A87161A3CBE}" type="datetimeFigureOut">
              <a:rPr lang="ro-RO" smtClean="0"/>
              <a:t>10.12.2024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8C6B1-F851-4DA0-8028-99C34AE95B2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86635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CB1BB-DC7B-49D3-A4A2-2A87161A3CBE}" type="datetimeFigureOut">
              <a:rPr lang="ro-RO" smtClean="0"/>
              <a:t>10.12.2024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8C6B1-F851-4DA0-8028-99C34AE95B2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13462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CB1BB-DC7B-49D3-A4A2-2A87161A3CBE}" type="datetimeFigureOut">
              <a:rPr lang="ro-RO" smtClean="0"/>
              <a:t>10.12.2024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8C6B1-F851-4DA0-8028-99C34AE95B2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79307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CB1BB-DC7B-49D3-A4A2-2A87161A3CBE}" type="datetimeFigureOut">
              <a:rPr lang="ro-RO" smtClean="0"/>
              <a:t>10.12.2024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8C6B1-F851-4DA0-8028-99C34AE95B2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49072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CB1BB-DC7B-49D3-A4A2-2A87161A3CBE}" type="datetimeFigureOut">
              <a:rPr lang="ro-RO" smtClean="0"/>
              <a:t>10.12.2024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8C6B1-F851-4DA0-8028-99C34AE95B2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05823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2CB1BB-DC7B-49D3-A4A2-2A87161A3CBE}" type="datetimeFigureOut">
              <a:rPr lang="ro-RO" smtClean="0"/>
              <a:t>10.12.2024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A8C6B1-F851-4DA0-8028-99C34AE95B2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803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/>
          <p:cNvGrpSpPr/>
          <p:nvPr/>
        </p:nvGrpSpPr>
        <p:grpSpPr>
          <a:xfrm>
            <a:off x="603738" y="405989"/>
            <a:ext cx="2514600" cy="680590"/>
            <a:chOff x="609600" y="514351"/>
            <a:chExt cx="2514600" cy="680590"/>
          </a:xfrm>
        </p:grpSpPr>
        <p:sp>
          <p:nvSpPr>
            <p:cNvPr id="7" name="TextBox 6"/>
            <p:cNvSpPr txBox="1"/>
            <p:nvPr/>
          </p:nvSpPr>
          <p:spPr>
            <a:xfrm>
              <a:off x="609600" y="856387"/>
              <a:ext cx="1981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o-RO" sz="1600" dirty="0"/>
                <a:t>Imagine degradată</a:t>
              </a:r>
            </a:p>
          </p:txBody>
        </p:sp>
        <p:cxnSp>
          <p:nvCxnSpPr>
            <p:cNvPr id="33" name="Straight Arrow Connector 32"/>
            <p:cNvCxnSpPr>
              <a:stCxn id="7" idx="0"/>
            </p:cNvCxnSpPr>
            <p:nvPr/>
          </p:nvCxnSpPr>
          <p:spPr>
            <a:xfrm flipV="1">
              <a:off x="1600200" y="514351"/>
              <a:ext cx="1524000" cy="34203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/>
          <p:cNvGrpSpPr/>
          <p:nvPr/>
        </p:nvGrpSpPr>
        <p:grpSpPr>
          <a:xfrm>
            <a:off x="2737338" y="405989"/>
            <a:ext cx="2286000" cy="788311"/>
            <a:chOff x="2743200" y="514351"/>
            <a:chExt cx="2286000" cy="788311"/>
          </a:xfrm>
        </p:grpSpPr>
        <p:sp>
          <p:nvSpPr>
            <p:cNvPr id="8" name="TextBox 7"/>
            <p:cNvSpPr txBox="1"/>
            <p:nvPr/>
          </p:nvSpPr>
          <p:spPr>
            <a:xfrm>
              <a:off x="2743200" y="717887"/>
              <a:ext cx="22860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o-RO" sz="1600" dirty="0"/>
                <a:t>Impuls </a:t>
              </a:r>
            </a:p>
            <a:p>
              <a:pPr algn="ctr"/>
              <a:r>
                <a:rPr lang="ro-RO" sz="1600" dirty="0"/>
                <a:t>(factor de degradare)</a:t>
              </a:r>
            </a:p>
          </p:txBody>
        </p:sp>
        <p:cxnSp>
          <p:nvCxnSpPr>
            <p:cNvPr id="34" name="Straight Arrow Connector 33"/>
            <p:cNvCxnSpPr>
              <a:stCxn id="8" idx="0"/>
            </p:cNvCxnSpPr>
            <p:nvPr/>
          </p:nvCxnSpPr>
          <p:spPr>
            <a:xfrm flipH="1" flipV="1">
              <a:off x="3733800" y="514351"/>
              <a:ext cx="152400" cy="20353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/>
          <p:cNvGrpSpPr/>
          <p:nvPr/>
        </p:nvGrpSpPr>
        <p:grpSpPr>
          <a:xfrm>
            <a:off x="4108938" y="405988"/>
            <a:ext cx="2895600" cy="680590"/>
            <a:chOff x="4114800" y="514350"/>
            <a:chExt cx="2895600" cy="680590"/>
          </a:xfrm>
        </p:grpSpPr>
        <p:sp>
          <p:nvSpPr>
            <p:cNvPr id="6" name="TextBox 5"/>
            <p:cNvSpPr txBox="1"/>
            <p:nvPr/>
          </p:nvSpPr>
          <p:spPr>
            <a:xfrm>
              <a:off x="5029200" y="856386"/>
              <a:ext cx="1981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o-RO" sz="1600" dirty="0"/>
                <a:t>Imagine clară</a:t>
              </a:r>
            </a:p>
          </p:txBody>
        </p:sp>
        <p:cxnSp>
          <p:nvCxnSpPr>
            <p:cNvPr id="35" name="Straight Arrow Connector 34"/>
            <p:cNvCxnSpPr>
              <a:stCxn id="6" idx="0"/>
            </p:cNvCxnSpPr>
            <p:nvPr/>
          </p:nvCxnSpPr>
          <p:spPr>
            <a:xfrm flipH="1" flipV="1">
              <a:off x="4114800" y="514350"/>
              <a:ext cx="1905000" cy="34203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/>
          <p:cNvGrpSpPr/>
          <p:nvPr/>
        </p:nvGrpSpPr>
        <p:grpSpPr>
          <a:xfrm>
            <a:off x="4647633" y="409523"/>
            <a:ext cx="4038600" cy="680590"/>
            <a:chOff x="4648200" y="514351"/>
            <a:chExt cx="4038600" cy="680590"/>
          </a:xfrm>
        </p:grpSpPr>
        <p:sp>
          <p:nvSpPr>
            <p:cNvPr id="9" name="TextBox 8"/>
            <p:cNvSpPr txBox="1"/>
            <p:nvPr/>
          </p:nvSpPr>
          <p:spPr>
            <a:xfrm>
              <a:off x="6705600" y="856387"/>
              <a:ext cx="1981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o-RO" sz="1600" dirty="0"/>
                <a:t>Zgomot </a:t>
              </a:r>
            </a:p>
          </p:txBody>
        </p:sp>
        <p:cxnSp>
          <p:nvCxnSpPr>
            <p:cNvPr id="36" name="Straight Arrow Connector 35"/>
            <p:cNvCxnSpPr>
              <a:stCxn id="9" idx="0"/>
            </p:cNvCxnSpPr>
            <p:nvPr/>
          </p:nvCxnSpPr>
          <p:spPr>
            <a:xfrm flipH="1" flipV="1">
              <a:off x="4648200" y="514351"/>
              <a:ext cx="3048000" cy="34203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F117D9F-64D0-4803-8C28-C9AAD8F32F5A}"/>
                  </a:ext>
                </a:extLst>
              </p:cNvPr>
              <p:cNvSpPr txBox="1"/>
              <p:nvPr/>
            </p:nvSpPr>
            <p:spPr>
              <a:xfrm>
                <a:off x="298938" y="101188"/>
                <a:ext cx="7391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b="1" dirty="0"/>
                  <a:t>Model liniar de degradare</a:t>
                </a:r>
                <a:r>
                  <a:rPr lang="ro-RO" sz="1600" dirty="0"/>
                  <a:t>:</a:t>
                </a:r>
                <a:r>
                  <a:rPr lang="en-US" sz="1600" dirty="0"/>
                  <a:t>	</a:t>
                </a:r>
                <a14:m>
                  <m:oMath xmlns:m="http://schemas.openxmlformats.org/officeDocument/2006/math">
                    <m:r>
                      <a:rPr lang="ro-RO" sz="1600" b="1" i="1" smtClean="0">
                        <a:latin typeface="Cambria Math"/>
                      </a:rPr>
                      <m:t>𝒈</m:t>
                    </m:r>
                    <m:r>
                      <a:rPr lang="ro-RO" sz="1600" b="1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ro-RO" sz="1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600" b="1" i="1">
                            <a:latin typeface="Cambria Math"/>
                          </a:rPr>
                          <m:t>𝒉</m:t>
                        </m:r>
                        <m:r>
                          <a:rPr lang="ro-RO" sz="1600" b="1" i="1">
                            <a:latin typeface="Cambria Math"/>
                          </a:rPr>
                          <m:t>⊗</m:t>
                        </m:r>
                        <m:r>
                          <a:rPr lang="ro-RO" sz="1600" b="1" i="1">
                            <a:latin typeface="Cambria Math"/>
                          </a:rPr>
                          <m:t>𝒇</m:t>
                        </m:r>
                      </m:e>
                    </m:d>
                    <m:r>
                      <a:rPr lang="ro-RO" sz="1600" b="1" i="1">
                        <a:latin typeface="Cambria Math"/>
                      </a:rPr>
                      <m:t>+</m:t>
                    </m:r>
                    <m:r>
                      <a:rPr lang="ro-RO" sz="1600" b="1" i="1">
                        <a:latin typeface="Cambria Math"/>
                      </a:rPr>
                      <m:t>𝜼</m:t>
                    </m:r>
                  </m:oMath>
                </a14:m>
                <a:r>
                  <a:rPr lang="en-US" sz="1600" b="1" dirty="0"/>
                  <a:t>		</a:t>
                </a:r>
                <a:r>
                  <a:rPr lang="ro-RO" sz="16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o-RO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o-RO" sz="16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𝒈</m:t>
                        </m:r>
                      </m:e>
                    </m:acc>
                    <m:r>
                      <a:rPr lang="ro-RO" sz="1600" b="1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acc>
                      <m:accPr>
                        <m:chr m:val="̂"/>
                        <m:ctrlPr>
                          <a:rPr lang="ro-RO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o-RO" sz="16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𝒉</m:t>
                        </m:r>
                      </m:e>
                    </m:acc>
                    <m:r>
                      <a:rPr lang="ro-RO" sz="1600" b="1" i="1">
                        <a:solidFill>
                          <a:schemeClr val="tx1"/>
                        </a:solidFill>
                        <a:latin typeface="Cambria Math"/>
                      </a:rPr>
                      <m:t>⋅</m:t>
                    </m:r>
                    <m:acc>
                      <m:accPr>
                        <m:chr m:val="̂"/>
                        <m:ctrlPr>
                          <a:rPr lang="ro-RO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o-RO" sz="16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𝒇</m:t>
                        </m:r>
                      </m:e>
                    </m:acc>
                    <m:r>
                      <a:rPr lang="ro-RO" sz="1600" b="1" i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acc>
                      <m:accPr>
                        <m:chr m:val="̂"/>
                        <m:ctrlPr>
                          <a:rPr lang="ro-RO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o-RO" sz="16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𝜼</m:t>
                        </m:r>
                      </m:e>
                    </m:acc>
                  </m:oMath>
                </a14:m>
                <a:endParaRPr lang="ro-RO" sz="1600" b="1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F117D9F-64D0-4803-8C28-C9AAD8F32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938" y="101188"/>
                <a:ext cx="7391400" cy="369332"/>
              </a:xfrm>
              <a:prstGeom prst="rect">
                <a:avLst/>
              </a:prstGeom>
              <a:blipFill>
                <a:blip r:embed="rId2"/>
                <a:stretch>
                  <a:fillRect l="-660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3F117D9F-64D0-4803-8C28-C9AAD8F32F5A}"/>
              </a:ext>
            </a:extLst>
          </p:cNvPr>
          <p:cNvSpPr txBox="1"/>
          <p:nvPr/>
        </p:nvSpPr>
        <p:spPr>
          <a:xfrm>
            <a:off x="298938" y="1327372"/>
            <a:ext cx="739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/>
              <a:t>Filtru invers</a:t>
            </a:r>
            <a:r>
              <a:rPr lang="ro-RO" sz="1600" dirty="0"/>
              <a:t>	</a:t>
            </a:r>
            <a:endParaRPr lang="ro-RO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F117D9F-64D0-4803-8C28-C9AAD8F32F5A}"/>
                  </a:ext>
                </a:extLst>
              </p:cNvPr>
              <p:cNvSpPr txBox="1"/>
              <p:nvPr/>
            </p:nvSpPr>
            <p:spPr>
              <a:xfrm>
                <a:off x="298938" y="1679034"/>
                <a:ext cx="8382000" cy="507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o-RO" sz="1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o-RO" sz="1200" i="1">
                              <a:latin typeface="Cambria Math"/>
                            </a:rPr>
                            <m:t>𝑔</m:t>
                          </m:r>
                        </m:e>
                      </m:acc>
                      <m:d>
                        <m:dPr>
                          <m:ctrlPr>
                            <a:rPr lang="ro-RO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200" i="1">
                              <a:latin typeface="Cambria Math"/>
                            </a:rPr>
                            <m:t>𝑛</m:t>
                          </m:r>
                          <m:r>
                            <a:rPr lang="ro-RO" sz="1200">
                              <a:latin typeface="Cambria Math"/>
                            </a:rPr>
                            <m:t>,</m:t>
                          </m:r>
                          <m:r>
                            <a:rPr lang="ro-RO" sz="1200" i="1">
                              <a:latin typeface="Cambria Math"/>
                            </a:rPr>
                            <m:t>𝑚</m:t>
                          </m:r>
                        </m:e>
                      </m:d>
                      <m:r>
                        <a:rPr lang="ro-RO" sz="1200">
                          <a:latin typeface="Cambria Math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ro-RO" sz="1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o-RO" sz="1200" i="1">
                              <a:latin typeface="Cambria Math"/>
                            </a:rPr>
                            <m:t>h</m:t>
                          </m:r>
                        </m:e>
                      </m:acc>
                      <m:d>
                        <m:dPr>
                          <m:ctrlPr>
                            <a:rPr lang="ro-RO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200" i="1">
                              <a:latin typeface="Cambria Math"/>
                            </a:rPr>
                            <m:t>𝑛</m:t>
                          </m:r>
                          <m:r>
                            <a:rPr lang="ro-RO" sz="1200">
                              <a:latin typeface="Cambria Math"/>
                            </a:rPr>
                            <m:t>,</m:t>
                          </m:r>
                          <m:r>
                            <a:rPr lang="ro-RO" sz="1200" i="1">
                              <a:latin typeface="Cambria Math"/>
                            </a:rPr>
                            <m:t>𝑚</m:t>
                          </m:r>
                        </m:e>
                      </m:d>
                      <m:r>
                        <a:rPr lang="ro-RO" sz="1200">
                          <a:latin typeface="Cambria Math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ro-RO" sz="1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o-RO" sz="1200" i="1">
                              <a:latin typeface="Cambria Math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ro-RO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200" i="1">
                              <a:latin typeface="Cambria Math"/>
                            </a:rPr>
                            <m:t>𝑛</m:t>
                          </m:r>
                          <m:r>
                            <a:rPr lang="ro-RO" sz="1200">
                              <a:latin typeface="Cambria Math"/>
                            </a:rPr>
                            <m:t>,</m:t>
                          </m:r>
                          <m:r>
                            <a:rPr lang="ro-RO" sz="1200" i="1">
                              <a:latin typeface="Cambria Math"/>
                            </a:rPr>
                            <m:t>𝑚</m:t>
                          </m:r>
                        </m:e>
                      </m:d>
                      <m:r>
                        <a:rPr lang="ro-RO" sz="1200" b="0" i="1" smtClean="0">
                          <a:latin typeface="Cambria Math"/>
                        </a:rPr>
                        <m:t>   </m:t>
                      </m:r>
                      <m:r>
                        <a:rPr lang="ro-RO" sz="1200" b="0" i="1" smtClean="0">
                          <a:latin typeface="Cambria Math"/>
                          <a:ea typeface="Cambria Math"/>
                        </a:rPr>
                        <m:t>→    </m:t>
                      </m:r>
                      <m:acc>
                        <m:accPr>
                          <m:chr m:val="̂"/>
                          <m:ctrlPr>
                            <a:rPr lang="ro-RO" sz="1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o-RO" sz="1200" i="1">
                              <a:latin typeface="Cambria Math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ro-RO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200" i="1">
                              <a:latin typeface="Cambria Math"/>
                            </a:rPr>
                            <m:t>𝑛</m:t>
                          </m:r>
                          <m:r>
                            <a:rPr lang="ro-RO" sz="1200">
                              <a:latin typeface="Cambria Math"/>
                            </a:rPr>
                            <m:t>,</m:t>
                          </m:r>
                          <m:r>
                            <a:rPr lang="ro-RO" sz="1200" i="1">
                              <a:latin typeface="Cambria Math"/>
                            </a:rPr>
                            <m:t>𝑚</m:t>
                          </m:r>
                        </m:e>
                      </m:d>
                      <m:r>
                        <a:rPr lang="ro-RO" sz="1200">
                          <a:latin typeface="Cambria Math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ro-RO" sz="1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o-RO" sz="1200" i="1">
                              <a:latin typeface="Cambria Math"/>
                            </a:rPr>
                            <m:t>𝑔</m:t>
                          </m:r>
                        </m:e>
                      </m:acc>
                      <m:d>
                        <m:dPr>
                          <m:ctrlPr>
                            <a:rPr lang="ro-RO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200" i="1">
                              <a:latin typeface="Cambria Math"/>
                            </a:rPr>
                            <m:t>𝑛</m:t>
                          </m:r>
                          <m:r>
                            <a:rPr lang="ro-RO" sz="1200">
                              <a:latin typeface="Cambria Math"/>
                            </a:rPr>
                            <m:t>,</m:t>
                          </m:r>
                          <m:r>
                            <a:rPr lang="ro-RO" sz="1200" i="1">
                              <a:latin typeface="Cambria Math"/>
                            </a:rPr>
                            <m:t>𝑚</m:t>
                          </m:r>
                        </m:e>
                      </m:d>
                      <m:r>
                        <a:rPr lang="ro-RO" sz="1200">
                          <a:latin typeface="Cambria Math"/>
                        </a:rPr>
                        <m:t>∙</m:t>
                      </m:r>
                      <m:f>
                        <m:fPr>
                          <m:ctrlPr>
                            <a:rPr lang="ro-RO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sz="1200">
                              <a:latin typeface="Cambria Math"/>
                            </a:rPr>
                            <m:t>1</m:t>
                          </m:r>
                        </m:num>
                        <m:den>
                          <m:acc>
                            <m:accPr>
                              <m:chr m:val="̂"/>
                              <m:ctrlPr>
                                <a:rPr lang="ro-RO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o-RO" sz="1200" i="1">
                                  <a:latin typeface="Cambria Math"/>
                                </a:rPr>
                                <m:t>h</m:t>
                              </m:r>
                            </m:e>
                          </m:acc>
                          <m:d>
                            <m:dPr>
                              <m:ctrlPr>
                                <a:rPr lang="ro-RO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1200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ro-RO" sz="1200">
                                  <a:latin typeface="Cambria Math"/>
                                </a:rPr>
                                <m:t>,</m:t>
                              </m:r>
                              <m:r>
                                <a:rPr lang="ro-RO" sz="1200" i="1">
                                  <a:latin typeface="Cambria Math"/>
                                </a:rPr>
                                <m:t>𝑚</m:t>
                              </m:r>
                            </m:e>
                          </m:d>
                        </m:den>
                      </m:f>
                      <m:r>
                        <a:rPr lang="ro-RO" sz="1200" b="0" i="1" smtClean="0">
                          <a:latin typeface="Cambria Math"/>
                        </a:rPr>
                        <m:t>    </m:t>
                      </m:r>
                      <m:r>
                        <a:rPr lang="ro-RO" sz="1200" b="0" i="1" smtClean="0">
                          <a:latin typeface="Cambria Math"/>
                          <a:ea typeface="Cambria Math"/>
                        </a:rPr>
                        <m:t>→      </m:t>
                      </m:r>
                      <m:r>
                        <a:rPr lang="ro-RO" sz="1200" i="1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ro-RO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200" i="1">
                              <a:latin typeface="Cambria Math"/>
                            </a:rPr>
                            <m:t>𝑥</m:t>
                          </m:r>
                          <m:r>
                            <a:rPr lang="ro-RO" sz="1200" i="1">
                              <a:latin typeface="Cambria Math"/>
                            </a:rPr>
                            <m:t>,</m:t>
                          </m:r>
                          <m:r>
                            <a:rPr lang="ro-RO" sz="1200" i="1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ro-RO" sz="1200" i="1">
                          <a:latin typeface="Cambria Math"/>
                        </a:rPr>
                        <m:t>=</m:t>
                      </m:r>
                      <m:r>
                        <a:rPr lang="ro-RO" sz="1200" i="1">
                          <a:latin typeface="Cambria Math"/>
                        </a:rPr>
                        <m:t>𝑇𝐹𝐷𝐼</m:t>
                      </m:r>
                      <m:d>
                        <m:dPr>
                          <m:ctrlPr>
                            <a:rPr lang="ro-RO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ro-RO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o-RO" sz="1200" i="1">
                                  <a:latin typeface="Cambria Math"/>
                                </a:rPr>
                                <m:t>𝑔</m:t>
                              </m:r>
                            </m:e>
                          </m:acc>
                          <m:d>
                            <m:dPr>
                              <m:ctrlPr>
                                <a:rPr lang="ro-RO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1200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ro-RO" sz="12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ro-RO" sz="1200" i="1">
                                  <a:latin typeface="Cambria Math"/>
                                </a:rPr>
                                <m:t>𝑚</m:t>
                              </m:r>
                            </m:e>
                          </m:d>
                          <m:r>
                            <a:rPr lang="ro-RO" sz="1200" i="1">
                              <a:latin typeface="Cambria Math"/>
                            </a:rPr>
                            <m:t>∙</m:t>
                          </m:r>
                          <m:f>
                            <m:fPr>
                              <m:ctrlPr>
                                <a:rPr lang="ro-RO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o-RO" sz="1200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acc>
                                <m:accPr>
                                  <m:chr m:val="̂"/>
                                  <m:ctrlPr>
                                    <a:rPr lang="ro-RO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o-RO" sz="1200" i="1">
                                      <a:latin typeface="Cambria Math"/>
                                    </a:rPr>
                                    <m:t>h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ro-RO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1200" i="1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ro-RO" sz="1200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ro-RO" sz="1200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ro-RO" sz="1200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F117D9F-64D0-4803-8C28-C9AAD8F32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938" y="1679034"/>
                <a:ext cx="8382000" cy="5073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3F117D9F-64D0-4803-8C28-C9AAD8F32F5A}"/>
              </a:ext>
            </a:extLst>
          </p:cNvPr>
          <p:cNvSpPr txBox="1"/>
          <p:nvPr/>
        </p:nvSpPr>
        <p:spPr>
          <a:xfrm>
            <a:off x="304800" y="2859586"/>
            <a:ext cx="739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/>
              <a:t>Filtru Wiener</a:t>
            </a:r>
            <a:r>
              <a:rPr lang="ro-RO" sz="1600" dirty="0"/>
              <a:t>	</a:t>
            </a:r>
            <a:endParaRPr lang="ro-RO" sz="16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F117D9F-64D0-4803-8C28-C9AAD8F32F5A}"/>
                  </a:ext>
                </a:extLst>
              </p:cNvPr>
              <p:cNvSpPr txBox="1"/>
              <p:nvPr/>
            </p:nvSpPr>
            <p:spPr>
              <a:xfrm>
                <a:off x="381000" y="3211774"/>
                <a:ext cx="5937422" cy="76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o-RO" sz="1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o-RO" sz="1200" i="1">
                              <a:latin typeface="Cambria Math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ro-RO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200" i="1">
                              <a:latin typeface="Cambria Math"/>
                            </a:rPr>
                            <m:t>𝑛</m:t>
                          </m:r>
                          <m:r>
                            <a:rPr lang="ro-RO" sz="1200">
                              <a:latin typeface="Cambria Math"/>
                            </a:rPr>
                            <m:t>,</m:t>
                          </m:r>
                          <m:r>
                            <a:rPr lang="ro-RO" sz="1200" i="1">
                              <a:latin typeface="Cambria Math"/>
                            </a:rPr>
                            <m:t>𝑚</m:t>
                          </m:r>
                        </m:e>
                      </m:d>
                      <m:r>
                        <a:rPr lang="ro-RO" sz="1200">
                          <a:latin typeface="Cambria Math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ro-RO" sz="1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o-RO" sz="1200" i="1">
                              <a:latin typeface="Cambria Math"/>
                            </a:rPr>
                            <m:t>𝑔</m:t>
                          </m:r>
                        </m:e>
                      </m:acc>
                      <m:d>
                        <m:dPr>
                          <m:ctrlPr>
                            <a:rPr lang="ro-RO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200" i="1">
                              <a:latin typeface="Cambria Math"/>
                            </a:rPr>
                            <m:t>𝑛</m:t>
                          </m:r>
                          <m:r>
                            <a:rPr lang="ro-RO" sz="1200">
                              <a:latin typeface="Cambria Math"/>
                            </a:rPr>
                            <m:t>,</m:t>
                          </m:r>
                          <m:r>
                            <a:rPr lang="ro-RO" sz="1200" i="1">
                              <a:latin typeface="Cambria Math"/>
                            </a:rPr>
                            <m:t>𝑚</m:t>
                          </m:r>
                        </m:e>
                      </m:d>
                      <m:r>
                        <a:rPr lang="ro-RO" sz="1200">
                          <a:latin typeface="Cambria Math"/>
                        </a:rPr>
                        <m:t>∙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200" i="1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ro-RO" sz="1200" i="1">
                              <a:latin typeface="Cambria Math"/>
                            </a:rPr>
                            <m:t>𝑊</m:t>
                          </m:r>
                        </m:sub>
                      </m:sSub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200" i="1">
                              <a:latin typeface="Cambria Math"/>
                            </a:rPr>
                            <m:t>𝑛</m:t>
                          </m:r>
                          <m:r>
                            <a:rPr lang="ro-RO" sz="1200" i="1">
                              <a:latin typeface="Cambria Math"/>
                            </a:rPr>
                            <m:t>,</m:t>
                          </m:r>
                          <m:r>
                            <a:rPr lang="ro-RO" sz="1200" i="1">
                              <a:latin typeface="Cambria Math"/>
                            </a:rPr>
                            <m:t>𝑚</m:t>
                          </m:r>
                        </m:e>
                      </m:d>
                      <m:r>
                        <a:rPr lang="ro-RO" sz="1200" b="0" i="1" smtClean="0">
                          <a:latin typeface="Cambria Math"/>
                        </a:rPr>
                        <m:t>     </m:t>
                      </m:r>
                      <m:r>
                        <a:rPr lang="ro-RO" sz="1200" i="1">
                          <a:latin typeface="Cambria Math"/>
                          <a:ea typeface="Cambria Math"/>
                        </a:rPr>
                        <m:t>→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    </m:t>
                      </m:r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200" i="1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ro-RO" sz="1200" i="1">
                              <a:latin typeface="Cambria Math"/>
                            </a:rPr>
                            <m:t>𝑊</m:t>
                          </m:r>
                        </m:sub>
                      </m:sSub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200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ro-RO" sz="1200" i="1">
                              <a:latin typeface="Cambria Math"/>
                            </a:rPr>
                            <m:t>,</m:t>
                          </m:r>
                          <m:r>
                            <a:rPr lang="ro-RO" sz="1200" b="0" i="1" smtClean="0">
                              <a:latin typeface="Cambria Math"/>
                            </a:rPr>
                            <m:t>𝑚</m:t>
                          </m:r>
                        </m:e>
                      </m:d>
                      <m:r>
                        <a:rPr lang="ro-RO" sz="12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acc>
                                <m:accPr>
                                  <m:chr m:val="̂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o-RO" sz="1200" i="1">
                                      <a:latin typeface="Cambria Math"/>
                                    </a:rPr>
                                    <m:t>h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1200" b="0" i="1" smtClean="0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ro-RO" sz="1200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ro-RO" sz="1200" b="0" i="1" smtClean="0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d>
                            </m:e>
                          </m:acc>
                        </m:num>
                        <m:den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o-RO" sz="1200" i="1">
                                          <a:latin typeface="Cambria Math"/>
                                        </a:rPr>
                                        <m:t>h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o-RO" sz="1200" b="0" i="1" smtClean="0">
                                          <a:latin typeface="Cambria Math"/>
                                        </a:rPr>
                                        <m:t>𝑛</m:t>
                                      </m:r>
                                      <m:r>
                                        <a:rPr lang="ro-RO" sz="1200" i="1">
                                          <a:latin typeface="Cambria Math"/>
                                        </a:rPr>
                                        <m:t>,</m:t>
                                      </m:r>
                                      <m:r>
                                        <a:rPr lang="ro-RO" sz="1200" b="0" i="1" smtClean="0">
                                          <a:latin typeface="Cambria Math"/>
                                        </a:rPr>
                                        <m:t>𝑚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ro-RO" sz="12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ro-RO" sz="1200" i="1">
                              <a:latin typeface="Cambria Math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ro-RO" sz="1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o-RO" sz="1200" i="1">
                                          <a:latin typeface="Cambria Math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ro-RO" sz="1200" i="1">
                                          <a:latin typeface="Cambria Math"/>
                                        </a:rPr>
                                        <m:t>𝜂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o-RO" sz="1200" i="1">
                                          <a:latin typeface="Cambria Math"/>
                                        </a:rPr>
                                        <m:t>𝑛</m:t>
                                      </m:r>
                                      <m:r>
                                        <a:rPr lang="ro-RO" sz="1200" i="1">
                                          <a:latin typeface="Cambria Math"/>
                                        </a:rPr>
                                        <m:t>,</m:t>
                                      </m:r>
                                      <m:r>
                                        <a:rPr lang="ro-RO" sz="1200" i="1">
                                          <a:latin typeface="Cambria Math"/>
                                        </a:rPr>
                                        <m:t>𝑚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o-RO" sz="1200" i="1">
                                          <a:latin typeface="Cambria Math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ro-RO" sz="1200" i="1">
                                          <a:latin typeface="Cambria Math"/>
                                        </a:rPr>
                                        <m:t>𝑓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o-RO" sz="1200" i="1">
                                          <a:latin typeface="Cambria Math"/>
                                        </a:rPr>
                                        <m:t>𝑛</m:t>
                                      </m:r>
                                      <m:r>
                                        <a:rPr lang="ro-RO" sz="1200" i="1">
                                          <a:latin typeface="Cambria Math"/>
                                        </a:rPr>
                                        <m:t>,</m:t>
                                      </m:r>
                                      <m:r>
                                        <a:rPr lang="ro-RO" sz="1200" i="1">
                                          <a:latin typeface="Cambria Math"/>
                                        </a:rPr>
                                        <m:t>𝑚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lang="ro-RO" sz="1200" b="1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F117D9F-64D0-4803-8C28-C9AAD8F32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211774"/>
                <a:ext cx="5937422" cy="7625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Line Callout 2 23"/>
          <p:cNvSpPr/>
          <p:nvPr/>
        </p:nvSpPr>
        <p:spPr>
          <a:xfrm>
            <a:off x="6934200" y="2874013"/>
            <a:ext cx="1981200" cy="427862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64484"/>
              <a:gd name="adj6" fmla="val -63715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400" dirty="0">
                <a:solidFill>
                  <a:schemeClr val="tx1"/>
                </a:solidFill>
              </a:rPr>
              <a:t>Putere spectrală </a:t>
            </a:r>
          </a:p>
          <a:p>
            <a:pPr algn="ctr"/>
            <a:r>
              <a:rPr lang="ro-RO" sz="1400" dirty="0">
                <a:solidFill>
                  <a:schemeClr val="tx1"/>
                </a:solidFill>
              </a:rPr>
              <a:t>zgomot</a:t>
            </a:r>
          </a:p>
        </p:txBody>
      </p:sp>
      <p:sp>
        <p:nvSpPr>
          <p:cNvPr id="25" name="Line Callout 2 24"/>
          <p:cNvSpPr/>
          <p:nvPr/>
        </p:nvSpPr>
        <p:spPr>
          <a:xfrm>
            <a:off x="6934200" y="3516574"/>
            <a:ext cx="1981200" cy="43809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65491"/>
              <a:gd name="adj6" fmla="val -62052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400" dirty="0">
                <a:solidFill>
                  <a:schemeClr val="tx1"/>
                </a:solidFill>
              </a:rPr>
              <a:t>Putere spectrală </a:t>
            </a:r>
          </a:p>
          <a:p>
            <a:pPr algn="ctr"/>
            <a:r>
              <a:rPr lang="ro-RO" sz="1400" dirty="0">
                <a:solidFill>
                  <a:schemeClr val="tx1"/>
                </a:solidFill>
              </a:rPr>
              <a:t>imagine clară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4419" y="3411134"/>
            <a:ext cx="22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8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04122" y="2887914"/>
            <a:ext cx="22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800" b="1" dirty="0">
                <a:solidFill>
                  <a:srgbClr val="FF0000"/>
                </a:solidFill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Line Callout 2 28"/>
              <p:cNvSpPr/>
              <p:nvPr/>
            </p:nvSpPr>
            <p:spPr>
              <a:xfrm>
                <a:off x="4712110" y="4482510"/>
                <a:ext cx="1981200" cy="438096"/>
              </a:xfrm>
              <a:prstGeom prst="borderCallout2">
                <a:avLst>
                  <a:gd name="adj1" fmla="val 18750"/>
                  <a:gd name="adj2" fmla="val -8333"/>
                  <a:gd name="adj3" fmla="val 18750"/>
                  <a:gd name="adj4" fmla="val -16667"/>
                  <a:gd name="adj5" fmla="val -173316"/>
                  <a:gd name="adj6" fmla="val 19767"/>
                </a:avLst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𝛾</m:t>
                      </m:r>
                      <m:r>
                        <a:rPr lang="ro-RO" sz="1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∙</m:t>
                      </m:r>
                      <m:sSup>
                        <m:sSupPr>
                          <m:ctrlPr>
                            <a:rPr lang="ro-RO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o-RO" sz="1400" b="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𝑝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14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ro-RO" sz="1400" b="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ro-RO" sz="14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o-RO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Line Callout 2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2110" y="4482510"/>
                <a:ext cx="1981200" cy="438096"/>
              </a:xfrm>
              <a:prstGeom prst="borderCallout2">
                <a:avLst>
                  <a:gd name="adj1" fmla="val 18750"/>
                  <a:gd name="adj2" fmla="val -8333"/>
                  <a:gd name="adj3" fmla="val 18750"/>
                  <a:gd name="adj4" fmla="val -16667"/>
                  <a:gd name="adj5" fmla="val -173316"/>
                  <a:gd name="adj6" fmla="val 19767"/>
                </a:avLst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Line Callout 2 29"/>
          <p:cNvSpPr/>
          <p:nvPr/>
        </p:nvSpPr>
        <p:spPr>
          <a:xfrm>
            <a:off x="2276600" y="4482887"/>
            <a:ext cx="1981200" cy="438096"/>
          </a:xfrm>
          <a:prstGeom prst="borderCallout2">
            <a:avLst>
              <a:gd name="adj1" fmla="val 50716"/>
              <a:gd name="adj2" fmla="val 100191"/>
              <a:gd name="adj3" fmla="val 135333"/>
              <a:gd name="adj4" fmla="val 120547"/>
              <a:gd name="adj5" fmla="val 71133"/>
              <a:gd name="adj6" fmla="val 14460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400" dirty="0">
                <a:solidFill>
                  <a:schemeClr val="tx1"/>
                </a:solidFill>
              </a:rPr>
              <a:t>Factor de ajustare (parametru)</a:t>
            </a:r>
          </a:p>
        </p:txBody>
      </p:sp>
      <p:sp>
        <p:nvSpPr>
          <p:cNvPr id="31" name="Line Callout 2 30"/>
          <p:cNvSpPr/>
          <p:nvPr/>
        </p:nvSpPr>
        <p:spPr>
          <a:xfrm>
            <a:off x="6934200" y="4482510"/>
            <a:ext cx="1981200" cy="438096"/>
          </a:xfrm>
          <a:prstGeom prst="borderCallout2">
            <a:avLst>
              <a:gd name="adj1" fmla="val 43195"/>
              <a:gd name="adj2" fmla="val -17"/>
              <a:gd name="adj3" fmla="val 142855"/>
              <a:gd name="adj4" fmla="val -22488"/>
              <a:gd name="adj5" fmla="val 75257"/>
              <a:gd name="adj6" fmla="val -7077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400" dirty="0">
                <a:solidFill>
                  <a:schemeClr val="tx1"/>
                </a:solidFill>
              </a:rPr>
              <a:t>Filtru Laplace </a:t>
            </a:r>
          </a:p>
          <a:p>
            <a:pPr algn="ctr"/>
            <a:r>
              <a:rPr lang="ro-RO" sz="1400" dirty="0">
                <a:solidFill>
                  <a:schemeClr val="tx1"/>
                </a:solidFill>
              </a:rPr>
              <a:t>(uzual)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Line Callout 2 31"/>
              <p:cNvSpPr/>
              <p:nvPr/>
            </p:nvSpPr>
            <p:spPr>
              <a:xfrm>
                <a:off x="914400" y="3821374"/>
                <a:ext cx="1981200" cy="438096"/>
              </a:xfrm>
              <a:prstGeom prst="borderCallout2">
                <a:avLst>
                  <a:gd name="adj1" fmla="val 50716"/>
                  <a:gd name="adj2" fmla="val 100191"/>
                  <a:gd name="adj3" fmla="val -37480"/>
                  <a:gd name="adj4" fmla="val 116080"/>
                  <a:gd name="adj5" fmla="val -63525"/>
                  <a:gd name="adj6" fmla="val 212591"/>
                </a:avLst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ro-RO" sz="1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𝜂</m:t>
                        </m:r>
                      </m:sub>
                    </m:sSub>
                    <m:d>
                      <m:d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ro-RO" sz="1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ro-RO" sz="1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e>
                    </m:d>
                    <m:r>
                      <a:rPr lang="ro-RO" sz="1400" b="0" i="1" smtClean="0">
                        <a:solidFill>
                          <a:schemeClr val="tx1"/>
                        </a:solidFill>
                        <a:latin typeface="Cambria Math"/>
                      </a:rPr>
                      <m:t>=0</m:t>
                    </m:r>
                  </m:oMath>
                </a14:m>
                <a:r>
                  <a:rPr lang="ro-RO" sz="1400" dirty="0">
                    <a:solidFill>
                      <a:schemeClr val="tx1"/>
                    </a:solidFill>
                  </a:rPr>
                  <a:t>     ↔     filtru invers</a:t>
                </a:r>
              </a:p>
            </p:txBody>
          </p:sp>
        </mc:Choice>
        <mc:Fallback xmlns="">
          <p:sp>
            <p:nvSpPr>
              <p:cNvPr id="32" name="Line Callout 2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821374"/>
                <a:ext cx="1981200" cy="438096"/>
              </a:xfrm>
              <a:prstGeom prst="borderCallout2">
                <a:avLst>
                  <a:gd name="adj1" fmla="val 50716"/>
                  <a:gd name="adj2" fmla="val 100191"/>
                  <a:gd name="adj3" fmla="val -37480"/>
                  <a:gd name="adj4" fmla="val 116080"/>
                  <a:gd name="adj5" fmla="val -63525"/>
                  <a:gd name="adj6" fmla="val 212591"/>
                </a:avLst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Line Callout 2 37"/>
              <p:cNvSpPr/>
              <p:nvPr/>
            </p:nvSpPr>
            <p:spPr>
              <a:xfrm>
                <a:off x="152400" y="4482887"/>
                <a:ext cx="1981200" cy="438096"/>
              </a:xfrm>
              <a:prstGeom prst="borderCallout2">
                <a:avLst>
                  <a:gd name="adj1" fmla="val -38213"/>
                  <a:gd name="adj2" fmla="val 148823"/>
                  <a:gd name="adj3" fmla="val -27712"/>
                  <a:gd name="adj4" fmla="val 122425"/>
                  <a:gd name="adj5" fmla="val -243"/>
                  <a:gd name="adj6" fmla="val 50425"/>
                </a:avLst>
              </a:prstGeom>
              <a:noFill/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=0 ?</a:t>
                </a:r>
                <a:r>
                  <a:rPr lang="ro-RO" sz="14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ro-RO" sz="140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ro-RO" sz="1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𝑊</m:t>
                        </m:r>
                      </m:sub>
                    </m:sSub>
                    <m:d>
                      <m:d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ro-RO" sz="1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ro-RO" sz="1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e>
                    </m:d>
                    <m:r>
                      <a:rPr lang="ro-RO" sz="1400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ro-RO" sz="1400" b="0" i="1" smtClean="0">
                        <a:solidFill>
                          <a:schemeClr val="tx1"/>
                        </a:solidFill>
                        <a:latin typeface="Cambria Math"/>
                      </a:rPr>
                      <m:t>1</m:t>
                    </m:r>
                  </m:oMath>
                </a14:m>
                <a:endParaRPr lang="ro-RO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Line Callout 2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4482887"/>
                <a:ext cx="1981200" cy="438096"/>
              </a:xfrm>
              <a:prstGeom prst="borderCallout2">
                <a:avLst>
                  <a:gd name="adj1" fmla="val -38213"/>
                  <a:gd name="adj2" fmla="val 148823"/>
                  <a:gd name="adj3" fmla="val -27712"/>
                  <a:gd name="adj4" fmla="val 122425"/>
                  <a:gd name="adj5" fmla="val -243"/>
                  <a:gd name="adj6" fmla="val 50425"/>
                </a:avLst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Line Callout 2 38"/>
          <p:cNvSpPr/>
          <p:nvPr/>
        </p:nvSpPr>
        <p:spPr>
          <a:xfrm>
            <a:off x="4257800" y="3535678"/>
            <a:ext cx="1533400" cy="438096"/>
          </a:xfrm>
          <a:prstGeom prst="borderCallout2">
            <a:avLst>
              <a:gd name="adj1" fmla="val 43195"/>
              <a:gd name="adj2" fmla="val -17"/>
              <a:gd name="adj3" fmla="val 151429"/>
              <a:gd name="adj4" fmla="val -58355"/>
              <a:gd name="adj5" fmla="val 177883"/>
              <a:gd name="adj6" fmla="val -75649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400" dirty="0">
              <a:solidFill>
                <a:schemeClr val="tx1"/>
              </a:solidFill>
            </a:endParaRPr>
          </a:p>
        </p:txBody>
      </p:sp>
      <p:sp>
        <p:nvSpPr>
          <p:cNvPr id="2" name="Cloud Callout 1"/>
          <p:cNvSpPr/>
          <p:nvPr/>
        </p:nvSpPr>
        <p:spPr>
          <a:xfrm>
            <a:off x="7262169" y="3044778"/>
            <a:ext cx="1828800" cy="1222970"/>
          </a:xfrm>
          <a:prstGeom prst="cloudCallout">
            <a:avLst>
              <a:gd name="adj1" fmla="val -16666"/>
              <a:gd name="adj2" fmla="val 6795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/>
              <a:t>0 -1 0</a:t>
            </a:r>
          </a:p>
          <a:p>
            <a:pPr algn="ctr"/>
            <a:r>
              <a:rPr lang="ro-RO" dirty="0"/>
              <a:t>-1 4 -1</a:t>
            </a:r>
          </a:p>
          <a:p>
            <a:pPr algn="ctr"/>
            <a:r>
              <a:rPr lang="ro-RO" dirty="0"/>
              <a:t>0 -1 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F47ED2-0ED0-4DC8-84EE-41BE28950B3F}"/>
              </a:ext>
            </a:extLst>
          </p:cNvPr>
          <p:cNvSpPr txBox="1"/>
          <p:nvPr/>
        </p:nvSpPr>
        <p:spPr>
          <a:xfrm>
            <a:off x="298938" y="2359694"/>
            <a:ext cx="739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/>
              <a:t>Filtru </a:t>
            </a:r>
            <a:r>
              <a:rPr lang="en-US" b="1" dirty="0"/>
              <a:t>median + </a:t>
            </a:r>
            <a:r>
              <a:rPr lang="ro-RO" b="1" dirty="0"/>
              <a:t>invers</a:t>
            </a:r>
            <a:r>
              <a:rPr lang="ro-RO" sz="1600" dirty="0"/>
              <a:t>	</a:t>
            </a:r>
            <a:endParaRPr lang="ro-RO" sz="1600" b="1" dirty="0"/>
          </a:p>
        </p:txBody>
      </p:sp>
    </p:spTree>
    <p:extLst>
      <p:ext uri="{BB962C8B-B14F-4D97-AF65-F5344CB8AC3E}">
        <p14:creationId xmlns:p14="http://schemas.microsoft.com/office/powerpoint/2010/main" val="3642258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6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8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000"/>
                            </p:stCondLst>
                            <p:childTnLst>
                              <p:par>
                                <p:cTn id="10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4" grpId="0" animBg="1"/>
      <p:bldP spid="25" grpId="0" animBg="1"/>
      <p:bldP spid="27" grpId="0"/>
      <p:bldP spid="28" grpId="0"/>
      <p:bldP spid="29" grpId="0" animBg="1"/>
      <p:bldP spid="30" grpId="0" animBg="1"/>
      <p:bldP spid="31" grpId="0" animBg="1"/>
      <p:bldP spid="32" grpId="0" animBg="1"/>
      <p:bldP spid="38" grpId="0" animBg="1"/>
      <p:bldP spid="39" grpId="0" animBg="1"/>
      <p:bldP spid="2" grpId="0" animBg="1"/>
      <p:bldP spid="2" grpId="1" animBg="1"/>
      <p:bldP spid="3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05122C-8081-43FB-477E-844F413DA4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525"/>
            <a:ext cx="9144000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095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188E85-67C6-B162-214E-904758077D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03936" cy="51435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ABFEB70-ED69-3777-8BF5-CBFB8C575F7F}"/>
              </a:ext>
            </a:extLst>
          </p:cNvPr>
          <p:cNvSpPr txBox="1"/>
          <p:nvPr/>
        </p:nvSpPr>
        <p:spPr>
          <a:xfrm>
            <a:off x="6003936" y="3638550"/>
            <a:ext cx="3352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Filtru Wiener:</a:t>
            </a:r>
          </a:p>
          <a:p>
            <a:r>
              <a:rPr lang="pt-BR" dirty="0"/>
              <a:t>SNR: P: 11.4661 - R: 19.752</a:t>
            </a:r>
          </a:p>
          <a:p>
            <a:r>
              <a:rPr lang="pt-BR" dirty="0"/>
              <a:t>RMI: P: 0.16264 - R: 0.29836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C62CE6-E614-590C-21AE-6EE09A4B97DE}"/>
              </a:ext>
            </a:extLst>
          </p:cNvPr>
          <p:cNvSpPr txBox="1"/>
          <p:nvPr/>
        </p:nvSpPr>
        <p:spPr>
          <a:xfrm>
            <a:off x="6003936" y="1043285"/>
            <a:ext cx="3352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Filtru median + invers:</a:t>
            </a:r>
          </a:p>
          <a:p>
            <a:r>
              <a:rPr lang="pt-BR" dirty="0"/>
              <a:t>SNR: P: 11.4661 - R: 16.238</a:t>
            </a:r>
          </a:p>
          <a:p>
            <a:r>
              <a:rPr lang="pt-BR" dirty="0"/>
              <a:t>RMI: P: 0.16264 - R: 0.21268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586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173</Words>
  <Application>Microsoft Office PowerPoint</Application>
  <PresentationFormat>On-screen Show (16:9)</PresentationFormat>
  <Paragraphs>32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>Academia de Studii Economice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.</dc:creator>
  <cp:lastModifiedBy>X</cp:lastModifiedBy>
  <cp:revision>47</cp:revision>
  <dcterms:created xsi:type="dcterms:W3CDTF">2020-11-26T12:00:48Z</dcterms:created>
  <dcterms:modified xsi:type="dcterms:W3CDTF">2024-12-10T13:47:59Z</dcterms:modified>
</cp:coreProperties>
</file>