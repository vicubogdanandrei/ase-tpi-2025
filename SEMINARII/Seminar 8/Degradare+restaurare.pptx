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2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7C85-1BA6-4966-A723-4A7432F7A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E9EBD-988D-40DC-9BCE-F9CBF995F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8CF43-F5B3-4ABE-9510-73AFA767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87A04-E718-4640-9478-031B06BBF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FAA0E-E1A9-41DD-B77D-2D658B27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4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E90E-E914-4DC6-95C9-2812351B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49F94-0BFC-426B-86FF-ECF5D1113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739F8-4E92-44AE-9824-68E0CB12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E54D5-C59D-464D-8834-13AC1A25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5C3BF-DEF5-45FD-9A46-105DD111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7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AD6A-47AF-415D-94FC-0617AF799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88A5F-3D0E-4D88-8BB7-35E111D44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CE71-A4A1-42FC-971D-0197CD5DF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7ED3F-4A88-49F7-B460-33A9F920B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C2470-3170-4DED-866A-D085CABD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7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DA3D-EAD5-44E3-B99E-3E9D383D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2A01B-9AD3-4178-BADE-70B08EB9D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DCCB6-ED9A-428A-99DB-9868585F9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BF4A5-5977-46F4-9FA3-B8C32D32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95BC0-83AB-46A1-AB65-5100C95A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6AC86-BBBD-480F-9B0E-098C9286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7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D0B3-99A8-4A82-BFA2-77B61296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03EED-95BB-4146-9FA6-2DA115BE2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028B2-238A-4512-B651-B49E1DA3F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7F3F16-9535-402B-86D1-B14A27BD6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56FD0-7FA5-4972-B88C-3E592DC19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393545-5201-4ABC-932A-D7C03566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62F4CF-87B1-415D-A22B-E5634B46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61AB9-7985-41E3-AE6E-0C1F77B3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3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74BEA-6666-4364-A44A-D5B348CE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E68B57-F770-4478-B0E2-CACC9A8CB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81C6C-E45F-460A-85BD-765C9F75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CEE35-13B0-40D9-AD94-037B078F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9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C12DC-8A2C-4ADA-986D-D1F004FF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7CDF4-4997-4AA0-8B08-CD0FB7D4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5B1B-2154-4707-93D9-094D7E0B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8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BCDE3-21EB-4874-811C-00CC0D8EA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23335-4899-4F5A-809A-5E267B9A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50260-914D-4922-9FE5-FFEF824E1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494A1-CA1E-44D5-B5B7-8F251BD97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6DAB2-CA40-4977-91D3-F70D0216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DEB4F-F05F-415B-9743-8A0B9185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6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50D4-26B9-4901-824C-8406DFF9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441E4-09C9-4D4E-ACE4-7D0D32250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76A61-D72E-4849-8725-C125E089D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D84EB-1915-4FC5-8A79-8E92BEDE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D3232-6839-4AE6-85D2-2B58DE3D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CECE1-758D-4F55-978F-EFCBF38C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5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B4FF3-8475-4967-B07B-48CE2811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3BFDA7-6609-4E98-8A22-A65C49724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3AA7F-BEE3-47B3-AC8B-B3A889C2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73278-4F18-42D6-9EE2-903AFDFDA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9862E-D9F2-43AB-BAAC-ACE54F360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98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4FAA1-40D2-4313-BB78-1C1748E09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D84A9-860B-4B76-84D0-4FA44CC1E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FECC8-43DF-49BD-83D5-4CE8763D1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9E0A-744E-4966-8DCF-C2597FA8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29CA9-702C-42B2-B1D8-D1162D31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1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063D6-4063-4FB5-A071-48AFDEA4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5CD4F-487B-4B39-8648-8FD546560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56DE3-DAAC-4555-9291-D45F2DF1D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05AE4-B978-4C62-8C9A-E1CA3E910D8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42500-941E-44B0-9289-EE4F33CE9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419F7-91DD-49E7-960F-03F74D914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10624-4AED-4B50-B1CD-70E9F130C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5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94AEE7-78D5-49AE-AA86-345B12FD0D7A}"/>
              </a:ext>
            </a:extLst>
          </p:cNvPr>
          <p:cNvSpPr txBox="1"/>
          <p:nvPr/>
        </p:nvSpPr>
        <p:spPr>
          <a:xfrm>
            <a:off x="463295" y="292733"/>
            <a:ext cx="11265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>
                <a:latin typeface="Calibri" panose="020F0502020204030204" pitchFamily="34" charset="0"/>
                <a:cs typeface="Calibri" panose="020F0502020204030204" pitchFamily="34" charset="0"/>
              </a:rPr>
              <a:t>Imaginile preluate de senzori: perturbate/degradate → restaurare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/>
              <p:nvPr/>
            </p:nvSpPr>
            <p:spPr>
              <a:xfrm>
                <a:off x="425417" y="1123020"/>
                <a:ext cx="11617426" cy="978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800" dirty="0"/>
                  <a:t>Model de degradare: lin</a:t>
                </a:r>
                <a:r>
                  <a:rPr lang="en-US" sz="2800" dirty="0" err="1"/>
                  <a:t>i</a:t>
                </a:r>
                <a:r>
                  <a:rPr lang="ro-RO" sz="2800" dirty="0"/>
                  <a:t>ar</a:t>
                </a: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ro-RO" sz="2400" b="1" i="1" smtClean="0">
                        <a:latin typeface="Cambria Math"/>
                      </a:rPr>
                      <m:t>𝒈</m:t>
                    </m:r>
                    <m:r>
                      <a:rPr lang="ro-RO" sz="2400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o-RO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b="1" i="1">
                            <a:latin typeface="Cambria Math"/>
                          </a:rPr>
                          <m:t>𝒉</m:t>
                        </m:r>
                        <m:r>
                          <a:rPr lang="ro-RO" sz="2400" b="1" i="1">
                            <a:latin typeface="Cambria Math"/>
                          </a:rPr>
                          <m:t>⊗</m:t>
                        </m:r>
                        <m:r>
                          <a:rPr lang="ro-RO" sz="2400" b="1" i="1">
                            <a:latin typeface="Cambria Math"/>
                          </a:rPr>
                          <m:t>𝒇</m:t>
                        </m:r>
                      </m:e>
                    </m:d>
                    <m:r>
                      <a:rPr lang="ro-RO" sz="2400" b="1" i="1">
                        <a:latin typeface="Cambria Math"/>
                      </a:rPr>
                      <m:t>+</m:t>
                    </m:r>
                    <m:r>
                      <a:rPr lang="ro-RO" sz="2400" b="1" i="1">
                        <a:latin typeface="Cambria Math"/>
                      </a:rPr>
                      <m:t>𝜼</m:t>
                    </m:r>
                  </m:oMath>
                </a14:m>
                <a:r>
                  <a:rPr lang="en-US" sz="2400" b="1" dirty="0"/>
                  <a:t>		</a:t>
                </a:r>
                <a:r>
                  <a:rPr lang="ro-RO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o-RO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𝒈</m:t>
                        </m:r>
                      </m:e>
                    </m:acc>
                    <m:r>
                      <a:rPr lang="ro-RO" sz="2400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acc>
                      <m:accPr>
                        <m:chr m:val="̂"/>
                        <m:ctrlPr>
                          <a:rPr lang="ro-RO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𝒉</m:t>
                        </m:r>
                      </m:e>
                    </m:acc>
                    <m:r>
                      <a:rPr lang="ro-RO" sz="2400" b="1" i="1">
                        <a:solidFill>
                          <a:schemeClr val="tx1"/>
                        </a:solidFill>
                        <a:latin typeface="Cambria Math"/>
                      </a:rPr>
                      <m:t>⋅</m:t>
                    </m:r>
                    <m:acc>
                      <m:accPr>
                        <m:chr m:val="̂"/>
                        <m:ctrlPr>
                          <a:rPr lang="ro-RO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𝒇</m:t>
                        </m:r>
                      </m:e>
                    </m:acc>
                    <m:r>
                      <a:rPr lang="ro-RO" sz="2400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acc>
                      <m:accPr>
                        <m:chr m:val="̂"/>
                        <m:ctrlPr>
                          <a:rPr lang="ro-RO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𝜼</m:t>
                        </m:r>
                      </m:e>
                    </m:acc>
                  </m:oMath>
                </a14:m>
                <a:endParaRPr lang="ro-RO" sz="2800" b="1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17" y="1123020"/>
                <a:ext cx="11617426" cy="978153"/>
              </a:xfrm>
              <a:prstGeom prst="rect">
                <a:avLst/>
              </a:prstGeom>
              <a:blipFill>
                <a:blip r:embed="rId2"/>
                <a:stretch>
                  <a:fillRect l="-1102" t="-5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4D3FF0C-C17C-40F7-B4A7-7D454635E322}"/>
              </a:ext>
            </a:extLst>
          </p:cNvPr>
          <p:cNvSpPr txBox="1"/>
          <p:nvPr/>
        </p:nvSpPr>
        <p:spPr>
          <a:xfrm>
            <a:off x="463295" y="2265880"/>
            <a:ext cx="11021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/>
              <a:t>Imagine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393EA4-E966-43AF-B28F-ACD238B11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12" y="3472242"/>
            <a:ext cx="3330579" cy="31314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6D1C2E-47EE-41F1-B33D-77C35AB07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710" y="3471419"/>
            <a:ext cx="3330579" cy="3131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85E37B-7DA8-42C0-88BC-E5312C6C5F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733" y="3471419"/>
            <a:ext cx="3330579" cy="31314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8C1D2A-8003-4CB4-9C6F-2C37EF1C7FBA}"/>
                  </a:ext>
                </a:extLst>
              </p:cNvPr>
              <p:cNvSpPr txBox="1"/>
              <p:nvPr/>
            </p:nvSpPr>
            <p:spPr>
              <a:xfrm>
                <a:off x="463295" y="2284878"/>
                <a:ext cx="1102156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3200" dirty="0"/>
                  <a:t>Imagine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⨂</m:t>
                    </m:r>
                  </m:oMath>
                </a14:m>
                <a:r>
                  <a:rPr lang="ro-RO" sz="3200" dirty="0"/>
                  <a:t> impu</a:t>
                </a:r>
                <a:r>
                  <a:rPr lang="en-US" sz="3200" dirty="0"/>
                  <a:t>l</a:t>
                </a:r>
                <a:r>
                  <a:rPr lang="ro-RO" sz="3200" dirty="0"/>
                  <a:t>s (perturbare)</a:t>
                </a:r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8C1D2A-8003-4CB4-9C6F-2C37EF1C7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95" y="2284878"/>
                <a:ext cx="11021568" cy="584775"/>
              </a:xfrm>
              <a:prstGeom prst="rect">
                <a:avLst/>
              </a:prstGeom>
              <a:blipFill>
                <a:blip r:embed="rId6"/>
                <a:stretch>
                  <a:fillRect l="-1383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DD4C9D-441F-4743-8C96-FEC5E06F0D77}"/>
                  </a:ext>
                </a:extLst>
              </p:cNvPr>
              <p:cNvSpPr txBox="1"/>
              <p:nvPr/>
            </p:nvSpPr>
            <p:spPr>
              <a:xfrm>
                <a:off x="463295" y="2276083"/>
                <a:ext cx="1102156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3200" dirty="0"/>
                  <a:t>Imagine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⨂</m:t>
                    </m:r>
                  </m:oMath>
                </a14:m>
                <a:r>
                  <a:rPr lang="ro-RO" sz="3200" dirty="0"/>
                  <a:t> impu</a:t>
                </a:r>
                <a:r>
                  <a:rPr lang="en-US" sz="3200" dirty="0"/>
                  <a:t>l</a:t>
                </a:r>
                <a:r>
                  <a:rPr lang="ro-RO" sz="3200" dirty="0"/>
                  <a:t>s (perturbare) </a:t>
                </a:r>
                <a:r>
                  <a:rPr lang="ro-RO" sz="3200" dirty="0">
                    <a:solidFill>
                      <a:srgbClr val="FF0000"/>
                    </a:solidFill>
                  </a:rPr>
                  <a:t>+</a:t>
                </a:r>
                <a:r>
                  <a:rPr lang="ro-RO" sz="3200" dirty="0"/>
                  <a:t> zgomot </a:t>
                </a:r>
                <a:r>
                  <a:rPr lang="ro-RO" sz="3200" dirty="0">
                    <a:sym typeface="Wingdings" panose="05000000000000000000" pitchFamily="2" charset="2"/>
                  </a:rPr>
                  <a:t> imagine degradată</a:t>
                </a:r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DD4C9D-441F-4743-8C96-FEC5E06F0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95" y="2276083"/>
                <a:ext cx="11021568" cy="584775"/>
              </a:xfrm>
              <a:prstGeom prst="rect">
                <a:avLst/>
              </a:prstGeom>
              <a:blipFill>
                <a:blip r:embed="rId7"/>
                <a:stretch>
                  <a:fillRect l="-1383" t="-15625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B31A6D66-2B16-47C2-AA28-C1953C82A0EA}"/>
              </a:ext>
            </a:extLst>
          </p:cNvPr>
          <p:cNvSpPr/>
          <p:nvPr/>
        </p:nvSpPr>
        <p:spPr>
          <a:xfrm>
            <a:off x="7656818" y="2101275"/>
            <a:ext cx="3449506" cy="951979"/>
          </a:xfrm>
          <a:prstGeom prst="ellipse">
            <a:avLst/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6B601-728E-4AD0-A1C8-BC05647E9F2B}"/>
              </a:ext>
            </a:extLst>
          </p:cNvPr>
          <p:cNvSpPr txBox="1"/>
          <p:nvPr/>
        </p:nvSpPr>
        <p:spPr>
          <a:xfrm>
            <a:off x="6191360" y="1646240"/>
            <a:ext cx="60892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9AEAEC-00E9-4558-A688-BAE225CC7309}"/>
              </a:ext>
            </a:extLst>
          </p:cNvPr>
          <p:cNvSpPr txBox="1"/>
          <p:nvPr/>
        </p:nvSpPr>
        <p:spPr>
          <a:xfrm>
            <a:off x="4121205" y="1646240"/>
            <a:ext cx="60892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602A96-3B7F-47C5-A839-D88D04F94640}"/>
              </a:ext>
            </a:extLst>
          </p:cNvPr>
          <p:cNvSpPr txBox="1"/>
          <p:nvPr/>
        </p:nvSpPr>
        <p:spPr>
          <a:xfrm>
            <a:off x="641393" y="999909"/>
            <a:ext cx="100530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689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3" grpId="0"/>
      <p:bldP spid="13" grpId="1"/>
      <p:bldP spid="14" grpId="0"/>
      <p:bldP spid="15" grpId="0" animBg="1"/>
      <p:bldP spid="16" grpId="0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D6E140-02EC-43ED-91AA-EA8C771FC7F1}"/>
              </a:ext>
            </a:extLst>
          </p:cNvPr>
          <p:cNvSpPr txBox="1"/>
          <p:nvPr/>
        </p:nvSpPr>
        <p:spPr>
          <a:xfrm>
            <a:off x="690664" y="104778"/>
            <a:ext cx="11001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dirty="0"/>
              <a:t>Restaurare = obținerea unei aproximări a imaginii „corecte”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BAE38-5BF2-412A-A3E6-3221E0B48504}"/>
              </a:ext>
            </a:extLst>
          </p:cNvPr>
          <p:cNvSpPr txBox="1"/>
          <p:nvPr/>
        </p:nvSpPr>
        <p:spPr>
          <a:xfrm>
            <a:off x="-187117" y="5799115"/>
            <a:ext cx="57360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/>
              <a:t>Estimare grad de similaritate</a:t>
            </a:r>
            <a:endParaRPr lang="en-US" sz="2800" dirty="0"/>
          </a:p>
          <a:p>
            <a:pPr algn="ctr"/>
            <a:r>
              <a:rPr lang="ro-RO" sz="2800" dirty="0">
                <a:cs typeface="Arial" panose="020B0604020202020204" pitchFamily="34" charset="0"/>
              </a:rPr>
              <a:t>→	cît de bun este rezultatul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CD8D7-A2A8-4B15-9E8E-4D141232A7F4}"/>
              </a:ext>
            </a:extLst>
          </p:cNvPr>
          <p:cNvSpPr txBox="1"/>
          <p:nvPr/>
        </p:nvSpPr>
        <p:spPr>
          <a:xfrm>
            <a:off x="3323615" y="1785761"/>
            <a:ext cx="57360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/>
              <a:t>Estimare tip și parametri zgomot</a:t>
            </a:r>
            <a:endParaRPr lang="en-US" sz="2800" dirty="0"/>
          </a:p>
          <a:p>
            <a:pPr algn="ctr"/>
            <a:r>
              <a:rPr lang="ro-RO" sz="2800" dirty="0">
                <a:cs typeface="Arial" panose="020B0604020202020204" pitchFamily="34" charset="0"/>
              </a:rPr>
              <a:t>→	eliminare (reducere) zgomot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3057C-057D-46E8-ADF1-FA92073C12C1}"/>
              </a:ext>
            </a:extLst>
          </p:cNvPr>
          <p:cNvSpPr txBox="1"/>
          <p:nvPr/>
        </p:nvSpPr>
        <p:spPr>
          <a:xfrm>
            <a:off x="146616" y="4215085"/>
            <a:ext cx="57360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/>
              <a:t>Estimare tip perturbare	</a:t>
            </a:r>
            <a:endParaRPr lang="en-US" sz="2800" dirty="0"/>
          </a:p>
          <a:p>
            <a:pPr algn="ctr"/>
            <a:r>
              <a:rPr lang="ro-RO" sz="2800" dirty="0">
                <a:cs typeface="Arial" panose="020B0604020202020204" pitchFamily="34" charset="0"/>
              </a:rPr>
              <a:t>→	eliminare (reducere) perturbare</a:t>
            </a:r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F0AECD-0E29-44D8-93D3-2C764DCCE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359" y="914614"/>
            <a:ext cx="2867025" cy="2695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99508C-41B3-413C-A933-FA603DC79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6" y="914614"/>
            <a:ext cx="2867903" cy="2696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6550AD-DAE8-4979-818C-7C6F489D83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461" y="4056822"/>
            <a:ext cx="2867025" cy="26955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B3E150-8BA1-4402-9E1C-78CE3E374C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920" y="4056822"/>
            <a:ext cx="2867902" cy="26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0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96C173-8F76-4738-B93B-6F4FDD7A417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6446922" cy="685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o-RO" sz="2200" b="1" dirty="0"/>
              <a:t>Indicatori estimare calitate</a:t>
            </a:r>
          </a:p>
          <a:p>
            <a:pPr lvl="1"/>
            <a:endParaRPr lang="ro-RO" sz="2000" b="1" dirty="0"/>
          </a:p>
          <a:p>
            <a:pPr lvl="1"/>
            <a:r>
              <a:rPr lang="ro-RO" sz="2000" b="1" dirty="0"/>
              <a:t>raportul semnal-zgomot</a:t>
            </a:r>
            <a:r>
              <a:rPr lang="ro-RO" sz="2000" dirty="0"/>
              <a:t> </a:t>
            </a:r>
            <a:br>
              <a:rPr lang="ro-RO" sz="2000" dirty="0"/>
            </a:br>
            <a:r>
              <a:rPr lang="ro-RO" sz="2000" dirty="0"/>
              <a:t>(SNR)</a:t>
            </a:r>
          </a:p>
          <a:p>
            <a:pPr lvl="1"/>
            <a:endParaRPr lang="ro-RO" sz="2000" dirty="0"/>
          </a:p>
          <a:p>
            <a:pPr lvl="1"/>
            <a:endParaRPr lang="en-US" sz="2000" dirty="0"/>
          </a:p>
          <a:p>
            <a:pPr lvl="1"/>
            <a:r>
              <a:rPr lang="ro-RO" sz="2000" b="1" dirty="0"/>
              <a:t>raportul </a:t>
            </a:r>
            <a:r>
              <a:rPr lang="en-US" sz="2000" b="1" dirty="0"/>
              <a:t>v</a:t>
            </a:r>
            <a:r>
              <a:rPr lang="ro-RO" sz="2000" b="1" dirty="0" err="1"/>
              <a:t>îrf</a:t>
            </a:r>
            <a:r>
              <a:rPr lang="ro-RO" sz="2000" b="1" dirty="0"/>
              <a:t>-semnal-zgomot</a:t>
            </a:r>
            <a:r>
              <a:rPr lang="ro-RO" sz="2000" dirty="0"/>
              <a:t> </a:t>
            </a:r>
            <a:br>
              <a:rPr lang="ro-RO" sz="2000" dirty="0"/>
            </a:br>
            <a:r>
              <a:rPr lang="ro-RO" sz="2000" dirty="0"/>
              <a:t>(Peak-SNR)</a:t>
            </a:r>
          </a:p>
          <a:p>
            <a:pPr lvl="1"/>
            <a:endParaRPr lang="ro-RO" sz="2000" dirty="0"/>
          </a:p>
          <a:p>
            <a:pPr lvl="1"/>
            <a:endParaRPr lang="ro-RO" sz="2000" dirty="0"/>
          </a:p>
          <a:p>
            <a:pPr lvl="1"/>
            <a:r>
              <a:rPr lang="ro-RO" sz="2000" b="1" dirty="0"/>
              <a:t>raportul semnal-zgomot rădăcină medie pătratică</a:t>
            </a:r>
            <a:br>
              <a:rPr lang="ro-RO" sz="2000" b="1" dirty="0"/>
            </a:br>
            <a:r>
              <a:rPr lang="ro-RO" sz="2000" dirty="0"/>
              <a:t>(SNR-RMS)</a:t>
            </a:r>
          </a:p>
          <a:p>
            <a:pPr lvl="1"/>
            <a:endParaRPr lang="ro-RO" sz="2000" b="1" dirty="0"/>
          </a:p>
          <a:p>
            <a:pPr lvl="1"/>
            <a:endParaRPr lang="ro-RO" sz="2000" b="1" dirty="0"/>
          </a:p>
          <a:p>
            <a:pPr lvl="1"/>
            <a:r>
              <a:rPr lang="ro-RO" sz="2000" b="1" dirty="0"/>
              <a:t>eroarea medie pătratică </a:t>
            </a:r>
            <a:br>
              <a:rPr lang="ro-RO" sz="2000" b="1" dirty="0"/>
            </a:br>
            <a:r>
              <a:rPr lang="ro-RO" sz="2000" dirty="0"/>
              <a:t>(MSE)</a:t>
            </a:r>
          </a:p>
          <a:p>
            <a:pPr lvl="1"/>
            <a:endParaRPr lang="ro-RO" sz="2000" b="1" dirty="0"/>
          </a:p>
          <a:p>
            <a:pPr lvl="1"/>
            <a:endParaRPr lang="ro-RO" sz="2000" b="1" dirty="0"/>
          </a:p>
          <a:p>
            <a:pPr lvl="1"/>
            <a:r>
              <a:rPr lang="ro-RO" sz="2000" b="1" dirty="0"/>
              <a:t>raportul de informație mutuală </a:t>
            </a:r>
            <a:br>
              <a:rPr lang="ro-RO" sz="2000" b="1" dirty="0"/>
            </a:br>
            <a:r>
              <a:rPr lang="ro-RO" sz="2000" dirty="0"/>
              <a:t>(RMI)</a:t>
            </a:r>
          </a:p>
          <a:p>
            <a:pPr lvl="1"/>
            <a:endParaRPr lang="ro-RO" sz="2000" b="1" dirty="0"/>
          </a:p>
          <a:p>
            <a:pPr lvl="1"/>
            <a:endParaRPr lang="ro-RO" sz="2000" b="1" dirty="0"/>
          </a:p>
          <a:p>
            <a:pPr lvl="1"/>
            <a:r>
              <a:rPr lang="ro-RO" sz="2000" b="1" dirty="0"/>
              <a:t>metrica similaritate structurală </a:t>
            </a:r>
            <a:br>
              <a:rPr lang="ro-RO" sz="2000" b="1" dirty="0"/>
            </a:br>
            <a:r>
              <a:rPr lang="ro-RO" sz="2000" dirty="0"/>
              <a:t>(SSIM)</a:t>
            </a:r>
          </a:p>
          <a:p>
            <a:pPr marL="457200" lvl="1" indent="0">
              <a:buNone/>
            </a:pPr>
            <a:endParaRPr lang="ro-RO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59F0A-3F67-4B66-B9E8-C4B02F3BD94F}"/>
                  </a:ext>
                </a:extLst>
              </p:cNvPr>
              <p:cNvSpPr txBox="1"/>
              <p:nvPr/>
            </p:nvSpPr>
            <p:spPr>
              <a:xfrm>
                <a:off x="6446920" y="190553"/>
                <a:ext cx="5696952" cy="1112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smtClean="0">
                          <a:latin typeface="Cambria Math"/>
                        </a:rPr>
                        <m:t>𝑆𝑁𝑅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  <m:r>
                            <a:rPr lang="ro-RO" sz="18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̃"/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ro-RO" sz="1800" i="1">
                          <a:latin typeface="Cambria Math"/>
                        </a:rPr>
                        <m:t>=10∗</m:t>
                      </m:r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𝑙𝑜𝑔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10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𝑁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𝑦</m:t>
                                      </m:r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𝑀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o-RO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o-RO" sz="18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ro-RO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ro-RO" sz="1800" i="1"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ro-RO" sz="1800" i="1">
                                                      <a:latin typeface="Cambria Math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ro-RO" sz="1800" i="1">
                                                      <a:latin typeface="Cambria Math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𝑁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𝑦</m:t>
                                      </m:r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𝑀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ro-RO" sz="1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o-RO" sz="1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o-RO" sz="18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ro-RO" sz="18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ro-RO" sz="18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ro-RO" sz="18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ro-RO" sz="18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ro-RO" sz="180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ro-RO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o-RO" sz="1800" i="1">
                                                      <a:latin typeface="Cambria Math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</m:acc>
                                              <m:d>
                                                <m:dPr>
                                                  <m:ctrlPr>
                                                    <a:rPr lang="ro-RO" sz="18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ro-RO" sz="18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ro-RO" sz="18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ro-RO" sz="18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o-RO" sz="180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59F0A-3F67-4B66-B9E8-C4B02F3BD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20" y="190553"/>
                <a:ext cx="5696952" cy="11128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5EA414-5167-4F75-9557-B8957CD0CA43}"/>
                  </a:ext>
                </a:extLst>
              </p:cNvPr>
              <p:cNvSpPr txBox="1"/>
              <p:nvPr/>
            </p:nvSpPr>
            <p:spPr>
              <a:xfrm>
                <a:off x="5704974" y="1344554"/>
                <a:ext cx="6487026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𝑃𝑆𝑁𝑅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̃"/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=10∗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o-RO" sz="1800" i="1">
                                      <a:latin typeface="Cambria Math"/>
                                    </a:rPr>
                                    <m:t>𝑁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∙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𝑀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o-RO" sz="18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ro-RO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o-RO" sz="1800" i="1">
                                                      <a:latin typeface="Cambria Math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</m:acc>
                                              <m:d>
                                                <m:d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5EA414-5167-4F75-9557-B8957CD0C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974" y="1344554"/>
                <a:ext cx="6487026" cy="972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DC5E93-E0A5-48F2-B983-AFC09BEF1BE4}"/>
                  </a:ext>
                </a:extLst>
              </p:cNvPr>
              <p:cNvSpPr txBox="1"/>
              <p:nvPr/>
            </p:nvSpPr>
            <p:spPr>
              <a:xfrm>
                <a:off x="6793832" y="2399647"/>
                <a:ext cx="5398168" cy="1169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smtClean="0">
                          <a:latin typeface="Cambria Math"/>
                        </a:rPr>
                        <m:t>𝑆𝑁𝑅</m:t>
                      </m:r>
                      <m:r>
                        <a:rPr lang="ro-RO" sz="1800" i="1" smtClean="0">
                          <a:latin typeface="Cambria Math"/>
                        </a:rPr>
                        <m:t>_</m:t>
                      </m:r>
                      <m:r>
                        <a:rPr lang="ro-RO" sz="1800" i="1" smtClean="0">
                          <a:latin typeface="Cambria Math"/>
                        </a:rPr>
                        <m:t>𝑅𝑀𝑆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̃"/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𝑁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𝑦</m:t>
                                      </m:r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𝑀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o-RO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o-RO" sz="18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ro-RO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ro-RO" sz="1800" i="1"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ro-RO" sz="1800" i="1">
                                                      <a:latin typeface="Cambria Math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ro-RO" sz="1800" i="1">
                                                      <a:latin typeface="Cambria Math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𝑁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𝑦</m:t>
                                      </m:r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𝑀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o-RO" sz="18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ro-RO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o-RO" sz="1800" i="1">
                                                      <a:latin typeface="Cambria Math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</m:acc>
                                              <m:d>
                                                <m:d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DC5E93-E0A5-48F2-B983-AFC09BEF1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832" y="2399647"/>
                <a:ext cx="5398168" cy="1169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22511A-D3C7-4ED9-9E4F-D725B8162C8E}"/>
                  </a:ext>
                </a:extLst>
              </p:cNvPr>
              <p:cNvSpPr txBox="1"/>
              <p:nvPr/>
            </p:nvSpPr>
            <p:spPr>
              <a:xfrm>
                <a:off x="7238999" y="3569583"/>
                <a:ext cx="4904873" cy="9021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smtClean="0">
                          <a:latin typeface="Cambria Math"/>
                        </a:rPr>
                        <m:t>𝑀𝑆𝐸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̃"/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ro-RO" sz="1800" i="1">
                              <a:latin typeface="Cambria Math"/>
                            </a:rPr>
                            <m:t>𝑁</m:t>
                          </m:r>
                          <m:r>
                            <a:rPr lang="ro-RO" sz="1800" i="1">
                              <a:latin typeface="Cambria Math"/>
                            </a:rPr>
                            <m:t>∙</m:t>
                          </m:r>
                          <m:r>
                            <a:rPr lang="ro-RO" sz="1800" i="1">
                              <a:latin typeface="Cambria Math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  <m:r>
                            <a:rPr lang="ro-RO"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latin typeface="Cambria Math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o-RO" sz="1800" i="1">
                                  <a:latin typeface="Cambria Math"/>
                                </a:rPr>
                                <m:t>𝑀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̃"/>
                                          <m:ctrlP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22511A-D3C7-4ED9-9E4F-D725B8162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999" y="3569583"/>
                <a:ext cx="4904873" cy="9021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15B6B0-82F3-49C3-ABAE-69F6046ABFBC}"/>
                  </a:ext>
                </a:extLst>
              </p:cNvPr>
              <p:cNvSpPr txBox="1"/>
              <p:nvPr/>
            </p:nvSpPr>
            <p:spPr>
              <a:xfrm>
                <a:off x="7239000" y="4914185"/>
                <a:ext cx="4904873" cy="712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𝑓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̃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sub>
                      </m:sSub>
                      <m:r>
                        <a:rPr lang="en-GB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latin typeface="Cambria Math"/>
                            </a:rPr>
                            <m:t>𝑀𝐼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𝑓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̃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GB" sz="1800" i="1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den>
                      </m:f>
                      <m:r>
                        <a:rPr lang="en-GB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ro-RO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  <m:r>
                            <a:rPr lang="en-GB" i="1">
                              <a:latin typeface="Cambria Math"/>
                            </a:rPr>
                            <m:t>+</m:t>
                          </m:r>
                          <m:r>
                            <a:rPr lang="en-GB" i="1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i="1"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  <m:r>
                            <a:rPr lang="en-GB" i="1">
                              <a:latin typeface="Cambria Math"/>
                            </a:rPr>
                            <m:t>−</m:t>
                          </m:r>
                          <m:r>
                            <a:rPr lang="en-GB" i="1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i="1">
                                  <a:latin typeface="Cambria Math"/>
                                </a:rPr>
                                <m:t>𝑓</m:t>
                              </m:r>
                              <m:r>
                                <a:rPr lang="ro-RO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̃"/>
                                  <m:ctrlPr>
                                    <a:rPr lang="ro-RO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15B6B0-82F3-49C3-ABAE-69F6046AB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4914185"/>
                <a:ext cx="4904873" cy="7125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F72A0C-AB22-42A0-8DCF-523BA05D3B61}"/>
                  </a:ext>
                </a:extLst>
              </p:cNvPr>
              <p:cNvSpPr txBox="1"/>
              <p:nvPr/>
            </p:nvSpPr>
            <p:spPr>
              <a:xfrm>
                <a:off x="7636041" y="5816355"/>
                <a:ext cx="4507831" cy="708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𝑆𝑆𝐼𝑀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F72A0C-AB22-42A0-8DCF-523BA05D3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041" y="5816355"/>
                <a:ext cx="4507831" cy="7080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30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96C173-8F76-4738-B93B-6F4FDD7A417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98093"/>
            <a:ext cx="6096000" cy="5261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o-RO" sz="2200" b="1" dirty="0"/>
              <a:t>Tipuri de zgomot </a:t>
            </a:r>
          </a:p>
          <a:p>
            <a:pPr lvl="1"/>
            <a:endParaRPr lang="ro-RO" sz="2000" b="1" dirty="0"/>
          </a:p>
          <a:p>
            <a:pPr lvl="1"/>
            <a:r>
              <a:rPr lang="ro-RO" sz="2000" b="1" u="sng" dirty="0"/>
              <a:t>gaussian</a:t>
            </a:r>
            <a:r>
              <a:rPr lang="ro-RO" sz="2000" b="1" dirty="0"/>
              <a:t>: circuit electronic, senzor</a:t>
            </a:r>
            <a:endParaRPr lang="ro-RO" sz="2000" dirty="0"/>
          </a:p>
          <a:p>
            <a:pPr lvl="1"/>
            <a:endParaRPr lang="ro-RO" sz="2000" dirty="0"/>
          </a:p>
          <a:p>
            <a:pPr lvl="1"/>
            <a:endParaRPr lang="ro-RO" sz="2000" dirty="0"/>
          </a:p>
          <a:p>
            <a:pPr lvl="1"/>
            <a:r>
              <a:rPr lang="ro-RO" sz="2000" b="1" dirty="0"/>
              <a:t>sare și piper (impuls): prelucrări digitale - scalare</a:t>
            </a:r>
            <a:endParaRPr lang="ro-RO" sz="2000" dirty="0"/>
          </a:p>
          <a:p>
            <a:pPr lvl="1"/>
            <a:endParaRPr lang="ro-RO" sz="2000" dirty="0"/>
          </a:p>
          <a:p>
            <a:pPr lvl="1"/>
            <a:endParaRPr lang="ro-RO" sz="2000" dirty="0"/>
          </a:p>
          <a:p>
            <a:pPr lvl="1"/>
            <a:r>
              <a:rPr lang="ro-RO" sz="2000" b="1" dirty="0"/>
              <a:t>exponențial negativ: imagistica laser</a:t>
            </a:r>
            <a:endParaRPr lang="ro-RO" sz="2000" dirty="0"/>
          </a:p>
          <a:p>
            <a:pPr lvl="1"/>
            <a:endParaRPr lang="ro-RO" sz="2000" b="1" dirty="0"/>
          </a:p>
          <a:p>
            <a:pPr lvl="1"/>
            <a:endParaRPr lang="ro-RO" sz="2000" b="1" dirty="0"/>
          </a:p>
          <a:p>
            <a:pPr lvl="1"/>
            <a:r>
              <a:rPr lang="ro-RO" sz="2000" b="1" dirty="0" err="1"/>
              <a:t>Rayleigh</a:t>
            </a:r>
            <a:r>
              <a:rPr lang="ro-RO" sz="2000" b="1" dirty="0"/>
              <a:t>: </a:t>
            </a:r>
            <a:r>
              <a:rPr lang="ro-RO" sz="2000" b="1" dirty="0" err="1"/>
              <a:t>range</a:t>
            </a:r>
            <a:r>
              <a:rPr lang="ro-RO" sz="2000" b="1" dirty="0"/>
              <a:t> </a:t>
            </a:r>
            <a:r>
              <a:rPr lang="ro-RO" sz="2000" b="1" dirty="0" err="1"/>
              <a:t>imaging</a:t>
            </a:r>
            <a:endParaRPr lang="ro-RO" sz="2000" dirty="0"/>
          </a:p>
          <a:p>
            <a:pPr lvl="1"/>
            <a:endParaRPr lang="ro-RO" sz="2000" b="1" dirty="0"/>
          </a:p>
          <a:p>
            <a:pPr lvl="1"/>
            <a:endParaRPr lang="ro-RO" sz="2000" b="1" dirty="0"/>
          </a:p>
          <a:p>
            <a:pPr lvl="1"/>
            <a:r>
              <a:rPr lang="ro-RO" sz="2000" b="1" dirty="0"/>
              <a:t>uniform: date corupte</a:t>
            </a:r>
          </a:p>
          <a:p>
            <a:pPr marL="457200" lvl="1" indent="0">
              <a:buNone/>
            </a:pPr>
            <a:endParaRPr lang="ro-RO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6065C1-6B61-4070-B8CD-11860742F77A}"/>
                  </a:ext>
                </a:extLst>
              </p:cNvPr>
              <p:cNvSpPr txBox="1"/>
              <p:nvPr/>
            </p:nvSpPr>
            <p:spPr>
              <a:xfrm>
                <a:off x="4576010" y="1297304"/>
                <a:ext cx="7615990" cy="71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𝜂</m:t>
                          </m:r>
                        </m:sub>
                      </m:sSub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ro-RO" sz="1800" i="1">
                          <a:latin typeface="Cambria Math"/>
                        </a:rPr>
                        <m:t>∙</m:t>
                      </m:r>
                      <m:r>
                        <a:rPr lang="ro-RO" sz="1800" i="1">
                          <a:latin typeface="Cambria Math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o-RO" sz="1800" i="1">
                                  <a:latin typeface="Cambria Math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ro-RO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/>
                            </a:rPr>
                            <m:t>𝜂</m:t>
                          </m:r>
                        </m:e>
                      </m:d>
                      <m:r>
                        <a:rPr lang="ro-RO" i="1">
                          <a:latin typeface="Cambria Math"/>
                        </a:rPr>
                        <m:t>=</m:t>
                      </m:r>
                      <m:r>
                        <a:rPr lang="ro-RO" i="1">
                          <a:latin typeface="Cambria Math"/>
                        </a:rPr>
                        <m:t>𝜇</m:t>
                      </m:r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ro-RO" i="1">
                          <a:latin typeface="Cambria Math"/>
                        </a:rPr>
                        <m:t>𝑣𝑎𝑟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/>
                            </a:rPr>
                            <m:t>𝜂</m:t>
                          </m:r>
                        </m:e>
                      </m:d>
                      <m:r>
                        <a:rPr lang="ro-RO" i="1">
                          <a:latin typeface="Cambria Math"/>
                        </a:rPr>
                        <m:t>=</m:t>
                      </m:r>
                      <m:r>
                        <a:rPr lang="ro-RO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𝜂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ro-RO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ro-RO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ro-RO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ro-RO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o-RO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6065C1-6B61-4070-B8CD-11860742F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010" y="1297304"/>
                <a:ext cx="7615990" cy="7180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2BD412-EDD4-4938-BFC5-DB33FFDA5326}"/>
                  </a:ext>
                </a:extLst>
              </p:cNvPr>
              <p:cNvSpPr txBox="1"/>
              <p:nvPr/>
            </p:nvSpPr>
            <p:spPr>
              <a:xfrm>
                <a:off x="5710989" y="2194733"/>
                <a:ext cx="3557337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𝜂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𝐴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,                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𝐵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,                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 0,        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∉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2BD412-EDD4-4938-BFC5-DB33FFDA5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989" y="2194733"/>
                <a:ext cx="3557337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2F2CE1-899D-40C5-A737-E777771A90D9}"/>
                  </a:ext>
                </a:extLst>
              </p:cNvPr>
              <p:cNvSpPr txBox="1"/>
              <p:nvPr/>
            </p:nvSpPr>
            <p:spPr>
              <a:xfrm>
                <a:off x="5887452" y="3350694"/>
                <a:ext cx="5470359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𝜂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∙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,  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0,                             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&lt;0</m:t>
                              </m:r>
                            </m:e>
                          </m:eqArr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ro-RO" i="1">
                              <a:latin typeface="Cambria Math"/>
                            </a:rPr>
                            <m:t>𝜇</m:t>
                          </m:r>
                          <m:r>
                            <a:rPr lang="ro-RO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o-RO" i="1">
                                  <a:latin typeface="Cambria Math"/>
                                </a:rPr>
                                <m:t>𝑎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o-RO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ro-RO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o-RO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o-RO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2F2CE1-899D-40C5-A737-E777771A9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452" y="3350694"/>
                <a:ext cx="5470359" cy="7101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A0A350-9BDD-471C-BA3E-4C269ABAF2E3}"/>
                  </a:ext>
                </a:extLst>
              </p:cNvPr>
              <p:cNvSpPr txBox="1"/>
              <p:nvPr/>
            </p:nvSpPr>
            <p:spPr>
              <a:xfrm>
                <a:off x="2973805" y="4240235"/>
                <a:ext cx="9416716" cy="991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𝜂</m:t>
                          </m:r>
                        </m:sub>
                      </m:sSub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o-RO" sz="1800" i="1"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ro-RO" sz="1800" i="1">
                                      <a:latin typeface="Cambria Math"/>
                                    </a:rPr>
                                    <m:t>𝑏</m:t>
                                  </m:r>
                                </m:den>
                              </m:f>
                              <m:r>
                                <a:rPr lang="ro-RO" sz="1800" i="1">
                                  <a:latin typeface="Cambria Math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𝑒𝑥𝑝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o-RO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o-RO" sz="18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ro-RO" sz="1800" i="1">
                                                  <a:latin typeface="Cambria Math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ro-RO" sz="18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,  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≥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0,                                                         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&lt;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𝑎</m:t>
                              </m:r>
                            </m:e>
                          </m:eqArr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  <m:r>
                        <a:rPr lang="ro-RO" i="1">
                          <a:latin typeface="Cambria Math"/>
                        </a:rPr>
                        <m:t>𝜇</m:t>
                      </m:r>
                      <m:r>
                        <a:rPr lang="ro-RO" i="1">
                          <a:latin typeface="Cambria Math"/>
                        </a:rPr>
                        <m:t>=</m:t>
                      </m:r>
                      <m:r>
                        <a:rPr lang="ro-RO" i="1">
                          <a:latin typeface="Cambria Math"/>
                        </a:rPr>
                        <m:t>𝑎</m:t>
                      </m:r>
                      <m:r>
                        <a:rPr lang="ro-RO" i="1">
                          <a:latin typeface="Cambria Math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o-RO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o-RO" i="1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ro-RO" b="0" i="0" smtClean="0"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ro-RO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ro-RO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ro-RO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i="1">
                              <a:latin typeface="Cambria Math"/>
                            </a:rPr>
                            <m:t>𝑏</m:t>
                          </m:r>
                          <m:d>
                            <m:dPr>
                              <m:ctrlPr>
                                <a:rPr lang="ro-R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i="1">
                                  <a:latin typeface="Cambria Math"/>
                                </a:rPr>
                                <m:t>4−</m:t>
                              </m:r>
                              <m:r>
                                <a:rPr lang="ro-RO" i="1">
                                  <a:latin typeface="Cambria Math"/>
                                </a:rPr>
                                <m:t>𝜋</m:t>
                              </m:r>
                            </m:e>
                          </m:d>
                        </m:num>
                        <m:den>
                          <m:r>
                            <a:rPr lang="ro-RO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A0A350-9BDD-471C-BA3E-4C269ABAF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805" y="4240235"/>
                <a:ext cx="9416716" cy="9919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059B6B-94E7-4598-8BBA-D0B883432429}"/>
                  </a:ext>
                </a:extLst>
              </p:cNvPr>
              <p:cNvSpPr txBox="1"/>
              <p:nvPr/>
            </p:nvSpPr>
            <p:spPr>
              <a:xfrm>
                <a:off x="3416969" y="5232173"/>
                <a:ext cx="6464968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𝜂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o-RO" sz="18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o-RO" sz="1800" i="1">
                                      <a:latin typeface="Cambria Math"/>
                                    </a:rPr>
                                    <m:t>𝑏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ro-RO" sz="1800" i="1">
                                  <a:latin typeface="Cambria Math"/>
                                </a:rPr>
                                <m:t>,      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≥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≥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0,                       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𝑎𝑙𝑡𝑓𝑒𝑙</m:t>
                              </m:r>
                            </m:e>
                          </m:eqAr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       </m:t>
                      </m:r>
                      <m:r>
                        <a:rPr lang="ro-RO" sz="1800" i="1">
                          <a:latin typeface="Cambria Math"/>
                        </a:rPr>
                        <m:t>𝜇</m:t>
                      </m:r>
                      <m:r>
                        <a:rPr lang="ro-RO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/>
                            </a:rPr>
                            <m:t>𝑎</m:t>
                          </m:r>
                          <m:r>
                            <a:rPr lang="ro-RO" sz="1800" i="1">
                              <a:latin typeface="Cambria Math"/>
                            </a:rPr>
                            <m:t>+</m:t>
                          </m:r>
                          <m:r>
                            <a:rPr lang="ro-RO" sz="1800" i="1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ro-RO" sz="180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ro-RO" sz="1800" i="1">
                          <a:latin typeface="Cambria Math"/>
                        </a:rPr>
                        <m:t> </m:t>
                      </m:r>
                      <m:r>
                        <a:rPr lang="en-US" sz="1800" b="0" i="1" smtClean="0">
                          <a:latin typeface="Cambria Math"/>
                        </a:rPr>
                        <m:t>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ro-RO" sz="1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ro-RO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𝑏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ro-RO" sz="1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o-RO" sz="1800" i="1">
                              <a:latin typeface="Cambria Math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059B6B-94E7-4598-8BBA-D0B883432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969" y="5232173"/>
                <a:ext cx="6464968" cy="976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623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266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</dc:creator>
  <cp:lastModifiedBy>X</cp:lastModifiedBy>
  <cp:revision>15</cp:revision>
  <dcterms:created xsi:type="dcterms:W3CDTF">2020-11-16T12:23:41Z</dcterms:created>
  <dcterms:modified xsi:type="dcterms:W3CDTF">2025-11-18T12:39:14Z</dcterms:modified>
</cp:coreProperties>
</file>