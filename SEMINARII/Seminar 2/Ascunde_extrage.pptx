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FF00"/>
    <a:srgbClr val="FF0000"/>
    <a:srgbClr val="666666"/>
    <a:srgbClr val="4C4C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60" autoAdjust="0"/>
    <p:restoredTop sz="94660"/>
  </p:normalViewPr>
  <p:slideViewPr>
    <p:cSldViewPr snapToGrid="0">
      <p:cViewPr varScale="1">
        <p:scale>
          <a:sx n="80" d="100"/>
          <a:sy n="80" d="100"/>
        </p:scale>
        <p:origin x="96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50370-CAFA-4306-9816-008727FD4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21E137-16DD-4D47-8180-FED0A9768D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EA33C-BCC1-4329-9FB0-8F7976035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8A5CF-4777-4E60-B40C-D82DCBEFDC19}" type="datetimeFigureOut">
              <a:rPr lang="en-US" smtClean="0"/>
              <a:t>06-Oct-24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42F7F-36E2-4EFA-B819-0DD9228DB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EE9E6-3201-49BE-A76F-CA9ACA1C0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187A-A068-4B77-9DE2-4A373D9C1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41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8E039-271E-4DB4-B2F5-115E1619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3B082-3B7E-40F5-A4FD-80EBF928A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6C238-BB75-4FD7-9F24-939A38831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8A5CF-4777-4E60-B40C-D82DCBEFDC19}" type="datetimeFigureOut">
              <a:rPr lang="en-US" smtClean="0"/>
              <a:t>06-Oct-24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99B3E-BA7D-409B-AE6F-6DD71BEEE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79945-7576-498E-B20A-4FCFE5B06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187A-A068-4B77-9DE2-4A373D9C1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782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EE04A-3EA8-4A45-9BED-38E317641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28EE1-4C3A-42BE-AE17-13E9A3163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89AD2-5FE5-4AD2-B113-46FD3B39A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8A5CF-4777-4E60-B40C-D82DCBEFDC19}" type="datetimeFigureOut">
              <a:rPr lang="en-US" smtClean="0"/>
              <a:t>06-Oct-24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C57E8-5BFA-42ED-A308-1FE0370AD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DF313-4DE9-4B48-A720-285E917D0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187A-A068-4B77-9DE2-4A373D9C1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917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14675-A6B3-4BA4-9B6E-31AA44FBC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FFFCB-D8B0-441F-91F5-375107688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8491E-E5B0-4313-95BF-F523CFE24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12393-2D44-4DB4-8ACA-47714B843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8A5CF-4777-4E60-B40C-D82DCBEFDC19}" type="datetimeFigureOut">
              <a:rPr lang="en-US" smtClean="0"/>
              <a:t>06-Oct-24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17E72C-9BF0-489B-B9D0-9CB7C6F8E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D365E-73AE-46AF-BB23-542B6908B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187A-A068-4B77-9DE2-4A373D9C1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15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C353F-1769-4964-B625-484309823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81FDF-7EF8-4F9F-BA1C-9DB5B12DD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96CE9-0789-47A4-8FA4-34A7019B7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9C4F48-8D35-4C3C-BF85-03BFC7FB6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484533-1C2B-4AA4-8343-AC8F425746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6B6AB3-633A-4F7C-BDC5-625EAF792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8A5CF-4777-4E60-B40C-D82DCBEFDC19}" type="datetimeFigureOut">
              <a:rPr lang="en-US" smtClean="0"/>
              <a:t>06-Oct-24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DA146C-0DF8-4F85-9C55-F0A66CA0A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678DED-6D3B-46F4-9A71-54231DAD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187A-A068-4B77-9DE2-4A373D9C1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74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6B208-45C8-4A24-8FC7-852023E9D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D0D7C-6C0B-4CD5-862A-11C5C03DB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8A5CF-4777-4E60-B40C-D82DCBEFDC19}" type="datetimeFigureOut">
              <a:rPr lang="en-US" smtClean="0"/>
              <a:t>06-Oct-24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CCC5CC-E283-4B76-B40C-126B53773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C10988-9428-4FBC-A8B7-3F343591A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187A-A068-4B77-9DE2-4A373D9C1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868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974DF4-FCE6-4A66-9D7F-97B7CA60D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8A5CF-4777-4E60-B40C-D82DCBEFDC19}" type="datetimeFigureOut">
              <a:rPr lang="en-US" smtClean="0"/>
              <a:t>06-Oct-24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92A1CA-FC64-4594-958E-895924D32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97CBA-55D8-4705-868A-7DE424A7E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187A-A068-4B77-9DE2-4A373D9C1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70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136F6-7205-4A54-8B5F-E7A2B5C1F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3479B-A5F3-4F69-B75C-CC4A892EE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91D1C-99EC-4B7B-8C21-E56C86CC1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FDB429-D150-4C11-A020-2672313BF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8A5CF-4777-4E60-B40C-D82DCBEFDC19}" type="datetimeFigureOut">
              <a:rPr lang="en-US" smtClean="0"/>
              <a:t>06-Oct-24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47699-7CBD-463A-A9E4-7DB684CE7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C56C4-3C5D-4405-BCA3-B56B1D6D0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187A-A068-4B77-9DE2-4A373D9C1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38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AE61D-C689-4B2D-8659-5AD3BEE6F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1E2157-EBCB-498D-9249-C409FE459E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37A139-D376-4871-8E05-EF564BD63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1D4CF-08A4-436B-BDAA-6A5833730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8A5CF-4777-4E60-B40C-D82DCBEFDC19}" type="datetimeFigureOut">
              <a:rPr lang="en-US" smtClean="0"/>
              <a:t>06-Oct-24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A6B86-D87E-4461-A7BE-B8478F75D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DF0A5-6345-4CE0-9B4C-3D13C5571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187A-A068-4B77-9DE2-4A373D9C1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919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CE0B6-6792-4440-A63E-5A1D1A4D9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14357-79E1-4AD6-957B-A2A390C24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6B024-9EBC-46CD-BA6D-27C7ACFA7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8A5CF-4777-4E60-B40C-D82DCBEFDC19}" type="datetimeFigureOut">
              <a:rPr lang="en-US" smtClean="0"/>
              <a:t>06-Oct-24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4C957-4EF6-4948-B90C-014BFFB44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728F6-A546-458B-9D19-1F1F6EAD2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187A-A068-4B77-9DE2-4A373D9C1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05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5CA2F5-CA46-42F7-88D7-C897389454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7E3F6-41ED-4B8D-8920-2F92CDDF5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49094-7EF8-48D0-87FE-65B3966D6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8A5CF-4777-4E60-B40C-D82DCBEFDC19}" type="datetimeFigureOut">
              <a:rPr lang="en-US" smtClean="0"/>
              <a:t>06-Oct-24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1E916-BB6A-4E56-B436-ACDF4F328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0C6D4-4F76-4E78-AB89-BAAF276FD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F187A-A068-4B77-9DE2-4A373D9C1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215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4DE77A-1899-4935-A591-3F10940D8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67E1C-4892-4C6F-AF58-042A62288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F318F-0A04-4800-B163-83D8146D0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8A5CF-4777-4E60-B40C-D82DCBEFDC19}" type="datetimeFigureOut">
              <a:rPr lang="en-US" smtClean="0"/>
              <a:t>06-Oct-24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33FF1-1D7B-4433-BE08-05FA825D5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0C258-8B40-4961-905E-79BC7B342F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F187A-A068-4B77-9DE2-4A373D9C1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096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row: Bent 14">
            <a:extLst>
              <a:ext uri="{FF2B5EF4-FFF2-40B4-BE49-F238E27FC236}">
                <a16:creationId xmlns:a16="http://schemas.microsoft.com/office/drawing/2014/main" id="{B14B946C-46C5-469F-A27F-B3A5317DD51F}"/>
              </a:ext>
            </a:extLst>
          </p:cNvPr>
          <p:cNvSpPr/>
          <p:nvPr/>
        </p:nvSpPr>
        <p:spPr>
          <a:xfrm rot="10800000" flipH="1">
            <a:off x="418774" y="3107094"/>
            <a:ext cx="962157" cy="2546522"/>
          </a:xfrm>
          <a:prstGeom prst="bentArrow">
            <a:avLst>
              <a:gd name="adj1" fmla="val 13856"/>
              <a:gd name="adj2" fmla="val 20294"/>
              <a:gd name="adj3" fmla="val 21471"/>
              <a:gd name="adj4" fmla="val 40809"/>
            </a:avLst>
          </a:prstGeom>
          <a:gradFill flip="none" rotWithShape="1">
            <a:gsLst>
              <a:gs pos="42000">
                <a:schemeClr val="accent2">
                  <a:lumMod val="40000"/>
                  <a:lumOff val="60000"/>
                </a:schemeClr>
              </a:gs>
              <a:gs pos="71000">
                <a:schemeClr val="accent2">
                  <a:lumMod val="95000"/>
                  <a:lumOff val="5000"/>
                </a:schemeClr>
              </a:gs>
              <a:gs pos="10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DB364B-A674-4DCC-86C6-BAC80237DAD2}"/>
              </a:ext>
            </a:extLst>
          </p:cNvPr>
          <p:cNvSpPr txBox="1"/>
          <p:nvPr/>
        </p:nvSpPr>
        <p:spPr>
          <a:xfrm>
            <a:off x="-3818" y="2394738"/>
            <a:ext cx="5258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acestaesteunmesajpecarevreausailascundintr</a:t>
            </a:r>
            <a:r>
              <a:rPr lang="ro-RO" b="1" dirty="0"/>
              <a:t>o</a:t>
            </a:r>
            <a:r>
              <a:rPr lang="en-US" b="1" dirty="0" err="1"/>
              <a:t>poza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1429A9-2972-4BE0-A74A-3BF62FE1830F}"/>
              </a:ext>
            </a:extLst>
          </p:cNvPr>
          <p:cNvSpPr txBox="1"/>
          <p:nvPr/>
        </p:nvSpPr>
        <p:spPr>
          <a:xfrm>
            <a:off x="306383" y="160182"/>
            <a:ext cx="1856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b="1" dirty="0"/>
              <a:t>Mesaj 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E9CA56-3C6E-4C2E-8184-3B942857959F}"/>
              </a:ext>
            </a:extLst>
          </p:cNvPr>
          <p:cNvSpPr/>
          <p:nvPr/>
        </p:nvSpPr>
        <p:spPr>
          <a:xfrm>
            <a:off x="306383" y="785810"/>
            <a:ext cx="1856792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Imagine</a:t>
            </a:r>
          </a:p>
          <a:p>
            <a:pPr algn="ctr"/>
            <a:r>
              <a:rPr lang="ro-RO" dirty="0"/>
              <a:t>monocrom/color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129C32-5701-456E-977A-73CB9608CCB4}"/>
              </a:ext>
            </a:extLst>
          </p:cNvPr>
          <p:cNvSpPr/>
          <p:nvPr/>
        </p:nvSpPr>
        <p:spPr>
          <a:xfrm>
            <a:off x="5564946" y="267389"/>
            <a:ext cx="1856792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Imagine modificată insesizabil pentru ochiul liber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4BEC7938-913E-400F-92B9-768D3476C58C}"/>
              </a:ext>
            </a:extLst>
          </p:cNvPr>
          <p:cNvSpPr/>
          <p:nvPr/>
        </p:nvSpPr>
        <p:spPr>
          <a:xfrm>
            <a:off x="2625464" y="344848"/>
            <a:ext cx="2477193" cy="1045413"/>
          </a:xfrm>
          <a:prstGeom prst="chevr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Ascunde</a:t>
            </a:r>
          </a:p>
          <a:p>
            <a:pPr algn="ctr"/>
            <a:r>
              <a:rPr lang="ro-RO" dirty="0">
                <a:solidFill>
                  <a:schemeClr val="tx1"/>
                </a:solidFill>
              </a:rPr>
              <a:t>(cum?)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0940C887-E209-4E8D-BC62-83C75AED9513}"/>
              </a:ext>
            </a:extLst>
          </p:cNvPr>
          <p:cNvSpPr/>
          <p:nvPr/>
        </p:nvSpPr>
        <p:spPr>
          <a:xfrm>
            <a:off x="7884027" y="340561"/>
            <a:ext cx="2477193" cy="1045413"/>
          </a:xfrm>
          <a:prstGeom prst="chevr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chemeClr val="tx1"/>
                </a:solidFill>
              </a:rPr>
              <a:t>Extrage</a:t>
            </a:r>
          </a:p>
          <a:p>
            <a:pPr algn="ctr"/>
            <a:r>
              <a:rPr lang="ro-RO" dirty="0">
                <a:solidFill>
                  <a:schemeClr val="tx1"/>
                </a:solidFill>
              </a:rPr>
              <a:t>(cum?)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55269F-4197-4464-985B-2B96E41E6EA4}"/>
              </a:ext>
            </a:extLst>
          </p:cNvPr>
          <p:cNvSpPr txBox="1"/>
          <p:nvPr/>
        </p:nvSpPr>
        <p:spPr>
          <a:xfrm>
            <a:off x="10678092" y="678601"/>
            <a:ext cx="1274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b="1" dirty="0"/>
              <a:t>Mesaj text</a:t>
            </a:r>
          </a:p>
        </p:txBody>
      </p:sp>
      <p:sp>
        <p:nvSpPr>
          <p:cNvPr id="14" name="Arrow: Bent 13">
            <a:extLst>
              <a:ext uri="{FF2B5EF4-FFF2-40B4-BE49-F238E27FC236}">
                <a16:creationId xmlns:a16="http://schemas.microsoft.com/office/drawing/2014/main" id="{BDBD5AED-0FF7-4085-9EA5-EFEC38F10357}"/>
              </a:ext>
            </a:extLst>
          </p:cNvPr>
          <p:cNvSpPr/>
          <p:nvPr/>
        </p:nvSpPr>
        <p:spPr>
          <a:xfrm rot="10800000" flipH="1">
            <a:off x="418774" y="2764069"/>
            <a:ext cx="962157" cy="856209"/>
          </a:xfrm>
          <a:prstGeom prst="bentArrow">
            <a:avLst>
              <a:gd name="adj1" fmla="val 15916"/>
              <a:gd name="adj2" fmla="val 20294"/>
              <a:gd name="adj3" fmla="val 21471"/>
              <a:gd name="adj4" fmla="val 40809"/>
            </a:avLst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0">
                <a:schemeClr val="accent3">
                  <a:lumMod val="0"/>
                  <a:lumOff val="100000"/>
                </a:schemeClr>
              </a:gs>
              <a:gs pos="72000">
                <a:schemeClr val="accent3">
                  <a:lumMod val="100000"/>
                </a:schemeClr>
              </a:gs>
            </a:gsLst>
            <a:lin ang="0" scaled="0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9300D2-F460-4B82-A278-A71166FB0B05}"/>
              </a:ext>
            </a:extLst>
          </p:cNvPr>
          <p:cNvSpPr/>
          <p:nvPr/>
        </p:nvSpPr>
        <p:spPr>
          <a:xfrm>
            <a:off x="1531804" y="2828835"/>
            <a:ext cx="1856792" cy="1200329"/>
          </a:xfrm>
          <a:prstGeom prst="rect">
            <a:avLst/>
          </a:prstGeom>
          <a:gradFill flip="none" rotWithShape="1">
            <a:gsLst>
              <a:gs pos="7000">
                <a:schemeClr val="accent3">
                  <a:lumMod val="40000"/>
                  <a:lumOff val="60000"/>
                </a:schemeClr>
              </a:gs>
              <a:gs pos="62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Imagine</a:t>
            </a:r>
          </a:p>
          <a:p>
            <a:pPr algn="ctr"/>
            <a:r>
              <a:rPr lang="ro-RO" dirty="0"/>
              <a:t>monocrom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28B4967-9838-4453-A373-C94496383695}"/>
              </a:ext>
            </a:extLst>
          </p:cNvPr>
          <p:cNvGrpSpPr/>
          <p:nvPr/>
        </p:nvGrpSpPr>
        <p:grpSpPr>
          <a:xfrm>
            <a:off x="1234779" y="4506541"/>
            <a:ext cx="4371277" cy="1906156"/>
            <a:chOff x="4035772" y="4207962"/>
            <a:chExt cx="4371277" cy="1906156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45EC7E0-C27D-4520-83AA-46A08F303421}"/>
                </a:ext>
              </a:extLst>
            </p:cNvPr>
            <p:cNvSpPr txBox="1"/>
            <p:nvPr/>
          </p:nvSpPr>
          <p:spPr>
            <a:xfrm>
              <a:off x="5299872" y="4207962"/>
              <a:ext cx="11960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/>
                <a:t>acestae</a:t>
              </a:r>
              <a:r>
                <a:rPr lang="ro-RO" b="1" dirty="0"/>
                <a:t>st</a:t>
              </a:r>
              <a:endParaRPr lang="en-US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D777144-A295-4609-BC11-5893F074FF3C}"/>
                </a:ext>
              </a:extLst>
            </p:cNvPr>
            <p:cNvSpPr txBox="1"/>
            <p:nvPr/>
          </p:nvSpPr>
          <p:spPr>
            <a:xfrm>
              <a:off x="5299872" y="4976374"/>
              <a:ext cx="31071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/>
                <a:t>eunmesajpecarevreausailascu</a:t>
              </a:r>
              <a:endParaRPr lang="en-US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48B75EA-817B-45C9-8577-8DC729F584C3}"/>
                </a:ext>
              </a:extLst>
            </p:cNvPr>
            <p:cNvSpPr txBox="1"/>
            <p:nvPr/>
          </p:nvSpPr>
          <p:spPr>
            <a:xfrm>
              <a:off x="5299873" y="5744786"/>
              <a:ext cx="15377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/>
                <a:t>ndintr</a:t>
              </a:r>
              <a:r>
                <a:rPr lang="ro-RO" b="1" dirty="0"/>
                <a:t>o</a:t>
              </a:r>
              <a:r>
                <a:rPr lang="en-US" b="1" dirty="0" err="1"/>
                <a:t>poza</a:t>
              </a:r>
              <a:endParaRPr lang="en-US" b="1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70BB1CF-EAED-4B95-994B-9B00657EEC23}"/>
                </a:ext>
              </a:extLst>
            </p:cNvPr>
            <p:cNvCxnSpPr/>
            <p:nvPr/>
          </p:nvCxnSpPr>
          <p:spPr>
            <a:xfrm>
              <a:off x="4488108" y="5187821"/>
              <a:ext cx="81176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4CE97F8-02E0-48B0-8D45-94AD5E872765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 flipV="1">
              <a:off x="4488108" y="4392628"/>
              <a:ext cx="811764" cy="7951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A8A5965-1F7E-4A70-859D-76A35FDA0948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>
              <a:off x="4488108" y="5187821"/>
              <a:ext cx="811765" cy="7416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5AF80CC-C8B9-46BA-B68E-920E47B46E1B}"/>
                </a:ext>
              </a:extLst>
            </p:cNvPr>
            <p:cNvSpPr txBox="1"/>
            <p:nvPr/>
          </p:nvSpPr>
          <p:spPr>
            <a:xfrm>
              <a:off x="4035772" y="4722501"/>
              <a:ext cx="461665" cy="877077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ro-RO" dirty="0"/>
                <a:t>aleator</a:t>
              </a:r>
              <a:endParaRPr lang="en-US" dirty="0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D0FC585F-D4B0-4E6C-8EAF-EB49B86D3790}"/>
              </a:ext>
            </a:extLst>
          </p:cNvPr>
          <p:cNvSpPr/>
          <p:nvPr/>
        </p:nvSpPr>
        <p:spPr>
          <a:xfrm>
            <a:off x="3890267" y="5627793"/>
            <a:ext cx="1856792" cy="1200329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Plan albastru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BA0C39B-66D1-4ECB-8E2F-A92B8782EAFB}"/>
              </a:ext>
            </a:extLst>
          </p:cNvPr>
          <p:cNvSpPr/>
          <p:nvPr/>
        </p:nvSpPr>
        <p:spPr>
          <a:xfrm>
            <a:off x="5936612" y="4886235"/>
            <a:ext cx="1856792" cy="1200329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Plan verde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DF7EB33-DA74-4A8A-954C-4B77A24EE59B}"/>
              </a:ext>
            </a:extLst>
          </p:cNvPr>
          <p:cNvSpPr/>
          <p:nvPr/>
        </p:nvSpPr>
        <p:spPr>
          <a:xfrm>
            <a:off x="3914542" y="4028384"/>
            <a:ext cx="1856792" cy="12003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Plan roșu</a:t>
            </a:r>
          </a:p>
        </p:txBody>
      </p:sp>
    </p:spTree>
    <p:extLst>
      <p:ext uri="{BB962C8B-B14F-4D97-AF65-F5344CB8AC3E}">
        <p14:creationId xmlns:p14="http://schemas.microsoft.com/office/powerpoint/2010/main" val="1665357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" grpId="0"/>
      <p:bldP spid="5" grpId="0"/>
      <p:bldP spid="7" grpId="0" animBg="1"/>
      <p:bldP spid="11" grpId="0" animBg="1"/>
      <p:bldP spid="10" grpId="0" animBg="1"/>
      <p:bldP spid="12" grpId="0" animBg="1"/>
      <p:bldP spid="13" grpId="0"/>
      <p:bldP spid="14" grpId="0" animBg="1"/>
      <p:bldP spid="16" grpId="0" animBg="1"/>
      <p:bldP spid="33" grpId="0" animBg="1"/>
      <p:bldP spid="34" grpId="0" animBg="1"/>
      <p:bldP spid="3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7BAC68-4C26-4A1B-B60F-7C0E5A0E82AF}"/>
              </a:ext>
            </a:extLst>
          </p:cNvPr>
          <p:cNvSpPr txBox="1"/>
          <p:nvPr/>
        </p:nvSpPr>
        <p:spPr>
          <a:xfrm>
            <a:off x="342324" y="3429000"/>
            <a:ext cx="5258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acestaesteunmesajpecarevreausailascundintr</a:t>
            </a:r>
            <a:r>
              <a:rPr lang="ro-RO" b="1" dirty="0"/>
              <a:t>o</a:t>
            </a:r>
            <a:r>
              <a:rPr lang="en-US" b="1" dirty="0" err="1"/>
              <a:t>poza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BCE508-DB7D-474F-B329-68BBC4902BA0}"/>
                  </a:ext>
                </a:extLst>
              </p:cNvPr>
              <p:cNvSpPr txBox="1"/>
              <p:nvPr/>
            </p:nvSpPr>
            <p:spPr>
              <a:xfrm>
                <a:off x="6592516" y="427352"/>
                <a:ext cx="33089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o-RO" b="1" dirty="0"/>
                  <a:t>valoare literă</a:t>
                </a:r>
                <a14:m>
                  <m:oMath xmlns:m="http://schemas.openxmlformats.org/officeDocument/2006/math">
                    <m:r>
                      <a:rPr lang="ro-RO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ro-RO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ro-RO" b="1" dirty="0"/>
                  <a:t> domeniu restrîns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BCE508-DB7D-474F-B329-68BBC4902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516" y="427352"/>
                <a:ext cx="3308993" cy="369332"/>
              </a:xfrm>
              <a:prstGeom prst="rect">
                <a:avLst/>
              </a:prstGeom>
              <a:blipFill>
                <a:blip r:embed="rId2"/>
                <a:stretch>
                  <a:fillRect l="-1289" t="-8197" r="-147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009A49B-CAB4-4474-928A-09A1952C381F}"/>
              </a:ext>
            </a:extLst>
          </p:cNvPr>
          <p:cNvSpPr txBox="1"/>
          <p:nvPr/>
        </p:nvSpPr>
        <p:spPr>
          <a:xfrm>
            <a:off x="9760221" y="436790"/>
            <a:ext cx="230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b="1" dirty="0">
                <a:sym typeface="Wingdings" panose="05000000000000000000" pitchFamily="2" charset="2"/>
              </a:rPr>
              <a:t></a:t>
            </a:r>
            <a:r>
              <a:rPr lang="ro-RO" b="1" dirty="0"/>
              <a:t>  exclusiv litere mici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4C4A90-5288-47A7-9190-E8A753B2D631}"/>
              </a:ext>
            </a:extLst>
          </p:cNvPr>
          <p:cNvSpPr txBox="1"/>
          <p:nvPr/>
        </p:nvSpPr>
        <p:spPr>
          <a:xfrm>
            <a:off x="6592516" y="967044"/>
            <a:ext cx="2305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b="1" dirty="0">
                <a:sym typeface="Wingdings" panose="05000000000000000000" pitchFamily="2" charset="2"/>
              </a:rPr>
              <a:t>a=97 </a:t>
            </a:r>
            <a:r>
              <a:rPr lang="ro-RO" b="1" dirty="0"/>
              <a:t>  1</a:t>
            </a:r>
          </a:p>
          <a:p>
            <a:pPr algn="ctr"/>
            <a:r>
              <a:rPr lang="ro-RO" b="1" dirty="0">
                <a:sym typeface="Wingdings" panose="05000000000000000000" pitchFamily="2" charset="2"/>
              </a:rPr>
              <a:t>b=98 </a:t>
            </a:r>
            <a:r>
              <a:rPr lang="ro-RO" b="1" dirty="0"/>
              <a:t>  2</a:t>
            </a:r>
          </a:p>
          <a:p>
            <a:pPr algn="ctr"/>
            <a:r>
              <a:rPr lang="ro-RO" b="1" dirty="0"/>
              <a:t>...</a:t>
            </a:r>
          </a:p>
          <a:p>
            <a:pPr algn="ctr"/>
            <a:r>
              <a:rPr lang="ro-RO" b="1" dirty="0">
                <a:sym typeface="Wingdings" panose="05000000000000000000" pitchFamily="2" charset="2"/>
              </a:rPr>
              <a:t>z=122 </a:t>
            </a:r>
            <a:r>
              <a:rPr lang="ro-RO" b="1" dirty="0"/>
              <a:t>  26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603C4A1-3F7A-478A-98BE-894DC1BC9C1E}"/>
              </a:ext>
            </a:extLst>
          </p:cNvPr>
          <p:cNvGrpSpPr/>
          <p:nvPr/>
        </p:nvGrpSpPr>
        <p:grpSpPr>
          <a:xfrm>
            <a:off x="433194" y="2948787"/>
            <a:ext cx="371475" cy="571500"/>
            <a:chOff x="423863" y="1590675"/>
            <a:chExt cx="371475" cy="57150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4F3418-C480-4A82-95BD-6AB05A4E2A3A}"/>
                </a:ext>
              </a:extLst>
            </p:cNvPr>
            <p:cNvSpPr txBox="1"/>
            <p:nvPr/>
          </p:nvSpPr>
          <p:spPr>
            <a:xfrm>
              <a:off x="423863" y="1590675"/>
              <a:ext cx="3714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210B89C-38E5-4D7F-AB9A-06EE1CEFE3D3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>
              <a:off x="609601" y="1898452"/>
              <a:ext cx="0" cy="2637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10D0CAD-5CE1-45CB-8B70-F5B8D630AFD6}"/>
              </a:ext>
            </a:extLst>
          </p:cNvPr>
          <p:cNvGrpSpPr/>
          <p:nvPr/>
        </p:nvGrpSpPr>
        <p:grpSpPr>
          <a:xfrm>
            <a:off x="5148129" y="2948787"/>
            <a:ext cx="388878" cy="571500"/>
            <a:chOff x="5162549" y="1590675"/>
            <a:chExt cx="371475" cy="57150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E62D524-4422-420F-BF77-842034B90E81}"/>
                </a:ext>
              </a:extLst>
            </p:cNvPr>
            <p:cNvSpPr txBox="1"/>
            <p:nvPr/>
          </p:nvSpPr>
          <p:spPr>
            <a:xfrm>
              <a:off x="5162549" y="1590675"/>
              <a:ext cx="3714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nr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03D8950-F932-4F56-AFDA-92B05B39434C}"/>
                </a:ext>
              </a:extLst>
            </p:cNvPr>
            <p:cNvCxnSpPr>
              <a:cxnSpLocks/>
            </p:cNvCxnSpPr>
            <p:nvPr/>
          </p:nvCxnSpPr>
          <p:spPr>
            <a:xfrm>
              <a:off x="5348287" y="1898452"/>
              <a:ext cx="0" cy="2637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8B044D7-B343-43AA-8ED9-BC7B48D204BF}"/>
              </a:ext>
            </a:extLst>
          </p:cNvPr>
          <p:cNvGrpSpPr/>
          <p:nvPr/>
        </p:nvGrpSpPr>
        <p:grpSpPr>
          <a:xfrm>
            <a:off x="1193808" y="3763473"/>
            <a:ext cx="371475" cy="622663"/>
            <a:chOff x="1175146" y="2405361"/>
            <a:chExt cx="371475" cy="62266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FBB2AA9-B44E-4074-9A0F-C1315DF3FB7D}"/>
                </a:ext>
              </a:extLst>
            </p:cNvPr>
            <p:cNvSpPr txBox="1"/>
            <p:nvPr/>
          </p:nvSpPr>
          <p:spPr>
            <a:xfrm>
              <a:off x="1175146" y="2720247"/>
              <a:ext cx="3714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p1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159A7A3-E13C-41E0-8CBA-B9597CB51A7A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1360884" y="2405361"/>
              <a:ext cx="0" cy="3148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D0DE47E-8A81-48BE-AACA-9D5C910D18A2}"/>
              </a:ext>
            </a:extLst>
          </p:cNvPr>
          <p:cNvGrpSpPr/>
          <p:nvPr/>
        </p:nvGrpSpPr>
        <p:grpSpPr>
          <a:xfrm>
            <a:off x="4006875" y="3767027"/>
            <a:ext cx="371475" cy="622663"/>
            <a:chOff x="1175146" y="2405361"/>
            <a:chExt cx="371475" cy="62266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69C8B48-85E7-4940-9D36-211420BA7EA5}"/>
                </a:ext>
              </a:extLst>
            </p:cNvPr>
            <p:cNvSpPr txBox="1"/>
            <p:nvPr/>
          </p:nvSpPr>
          <p:spPr>
            <a:xfrm>
              <a:off x="1175146" y="2720247"/>
              <a:ext cx="3714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p2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E61C1DF-F5F8-4806-A4EC-518046AEFE61}"/>
                </a:ext>
              </a:extLst>
            </p:cNvPr>
            <p:cNvCxnSpPr>
              <a:cxnSpLocks/>
              <a:stCxn id="25" idx="0"/>
            </p:cNvCxnSpPr>
            <p:nvPr/>
          </p:nvCxnSpPr>
          <p:spPr>
            <a:xfrm flipV="1">
              <a:off x="1360884" y="2405361"/>
              <a:ext cx="0" cy="3148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61756AB-5A96-497D-BEE5-01189913629A}"/>
              </a:ext>
            </a:extLst>
          </p:cNvPr>
          <p:cNvGrpSpPr/>
          <p:nvPr/>
        </p:nvGrpSpPr>
        <p:grpSpPr>
          <a:xfrm>
            <a:off x="5144163" y="3767027"/>
            <a:ext cx="396809" cy="622663"/>
            <a:chOff x="1175146" y="2405361"/>
            <a:chExt cx="371475" cy="622663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2C1BBEC-4486-4FE4-A436-89C48C2C0819}"/>
                </a:ext>
              </a:extLst>
            </p:cNvPr>
            <p:cNvSpPr txBox="1"/>
            <p:nvPr/>
          </p:nvSpPr>
          <p:spPr>
            <a:xfrm>
              <a:off x="1175146" y="2720247"/>
              <a:ext cx="3714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nr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2DFED7F-E16E-46E9-A4A9-590A0266B830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V="1">
              <a:off x="1360884" y="2405361"/>
              <a:ext cx="0" cy="3148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3F8EC4F-C6E3-4060-9AD5-8D622A9CA813}"/>
              </a:ext>
            </a:extLst>
          </p:cNvPr>
          <p:cNvGrpSpPr/>
          <p:nvPr/>
        </p:nvGrpSpPr>
        <p:grpSpPr>
          <a:xfrm>
            <a:off x="288913" y="3763473"/>
            <a:ext cx="371475" cy="622663"/>
            <a:chOff x="1175146" y="2405361"/>
            <a:chExt cx="371475" cy="622663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EA38E3C-2FD2-4DB4-8DF8-25E9286D444B}"/>
                </a:ext>
              </a:extLst>
            </p:cNvPr>
            <p:cNvSpPr txBox="1"/>
            <p:nvPr/>
          </p:nvSpPr>
          <p:spPr>
            <a:xfrm>
              <a:off x="1175146" y="2720247"/>
              <a:ext cx="3714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0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D349D33-2B1E-4D88-B98F-3622D40C843F}"/>
                </a:ext>
              </a:extLst>
            </p:cNvPr>
            <p:cNvCxnSpPr>
              <a:cxnSpLocks/>
              <a:stCxn id="31" idx="0"/>
            </p:cNvCxnSpPr>
            <p:nvPr/>
          </p:nvCxnSpPr>
          <p:spPr>
            <a:xfrm flipV="1">
              <a:off x="1360884" y="2405361"/>
              <a:ext cx="0" cy="3148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C790782-B211-4BBF-9B72-CFCA198277E4}"/>
              </a:ext>
            </a:extLst>
          </p:cNvPr>
          <p:cNvGrpSpPr/>
          <p:nvPr/>
        </p:nvGrpSpPr>
        <p:grpSpPr>
          <a:xfrm>
            <a:off x="339454" y="5070499"/>
            <a:ext cx="2503447" cy="1348264"/>
            <a:chOff x="795337" y="3536302"/>
            <a:chExt cx="3446314" cy="134826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C4D4B9C-80D0-4DB0-8F64-1733146FB117}"/>
                </a:ext>
              </a:extLst>
            </p:cNvPr>
            <p:cNvSpPr txBox="1"/>
            <p:nvPr/>
          </p:nvSpPr>
          <p:spPr>
            <a:xfrm>
              <a:off x="795338" y="3536302"/>
              <a:ext cx="3446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  0</a:t>
              </a:r>
              <a:r>
                <a:rPr lang="en-US" dirty="0"/>
                <a:t>+1,    0+2,   0+3, …, </a:t>
              </a:r>
              <a:r>
                <a:rPr lang="en-US" dirty="0">
                  <a:solidFill>
                    <a:srgbClr val="FF0000"/>
                  </a:solidFill>
                </a:rPr>
                <a:t>p1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206BA95-3E79-4435-8219-EBD306AF3440}"/>
                </a:ext>
              </a:extLst>
            </p:cNvPr>
            <p:cNvSpPr txBox="1"/>
            <p:nvPr/>
          </p:nvSpPr>
          <p:spPr>
            <a:xfrm>
              <a:off x="795338" y="4025768"/>
              <a:ext cx="3387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FF00"/>
                  </a:solidFill>
                </a:rPr>
                <a:t>p1</a:t>
              </a:r>
              <a:r>
                <a:rPr lang="en-US" dirty="0"/>
                <a:t>+1, p1+2, p1+3, …, </a:t>
              </a:r>
              <a:r>
                <a:rPr lang="en-US" dirty="0">
                  <a:solidFill>
                    <a:srgbClr val="00FF00"/>
                  </a:solidFill>
                </a:rPr>
                <a:t>p2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09D13A1-394E-4464-A411-8C1AD95DF13E}"/>
                </a:ext>
              </a:extLst>
            </p:cNvPr>
            <p:cNvSpPr txBox="1"/>
            <p:nvPr/>
          </p:nvSpPr>
          <p:spPr>
            <a:xfrm>
              <a:off x="795337" y="4515234"/>
              <a:ext cx="3387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</a:rPr>
                <a:t>p2</a:t>
              </a:r>
              <a:r>
                <a:rPr lang="en-US" dirty="0"/>
                <a:t>+1, p2+2, p2+3, …, </a:t>
              </a:r>
              <a:r>
                <a:rPr lang="en-US" dirty="0">
                  <a:solidFill>
                    <a:srgbClr val="0000FF"/>
                  </a:solidFill>
                </a:rPr>
                <a:t>nr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9C19C1E-8B8E-47EB-9D1E-AFB3C9EDFF37}"/>
                  </a:ext>
                </a:extLst>
              </p:cNvPr>
              <p:cNvSpPr txBox="1"/>
              <p:nvPr/>
            </p:nvSpPr>
            <p:spPr>
              <a:xfrm>
                <a:off x="2893520" y="4765699"/>
                <a:ext cx="12421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i</a:t>
                </a:r>
                <a:r>
                  <a:rPr lang="ro-RO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{</a:t>
                </a:r>
                <a:r>
                  <a:rPr lang="en-US" dirty="0">
                    <a:solidFill>
                      <a:srgbClr val="FF0000"/>
                    </a:solidFill>
                  </a:rPr>
                  <a:t>1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00FF00"/>
                    </a:solidFill>
                  </a:rPr>
                  <a:t>2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0000FF"/>
                    </a:solidFill>
                  </a:rPr>
                  <a:t>3</a:t>
                </a:r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9C19C1E-8B8E-47EB-9D1E-AFB3C9EDF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3520" y="4765699"/>
                <a:ext cx="1242187" cy="369332"/>
              </a:xfrm>
              <a:prstGeom prst="rect">
                <a:avLst/>
              </a:prstGeom>
              <a:blipFill>
                <a:blip r:embed="rId3"/>
                <a:stretch>
                  <a:fillRect l="-493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EE0AF5C-4618-47C9-9E79-2A8FD4EA1D0F}"/>
                  </a:ext>
                </a:extLst>
              </p:cNvPr>
              <p:cNvSpPr txBox="1"/>
              <p:nvPr/>
            </p:nvSpPr>
            <p:spPr>
              <a:xfrm>
                <a:off x="6302093" y="4087556"/>
                <a:ext cx="25954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vector </a:t>
                </a:r>
                <a14:m>
                  <m:oMath xmlns:m="http://schemas.openxmlformats.org/officeDocument/2006/math">
                    <m:r>
                      <a:rPr lang="ro-RO" sz="1400" i="1" dirty="0" smtClean="0">
                        <a:latin typeface="Cambria Math" panose="02040503050406030204" pitchFamily="18" charset="0"/>
                      </a:rPr>
                      <m:t>𝑝𝑢𝑛𝑐𝑡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2, 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𝑛𝑟</m:t>
                        </m:r>
                      </m:e>
                    </m:d>
                  </m:oMath>
                </a14:m>
                <a:endParaRPr lang="ro-RO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EE0AF5C-4618-47C9-9E79-2A8FD4EA1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093" y="4087556"/>
                <a:ext cx="2595473" cy="307777"/>
              </a:xfrm>
              <a:prstGeom prst="rect">
                <a:avLst/>
              </a:prstGeom>
              <a:blipFill>
                <a:blip r:embed="rId4"/>
                <a:stretch>
                  <a:fillRect l="-704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Arrow: Right 41">
            <a:extLst>
              <a:ext uri="{FF2B5EF4-FFF2-40B4-BE49-F238E27FC236}">
                <a16:creationId xmlns:a16="http://schemas.microsoft.com/office/drawing/2014/main" id="{B7465B56-4327-48C0-AE75-C11D268E825F}"/>
              </a:ext>
            </a:extLst>
          </p:cNvPr>
          <p:cNvSpPr/>
          <p:nvPr/>
        </p:nvSpPr>
        <p:spPr>
          <a:xfrm>
            <a:off x="5537007" y="4149736"/>
            <a:ext cx="765086" cy="1991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DCC9DF1-4918-43DF-9A39-C7DA071ECE70}"/>
              </a:ext>
            </a:extLst>
          </p:cNvPr>
          <p:cNvGrpSpPr/>
          <p:nvPr/>
        </p:nvGrpSpPr>
        <p:grpSpPr>
          <a:xfrm>
            <a:off x="4155103" y="5062025"/>
            <a:ext cx="5099733" cy="1348264"/>
            <a:chOff x="795337" y="3536302"/>
            <a:chExt cx="3741542" cy="1348264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C57FF0A-03C0-48B3-94D9-C0CD2D18A96E}"/>
                </a:ext>
              </a:extLst>
            </p:cNvPr>
            <p:cNvSpPr txBox="1"/>
            <p:nvPr/>
          </p:nvSpPr>
          <p:spPr>
            <a:xfrm>
              <a:off x="795338" y="3536302"/>
              <a:ext cx="37415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FF0000"/>
                  </a:solidFill>
                </a:rPr>
                <a:t>puncte</a:t>
              </a:r>
              <a:r>
                <a:rPr lang="en-US" dirty="0">
                  <a:solidFill>
                    <a:srgbClr val="FF0000"/>
                  </a:solidFill>
                </a:rPr>
                <a:t>(</a:t>
              </a:r>
              <a:r>
                <a:rPr lang="en-US" dirty="0" err="1"/>
                <a:t>i</a:t>
              </a:r>
              <a:r>
                <a:rPr lang="en-US" dirty="0">
                  <a:solidFill>
                    <a:srgbClr val="FF0000"/>
                  </a:solidFill>
                </a:rPr>
                <a:t>)+1, </a:t>
              </a:r>
              <a:r>
                <a:rPr lang="en-US" dirty="0" err="1">
                  <a:solidFill>
                    <a:srgbClr val="FF0000"/>
                  </a:solidFill>
                </a:rPr>
                <a:t>puncte</a:t>
              </a:r>
              <a:r>
                <a:rPr lang="en-US" dirty="0">
                  <a:solidFill>
                    <a:srgbClr val="FF0000"/>
                  </a:solidFill>
                </a:rPr>
                <a:t>(</a:t>
              </a:r>
              <a:r>
                <a:rPr lang="en-US" dirty="0" err="1"/>
                <a:t>i</a:t>
              </a:r>
              <a:r>
                <a:rPr lang="en-US" dirty="0">
                  <a:solidFill>
                    <a:srgbClr val="FF0000"/>
                  </a:solidFill>
                </a:rPr>
                <a:t>)+2, </a:t>
              </a:r>
              <a:r>
                <a:rPr lang="en-US" dirty="0" err="1">
                  <a:solidFill>
                    <a:srgbClr val="FF0000"/>
                  </a:solidFill>
                </a:rPr>
                <a:t>puncte</a:t>
              </a:r>
              <a:r>
                <a:rPr lang="en-US" dirty="0">
                  <a:solidFill>
                    <a:srgbClr val="FF0000"/>
                  </a:solidFill>
                </a:rPr>
                <a:t>(</a:t>
              </a:r>
              <a:r>
                <a:rPr lang="en-US" dirty="0" err="1"/>
                <a:t>i</a:t>
              </a:r>
              <a:r>
                <a:rPr lang="en-US" dirty="0">
                  <a:solidFill>
                    <a:srgbClr val="FF0000"/>
                  </a:solidFill>
                </a:rPr>
                <a:t>)+3, …, </a:t>
              </a:r>
              <a:r>
                <a:rPr lang="en-US" dirty="0" err="1">
                  <a:solidFill>
                    <a:srgbClr val="FF0000"/>
                  </a:solidFill>
                </a:rPr>
                <a:t>puncte</a:t>
              </a:r>
              <a:r>
                <a:rPr lang="en-US" dirty="0">
                  <a:solidFill>
                    <a:srgbClr val="FF0000"/>
                  </a:solidFill>
                </a:rPr>
                <a:t>(</a:t>
              </a:r>
              <a:r>
                <a:rPr lang="en-US" dirty="0"/>
                <a:t>i+1</a:t>
              </a:r>
              <a:r>
                <a:rPr lang="en-US" dirty="0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F3191BF-CC56-49BD-8CC0-D8404F513C5A}"/>
                </a:ext>
              </a:extLst>
            </p:cNvPr>
            <p:cNvSpPr txBox="1"/>
            <p:nvPr/>
          </p:nvSpPr>
          <p:spPr>
            <a:xfrm>
              <a:off x="795338" y="4025768"/>
              <a:ext cx="37415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0FF00"/>
                  </a:solidFill>
                </a:rPr>
                <a:t>puncte</a:t>
              </a:r>
              <a:r>
                <a:rPr lang="en-US" dirty="0">
                  <a:solidFill>
                    <a:srgbClr val="00FF00"/>
                  </a:solidFill>
                </a:rPr>
                <a:t>(</a:t>
              </a:r>
              <a:r>
                <a:rPr lang="en-US" dirty="0" err="1"/>
                <a:t>i</a:t>
              </a:r>
              <a:r>
                <a:rPr lang="en-US" dirty="0">
                  <a:solidFill>
                    <a:srgbClr val="00FF00"/>
                  </a:solidFill>
                </a:rPr>
                <a:t>)+1, </a:t>
              </a:r>
              <a:r>
                <a:rPr lang="en-US" dirty="0" err="1">
                  <a:solidFill>
                    <a:srgbClr val="00FF00"/>
                  </a:solidFill>
                </a:rPr>
                <a:t>puncte</a:t>
              </a:r>
              <a:r>
                <a:rPr lang="en-US" dirty="0">
                  <a:solidFill>
                    <a:srgbClr val="00FF00"/>
                  </a:solidFill>
                </a:rPr>
                <a:t>(</a:t>
              </a:r>
              <a:r>
                <a:rPr lang="en-US" dirty="0" err="1"/>
                <a:t>i</a:t>
              </a:r>
              <a:r>
                <a:rPr lang="en-US" dirty="0">
                  <a:solidFill>
                    <a:srgbClr val="00FF00"/>
                  </a:solidFill>
                </a:rPr>
                <a:t>)+2, </a:t>
              </a:r>
              <a:r>
                <a:rPr lang="en-US" dirty="0" err="1">
                  <a:solidFill>
                    <a:srgbClr val="00FF00"/>
                  </a:solidFill>
                </a:rPr>
                <a:t>puncte</a:t>
              </a:r>
              <a:r>
                <a:rPr lang="en-US" dirty="0">
                  <a:solidFill>
                    <a:srgbClr val="00FF00"/>
                  </a:solidFill>
                </a:rPr>
                <a:t>(</a:t>
              </a:r>
              <a:r>
                <a:rPr lang="en-US" dirty="0" err="1"/>
                <a:t>i</a:t>
              </a:r>
              <a:r>
                <a:rPr lang="en-US" dirty="0">
                  <a:solidFill>
                    <a:srgbClr val="00FF00"/>
                  </a:solidFill>
                </a:rPr>
                <a:t>)+3, …, </a:t>
              </a:r>
              <a:r>
                <a:rPr lang="en-US" dirty="0" err="1">
                  <a:solidFill>
                    <a:srgbClr val="00FF00"/>
                  </a:solidFill>
                </a:rPr>
                <a:t>puncte</a:t>
              </a:r>
              <a:r>
                <a:rPr lang="en-US" dirty="0">
                  <a:solidFill>
                    <a:srgbClr val="00FF00"/>
                  </a:solidFill>
                </a:rPr>
                <a:t>(</a:t>
              </a:r>
              <a:r>
                <a:rPr lang="en-US" dirty="0"/>
                <a:t>i+1</a:t>
              </a:r>
              <a:r>
                <a:rPr lang="en-US" dirty="0">
                  <a:solidFill>
                    <a:srgbClr val="00FF00"/>
                  </a:solidFill>
                </a:rPr>
                <a:t>)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1670477-B088-4983-B95B-694435BE243C}"/>
                </a:ext>
              </a:extLst>
            </p:cNvPr>
            <p:cNvSpPr txBox="1"/>
            <p:nvPr/>
          </p:nvSpPr>
          <p:spPr>
            <a:xfrm>
              <a:off x="795337" y="4515234"/>
              <a:ext cx="37415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000FF"/>
                  </a:solidFill>
                </a:rPr>
                <a:t>puncte</a:t>
              </a:r>
              <a:r>
                <a:rPr lang="en-US" dirty="0">
                  <a:solidFill>
                    <a:srgbClr val="0000FF"/>
                  </a:solidFill>
                </a:rPr>
                <a:t>(</a:t>
              </a:r>
              <a:r>
                <a:rPr lang="en-US" dirty="0" err="1"/>
                <a:t>i</a:t>
              </a:r>
              <a:r>
                <a:rPr lang="en-US" dirty="0">
                  <a:solidFill>
                    <a:srgbClr val="0000FF"/>
                  </a:solidFill>
                </a:rPr>
                <a:t>)+1, </a:t>
              </a:r>
              <a:r>
                <a:rPr lang="en-US" dirty="0" err="1">
                  <a:solidFill>
                    <a:srgbClr val="0000FF"/>
                  </a:solidFill>
                </a:rPr>
                <a:t>puncte</a:t>
              </a:r>
              <a:r>
                <a:rPr lang="en-US" dirty="0">
                  <a:solidFill>
                    <a:srgbClr val="0000FF"/>
                  </a:solidFill>
                </a:rPr>
                <a:t>(</a:t>
              </a:r>
              <a:r>
                <a:rPr lang="en-US" dirty="0" err="1"/>
                <a:t>i</a:t>
              </a:r>
              <a:r>
                <a:rPr lang="en-US" dirty="0">
                  <a:solidFill>
                    <a:srgbClr val="0000FF"/>
                  </a:solidFill>
                </a:rPr>
                <a:t>)+2, </a:t>
              </a:r>
              <a:r>
                <a:rPr lang="en-US" dirty="0" err="1">
                  <a:solidFill>
                    <a:srgbClr val="0000FF"/>
                  </a:solidFill>
                </a:rPr>
                <a:t>puncte</a:t>
              </a:r>
              <a:r>
                <a:rPr lang="en-US" dirty="0">
                  <a:solidFill>
                    <a:srgbClr val="0000FF"/>
                  </a:solidFill>
                </a:rPr>
                <a:t>(</a:t>
              </a:r>
              <a:r>
                <a:rPr lang="en-US" dirty="0" err="1"/>
                <a:t>i</a:t>
              </a:r>
              <a:r>
                <a:rPr lang="en-US" dirty="0">
                  <a:solidFill>
                    <a:srgbClr val="0000FF"/>
                  </a:solidFill>
                </a:rPr>
                <a:t>)+3, …, </a:t>
              </a:r>
              <a:r>
                <a:rPr lang="en-US" dirty="0" err="1">
                  <a:solidFill>
                    <a:srgbClr val="0000FF"/>
                  </a:solidFill>
                </a:rPr>
                <a:t>puncte</a:t>
              </a:r>
              <a:r>
                <a:rPr lang="en-US" dirty="0">
                  <a:solidFill>
                    <a:srgbClr val="0000FF"/>
                  </a:solidFill>
                </a:rPr>
                <a:t>(</a:t>
              </a:r>
              <a:r>
                <a:rPr lang="en-US" dirty="0"/>
                <a:t>i+1</a:t>
              </a:r>
              <a:r>
                <a:rPr lang="en-US" dirty="0">
                  <a:solidFill>
                    <a:srgbClr val="0000FF"/>
                  </a:solidFill>
                </a:rPr>
                <a:t>)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0069B33-22F4-4E38-9EED-5DEF4D67BD69}"/>
              </a:ext>
            </a:extLst>
          </p:cNvPr>
          <p:cNvGrpSpPr/>
          <p:nvPr/>
        </p:nvGrpSpPr>
        <p:grpSpPr>
          <a:xfrm>
            <a:off x="3199711" y="5070499"/>
            <a:ext cx="579187" cy="1348264"/>
            <a:chOff x="795337" y="3536302"/>
            <a:chExt cx="3387945" cy="1348264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9601612-3649-4811-9733-058021A444A8}"/>
                </a:ext>
              </a:extLst>
            </p:cNvPr>
            <p:cNvSpPr txBox="1"/>
            <p:nvPr/>
          </p:nvSpPr>
          <p:spPr>
            <a:xfrm>
              <a:off x="795338" y="3536302"/>
              <a:ext cx="3387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i</a:t>
              </a:r>
              <a:r>
                <a:rPr lang="en-US" dirty="0"/>
                <a:t>=</a:t>
              </a:r>
              <a:r>
                <a:rPr lang="en-US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D376950-49CC-4821-989F-6F8A7D948F70}"/>
                </a:ext>
              </a:extLst>
            </p:cNvPr>
            <p:cNvSpPr txBox="1"/>
            <p:nvPr/>
          </p:nvSpPr>
          <p:spPr>
            <a:xfrm>
              <a:off x="795338" y="4025768"/>
              <a:ext cx="3387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i</a:t>
              </a:r>
              <a:r>
                <a:rPr lang="en-US" dirty="0"/>
                <a:t>=</a:t>
              </a:r>
              <a:r>
                <a:rPr lang="en-US" dirty="0">
                  <a:solidFill>
                    <a:srgbClr val="00FF00"/>
                  </a:solidFill>
                </a:rPr>
                <a:t>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7231E6F-5844-4DEE-9C9E-BFEF2A22490F}"/>
                </a:ext>
              </a:extLst>
            </p:cNvPr>
            <p:cNvSpPr txBox="1"/>
            <p:nvPr/>
          </p:nvSpPr>
          <p:spPr>
            <a:xfrm>
              <a:off x="795337" y="4515234"/>
              <a:ext cx="3387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i</a:t>
              </a:r>
              <a:r>
                <a:rPr lang="en-US" dirty="0"/>
                <a:t>=</a:t>
              </a:r>
              <a:r>
                <a:rPr lang="en-US" dirty="0">
                  <a:solidFill>
                    <a:srgbClr val="0000FF"/>
                  </a:solidFill>
                </a:rPr>
                <a:t>3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9B42597F-B0A3-4C9B-A860-161080AF914C}"/>
              </a:ext>
            </a:extLst>
          </p:cNvPr>
          <p:cNvSpPr txBox="1"/>
          <p:nvPr/>
        </p:nvSpPr>
        <p:spPr>
          <a:xfrm>
            <a:off x="3058796" y="1028778"/>
            <a:ext cx="917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/>
              <a:t>valoare literă</a:t>
            </a:r>
            <a:endParaRPr lang="en-US" sz="12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57DD940-5B0C-41E4-9FE3-766088573B70}"/>
              </a:ext>
            </a:extLst>
          </p:cNvPr>
          <p:cNvSpPr/>
          <p:nvPr/>
        </p:nvSpPr>
        <p:spPr>
          <a:xfrm>
            <a:off x="330591" y="447711"/>
            <a:ext cx="5840963" cy="36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560BC70-7376-46D5-9583-9FD5BB805000}"/>
              </a:ext>
            </a:extLst>
          </p:cNvPr>
          <p:cNvSpPr txBox="1"/>
          <p:nvPr/>
        </p:nvSpPr>
        <p:spPr>
          <a:xfrm>
            <a:off x="5881131" y="-18012"/>
            <a:ext cx="580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b="1" dirty="0"/>
              <a:t>255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7A623B-1614-4380-8E11-EB9F6928DB2C}"/>
              </a:ext>
            </a:extLst>
          </p:cNvPr>
          <p:cNvSpPr txBox="1"/>
          <p:nvPr/>
        </p:nvSpPr>
        <p:spPr>
          <a:xfrm>
            <a:off x="40168" y="40067"/>
            <a:ext cx="580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b="1" dirty="0"/>
              <a:t>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2DBE1B2-F9E0-470D-8B5F-02A1A5A39C90}"/>
              </a:ext>
            </a:extLst>
          </p:cNvPr>
          <p:cNvSpPr/>
          <p:nvPr/>
        </p:nvSpPr>
        <p:spPr>
          <a:xfrm>
            <a:off x="330591" y="447711"/>
            <a:ext cx="2752999" cy="360000"/>
          </a:xfrm>
          <a:prstGeom prst="rect">
            <a:avLst/>
          </a:prstGeom>
          <a:solidFill>
            <a:srgbClr val="4C4C4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7AC9F93-EDD7-4AE7-81BE-63E043D308BD}"/>
              </a:ext>
            </a:extLst>
          </p:cNvPr>
          <p:cNvSpPr/>
          <p:nvPr/>
        </p:nvSpPr>
        <p:spPr>
          <a:xfrm>
            <a:off x="3083578" y="446122"/>
            <a:ext cx="917599" cy="360000"/>
          </a:xfrm>
          <a:prstGeom prst="rect">
            <a:avLst/>
          </a:prstGeom>
          <a:solidFill>
            <a:srgbClr val="6666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71054DC-12D3-4CF2-9667-4451CCFAA494}"/>
              </a:ext>
            </a:extLst>
          </p:cNvPr>
          <p:cNvCxnSpPr>
            <a:cxnSpLocks/>
          </p:cNvCxnSpPr>
          <p:nvPr/>
        </p:nvCxnSpPr>
        <p:spPr>
          <a:xfrm flipH="1">
            <a:off x="330591" y="899429"/>
            <a:ext cx="8863" cy="154164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0376968-1E5B-4B34-9888-3C51CAF1F343}"/>
              </a:ext>
            </a:extLst>
          </p:cNvPr>
          <p:cNvCxnSpPr/>
          <p:nvPr/>
        </p:nvCxnSpPr>
        <p:spPr>
          <a:xfrm>
            <a:off x="3083578" y="889550"/>
            <a:ext cx="0" cy="781564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66A46F9-F77C-4861-A479-1B9EA3F8CD2C}"/>
              </a:ext>
            </a:extLst>
          </p:cNvPr>
          <p:cNvCxnSpPr>
            <a:cxnSpLocks/>
          </p:cNvCxnSpPr>
          <p:nvPr/>
        </p:nvCxnSpPr>
        <p:spPr>
          <a:xfrm>
            <a:off x="4001177" y="889550"/>
            <a:ext cx="8836" cy="1045482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0FB68B3-CFA0-4003-B070-43EEEE444255}"/>
              </a:ext>
            </a:extLst>
          </p:cNvPr>
          <p:cNvCxnSpPr>
            <a:cxnSpLocks/>
          </p:cNvCxnSpPr>
          <p:nvPr/>
        </p:nvCxnSpPr>
        <p:spPr>
          <a:xfrm>
            <a:off x="330591" y="1280332"/>
            <a:ext cx="274412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CEA6F688-07D4-4F0F-A764-E29F54098488}"/>
              </a:ext>
            </a:extLst>
          </p:cNvPr>
          <p:cNvSpPr txBox="1"/>
          <p:nvPr/>
        </p:nvSpPr>
        <p:spPr>
          <a:xfrm>
            <a:off x="1030047" y="1028778"/>
            <a:ext cx="1274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/>
              <a:t>valoare inițială pixel</a:t>
            </a:r>
            <a:endParaRPr lang="en-US" sz="1200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3219EAB-DED0-4B4D-93A5-376BE21F39F6}"/>
              </a:ext>
            </a:extLst>
          </p:cNvPr>
          <p:cNvCxnSpPr>
            <a:cxnSpLocks/>
          </p:cNvCxnSpPr>
          <p:nvPr/>
        </p:nvCxnSpPr>
        <p:spPr>
          <a:xfrm>
            <a:off x="3092414" y="1274888"/>
            <a:ext cx="917599" cy="108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A1A8DC9-BC94-45EC-92C1-A3A44910FA55}"/>
              </a:ext>
            </a:extLst>
          </p:cNvPr>
          <p:cNvCxnSpPr>
            <a:cxnSpLocks/>
          </p:cNvCxnSpPr>
          <p:nvPr/>
        </p:nvCxnSpPr>
        <p:spPr>
          <a:xfrm>
            <a:off x="6171554" y="889550"/>
            <a:ext cx="0" cy="155152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54846FB-F4A3-429A-9B92-B4BED0D75397}"/>
              </a:ext>
            </a:extLst>
          </p:cNvPr>
          <p:cNvCxnSpPr>
            <a:cxnSpLocks/>
          </p:cNvCxnSpPr>
          <p:nvPr/>
        </p:nvCxnSpPr>
        <p:spPr>
          <a:xfrm>
            <a:off x="339454" y="2313917"/>
            <a:ext cx="58321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5E8FF24-2F20-4F3D-BEE3-0FA7ED9A4524}"/>
              </a:ext>
            </a:extLst>
          </p:cNvPr>
          <p:cNvCxnSpPr>
            <a:cxnSpLocks/>
          </p:cNvCxnSpPr>
          <p:nvPr/>
        </p:nvCxnSpPr>
        <p:spPr>
          <a:xfrm>
            <a:off x="330591" y="1863041"/>
            <a:ext cx="367055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E93B83A-0CDF-4E8B-A185-ECFC16205A79}"/>
              </a:ext>
            </a:extLst>
          </p:cNvPr>
          <p:cNvSpPr txBox="1"/>
          <p:nvPr/>
        </p:nvSpPr>
        <p:spPr>
          <a:xfrm>
            <a:off x="1330749" y="1658033"/>
            <a:ext cx="16626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/>
              <a:t>valoare nouă pixel</a:t>
            </a:r>
            <a:endParaRPr lang="en-US" sz="12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9B564FB-27BC-452D-A5E0-EBE54FDA3915}"/>
              </a:ext>
            </a:extLst>
          </p:cNvPr>
          <p:cNvSpPr txBox="1"/>
          <p:nvPr/>
        </p:nvSpPr>
        <p:spPr>
          <a:xfrm>
            <a:off x="1868311" y="2069650"/>
            <a:ext cx="27743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200" dirty="0"/>
              <a:t>domeniu de valori pixel</a:t>
            </a:r>
            <a:endParaRPr lang="en-US" sz="12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CDF85DD-4B58-4E30-AD61-C828AF74A7F3}"/>
              </a:ext>
            </a:extLst>
          </p:cNvPr>
          <p:cNvSpPr txBox="1"/>
          <p:nvPr/>
        </p:nvSpPr>
        <p:spPr>
          <a:xfrm>
            <a:off x="2277538" y="1041750"/>
            <a:ext cx="3472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C000"/>
                </a:solidFill>
              </a:rPr>
              <a:t>?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22DEAE8-1276-415D-981A-9FAAF5DFE0FE}"/>
              </a:ext>
            </a:extLst>
          </p:cNvPr>
          <p:cNvSpPr txBox="1"/>
          <p:nvPr/>
        </p:nvSpPr>
        <p:spPr>
          <a:xfrm>
            <a:off x="3680204" y="1033122"/>
            <a:ext cx="3472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C000"/>
                </a:solidFill>
              </a:rPr>
              <a:t>?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5B21BB0-5049-43F2-91D3-D36556380EDA}"/>
              </a:ext>
            </a:extLst>
          </p:cNvPr>
          <p:cNvSpPr txBox="1"/>
          <p:nvPr/>
        </p:nvSpPr>
        <p:spPr>
          <a:xfrm>
            <a:off x="2177410" y="2952728"/>
            <a:ext cx="1632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1 plan (</a:t>
            </a:r>
            <a:r>
              <a:rPr lang="ro-RO" sz="1400" dirty="0">
                <a:solidFill>
                  <a:srgbClr val="0070C0"/>
                </a:solidFill>
              </a:rPr>
              <a:t>monocrom</a:t>
            </a:r>
            <a:r>
              <a:rPr lang="en-US" sz="1400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6279BCF-140E-482C-90C2-1E88EEEF9332}"/>
              </a:ext>
            </a:extLst>
          </p:cNvPr>
          <p:cNvSpPr txBox="1"/>
          <p:nvPr/>
        </p:nvSpPr>
        <p:spPr>
          <a:xfrm>
            <a:off x="2135222" y="4087556"/>
            <a:ext cx="1632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3 plane (RGB)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42B5A9E-E40A-45D1-9BBF-4059825ACA4B}"/>
              </a:ext>
            </a:extLst>
          </p:cNvPr>
          <p:cNvSpPr txBox="1"/>
          <p:nvPr/>
        </p:nvSpPr>
        <p:spPr>
          <a:xfrm>
            <a:off x="2581175" y="3763473"/>
            <a:ext cx="7401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aleator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F093430-6831-438A-A216-6B2CA0E5E8DE}"/>
              </a:ext>
            </a:extLst>
          </p:cNvPr>
          <p:cNvCxnSpPr>
            <a:cxnSpLocks/>
            <a:stCxn id="72" idx="3"/>
            <a:endCxn id="25" idx="1"/>
          </p:cNvCxnSpPr>
          <p:nvPr/>
        </p:nvCxnSpPr>
        <p:spPr>
          <a:xfrm>
            <a:off x="3321298" y="3917362"/>
            <a:ext cx="685577" cy="318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C73ABE7-86BF-45EA-9DB7-0440446685F1}"/>
              </a:ext>
            </a:extLst>
          </p:cNvPr>
          <p:cNvCxnSpPr>
            <a:cxnSpLocks/>
            <a:stCxn id="72" idx="1"/>
            <a:endCxn id="8" idx="3"/>
          </p:cNvCxnSpPr>
          <p:nvPr/>
        </p:nvCxnSpPr>
        <p:spPr>
          <a:xfrm flipH="1">
            <a:off x="1565283" y="3917362"/>
            <a:ext cx="1015892" cy="314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2B2D1CA8-DA71-4CAB-A718-64D9FE139276}"/>
              </a:ext>
            </a:extLst>
          </p:cNvPr>
          <p:cNvSpPr txBox="1"/>
          <p:nvPr/>
        </p:nvSpPr>
        <p:spPr>
          <a:xfrm>
            <a:off x="9608632" y="5394626"/>
            <a:ext cx="2243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Pixelii se aleg aleator, lexicografic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21B4AF-AF9C-62B2-C19A-2E6BE357921E}"/>
              </a:ext>
            </a:extLst>
          </p:cNvPr>
          <p:cNvSpPr txBox="1"/>
          <p:nvPr/>
        </p:nvSpPr>
        <p:spPr>
          <a:xfrm>
            <a:off x="342324" y="3428802"/>
            <a:ext cx="5258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solidFill>
                  <a:srgbClr val="FF0000"/>
                </a:solidFill>
              </a:rPr>
              <a:t>acestaest</a:t>
            </a:r>
            <a:r>
              <a:rPr lang="en-US" b="1" dirty="0" err="1">
                <a:solidFill>
                  <a:srgbClr val="00FF00"/>
                </a:solidFill>
              </a:rPr>
              <a:t>eunmesajpecarevreausailascu</a:t>
            </a:r>
            <a:r>
              <a:rPr lang="en-US" b="1" dirty="0" err="1">
                <a:solidFill>
                  <a:srgbClr val="0000FF"/>
                </a:solidFill>
              </a:rPr>
              <a:t>ndintr</a:t>
            </a:r>
            <a:r>
              <a:rPr lang="ro-RO" b="1" dirty="0">
                <a:solidFill>
                  <a:srgbClr val="0000FF"/>
                </a:solidFill>
              </a:rPr>
              <a:t>o</a:t>
            </a:r>
            <a:r>
              <a:rPr lang="en-US" b="1" dirty="0" err="1">
                <a:solidFill>
                  <a:srgbClr val="0000FF"/>
                </a:solidFill>
              </a:rPr>
              <a:t>poza</a:t>
            </a:r>
            <a:endParaRPr 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202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500"/>
                            </p:stCondLst>
                            <p:childTnLst>
                              <p:par>
                                <p:cTn id="1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000"/>
                            </p:stCondLst>
                            <p:childTnLst>
                              <p:par>
                                <p:cTn id="149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39" grpId="0"/>
      <p:bldP spid="41" grpId="0"/>
      <p:bldP spid="42" grpId="0" animBg="1"/>
      <p:bldP spid="51" grpId="0"/>
      <p:bldP spid="52" grpId="0" animBg="1"/>
      <p:bldP spid="53" grpId="0"/>
      <p:bldP spid="54" grpId="0"/>
      <p:bldP spid="55" grpId="0" animBg="1"/>
      <p:bldP spid="56" grpId="0" animBg="1"/>
      <p:bldP spid="61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2" grpId="1"/>
      <p:bldP spid="81" grpId="0"/>
      <p:bldP spid="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89300D2-F460-4B82-A278-A71166FB0B05}"/>
              </a:ext>
            </a:extLst>
          </p:cNvPr>
          <p:cNvSpPr/>
          <p:nvPr/>
        </p:nvSpPr>
        <p:spPr>
          <a:xfrm>
            <a:off x="490082" y="490748"/>
            <a:ext cx="1856792" cy="1200329"/>
          </a:xfrm>
          <a:prstGeom prst="rect">
            <a:avLst/>
          </a:prstGeom>
          <a:gradFill flip="none" rotWithShape="1">
            <a:gsLst>
              <a:gs pos="7000">
                <a:schemeClr val="accent3">
                  <a:lumMod val="40000"/>
                  <a:lumOff val="60000"/>
                </a:schemeClr>
              </a:gs>
              <a:gs pos="62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Imagine</a:t>
            </a:r>
          </a:p>
          <a:p>
            <a:pPr algn="ctr"/>
            <a:r>
              <a:rPr lang="en-US" dirty="0" err="1"/>
              <a:t>modificat</a:t>
            </a:r>
            <a:r>
              <a:rPr lang="ro-RO" dirty="0"/>
              <a:t>ă</a:t>
            </a: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0FC585F-D4B0-4E6C-8EAF-EB49B86D3790}"/>
              </a:ext>
            </a:extLst>
          </p:cNvPr>
          <p:cNvSpPr/>
          <p:nvPr/>
        </p:nvSpPr>
        <p:spPr>
          <a:xfrm>
            <a:off x="490082" y="2693401"/>
            <a:ext cx="1856792" cy="1200329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BA0C39B-66D1-4ECB-8E2F-A92B8782EAFB}"/>
              </a:ext>
            </a:extLst>
          </p:cNvPr>
          <p:cNvSpPr/>
          <p:nvPr/>
        </p:nvSpPr>
        <p:spPr>
          <a:xfrm>
            <a:off x="600682" y="2802799"/>
            <a:ext cx="1856792" cy="1200329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DF7EB33-DA74-4A8A-954C-4B77A24EE59B}"/>
              </a:ext>
            </a:extLst>
          </p:cNvPr>
          <p:cNvSpPr/>
          <p:nvPr/>
        </p:nvSpPr>
        <p:spPr>
          <a:xfrm>
            <a:off x="711282" y="2912197"/>
            <a:ext cx="1856792" cy="12003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8724A9-3E28-4D0A-8E25-EFE8B31CCDE2}"/>
              </a:ext>
            </a:extLst>
          </p:cNvPr>
          <p:cNvSpPr/>
          <p:nvPr/>
        </p:nvSpPr>
        <p:spPr>
          <a:xfrm>
            <a:off x="3269935" y="491921"/>
            <a:ext cx="1856792" cy="1200329"/>
          </a:xfrm>
          <a:prstGeom prst="rect">
            <a:avLst/>
          </a:prstGeom>
          <a:gradFill flip="none" rotWithShape="1">
            <a:gsLst>
              <a:gs pos="7000">
                <a:schemeClr val="accent3">
                  <a:lumMod val="40000"/>
                  <a:lumOff val="60000"/>
                </a:schemeClr>
              </a:gs>
              <a:gs pos="62000">
                <a:schemeClr val="accent3">
                  <a:lumMod val="95000"/>
                  <a:lumOff val="5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Imagine</a:t>
            </a:r>
          </a:p>
          <a:p>
            <a:pPr algn="ctr"/>
            <a:r>
              <a:rPr lang="ro-RO" dirty="0"/>
              <a:t>originală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81F5F1-0371-4868-8C0B-CDAB408ABEA4}"/>
              </a:ext>
            </a:extLst>
          </p:cNvPr>
          <p:cNvSpPr txBox="1"/>
          <p:nvPr/>
        </p:nvSpPr>
        <p:spPr>
          <a:xfrm>
            <a:off x="2629820" y="736969"/>
            <a:ext cx="3320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4000" b="1" dirty="0"/>
              <a:t>-</a:t>
            </a:r>
            <a:endParaRPr lang="en-US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309C7C-D41E-49CB-B950-A6331AD0D527}"/>
              </a:ext>
            </a:extLst>
          </p:cNvPr>
          <p:cNvSpPr txBox="1"/>
          <p:nvPr/>
        </p:nvSpPr>
        <p:spPr>
          <a:xfrm>
            <a:off x="5398036" y="736969"/>
            <a:ext cx="3320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4000" b="1" dirty="0"/>
              <a:t>=</a:t>
            </a:r>
            <a:endParaRPr lang="en-US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9F2224-0A46-45E8-9D7C-08881197FB07}"/>
              </a:ext>
            </a:extLst>
          </p:cNvPr>
          <p:cNvSpPr/>
          <p:nvPr/>
        </p:nvSpPr>
        <p:spPr>
          <a:xfrm>
            <a:off x="6136879" y="490748"/>
            <a:ext cx="1856792" cy="12003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>
                <a:solidFill>
                  <a:srgbClr val="0070C0"/>
                </a:solidFill>
              </a:rPr>
              <a:t>Matrice coduri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E46AE0-5871-48AD-A64C-AB978DAD6247}"/>
              </a:ext>
            </a:extLst>
          </p:cNvPr>
          <p:cNvSpPr txBox="1"/>
          <p:nvPr/>
        </p:nvSpPr>
        <p:spPr>
          <a:xfrm>
            <a:off x="490082" y="2262513"/>
            <a:ext cx="2139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/>
              <a:t>Imagine modificată</a:t>
            </a:r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D7E95D-336D-4080-B471-B7919BD7C76F}"/>
              </a:ext>
            </a:extLst>
          </p:cNvPr>
          <p:cNvSpPr/>
          <p:nvPr/>
        </p:nvSpPr>
        <p:spPr>
          <a:xfrm>
            <a:off x="3253093" y="2693401"/>
            <a:ext cx="1856792" cy="1200329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E8B9196-333C-4975-A10C-7E3241D578C1}"/>
              </a:ext>
            </a:extLst>
          </p:cNvPr>
          <p:cNvSpPr/>
          <p:nvPr/>
        </p:nvSpPr>
        <p:spPr>
          <a:xfrm>
            <a:off x="3363693" y="2802799"/>
            <a:ext cx="1856792" cy="1200329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F3E33C-CC33-4C07-87A2-5243E39B6732}"/>
              </a:ext>
            </a:extLst>
          </p:cNvPr>
          <p:cNvSpPr/>
          <p:nvPr/>
        </p:nvSpPr>
        <p:spPr>
          <a:xfrm>
            <a:off x="3474293" y="2912197"/>
            <a:ext cx="1856792" cy="12003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5FFF38-E3FC-4F95-A1B8-F6A156852C20}"/>
              </a:ext>
            </a:extLst>
          </p:cNvPr>
          <p:cNvSpPr txBox="1"/>
          <p:nvPr/>
        </p:nvSpPr>
        <p:spPr>
          <a:xfrm>
            <a:off x="3253093" y="2262513"/>
            <a:ext cx="2139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/>
              <a:t>Imagine originală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786E82-652E-42A0-B958-DADA206EB0FB}"/>
              </a:ext>
            </a:extLst>
          </p:cNvPr>
          <p:cNvSpPr txBox="1"/>
          <p:nvPr/>
        </p:nvSpPr>
        <p:spPr>
          <a:xfrm>
            <a:off x="2624615" y="2995998"/>
            <a:ext cx="3320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4000" b="1" dirty="0"/>
              <a:t>-</a:t>
            </a:r>
            <a:endParaRPr lang="en-US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CBFD55-C8A1-439B-AF58-2B88AA5300B8}"/>
              </a:ext>
            </a:extLst>
          </p:cNvPr>
          <p:cNvSpPr txBox="1"/>
          <p:nvPr/>
        </p:nvSpPr>
        <p:spPr>
          <a:xfrm>
            <a:off x="5392831" y="2995998"/>
            <a:ext cx="3320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4000" b="1" dirty="0"/>
              <a:t>=</a:t>
            </a:r>
            <a:endParaRPr lang="en-US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C5ECCE6-0F89-4812-8302-35CA4F12580A}"/>
              </a:ext>
            </a:extLst>
          </p:cNvPr>
          <p:cNvSpPr/>
          <p:nvPr/>
        </p:nvSpPr>
        <p:spPr>
          <a:xfrm>
            <a:off x="6146221" y="2693401"/>
            <a:ext cx="1856792" cy="12003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B86DB62-D697-4A7F-BAB4-C1D0288AE1E4}"/>
              </a:ext>
            </a:extLst>
          </p:cNvPr>
          <p:cNvSpPr/>
          <p:nvPr/>
        </p:nvSpPr>
        <p:spPr>
          <a:xfrm>
            <a:off x="6256821" y="2802799"/>
            <a:ext cx="1856792" cy="12003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648352-C4CC-4625-AFE6-BBD2BE505622}"/>
              </a:ext>
            </a:extLst>
          </p:cNvPr>
          <p:cNvSpPr/>
          <p:nvPr/>
        </p:nvSpPr>
        <p:spPr>
          <a:xfrm>
            <a:off x="6367421" y="2912197"/>
            <a:ext cx="1856792" cy="12003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425CD2D-0C0D-48A5-89F9-AA14E3FBF890}"/>
              </a:ext>
            </a:extLst>
          </p:cNvPr>
          <p:cNvSpPr txBox="1"/>
          <p:nvPr/>
        </p:nvSpPr>
        <p:spPr>
          <a:xfrm>
            <a:off x="6146221" y="2262513"/>
            <a:ext cx="2139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>
                <a:solidFill>
                  <a:srgbClr val="0070C0"/>
                </a:solidFill>
              </a:rPr>
              <a:t>Masiv coduri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253C70-AC78-4B38-AADA-2BDAEB8C39C4}"/>
              </a:ext>
            </a:extLst>
          </p:cNvPr>
          <p:cNvSpPr txBox="1"/>
          <p:nvPr/>
        </p:nvSpPr>
        <p:spPr>
          <a:xfrm>
            <a:off x="490082" y="4835982"/>
            <a:ext cx="23050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b="1" dirty="0">
                <a:sym typeface="Wingdings" panose="05000000000000000000" pitchFamily="2" charset="2"/>
              </a:rPr>
              <a:t>0  se ignoră </a:t>
            </a:r>
          </a:p>
          <a:p>
            <a:pPr algn="ctr"/>
            <a:r>
              <a:rPr lang="ro-RO" b="1" dirty="0">
                <a:sym typeface="Wingdings" panose="05000000000000000000" pitchFamily="2" charset="2"/>
              </a:rPr>
              <a:t>1  97 = a</a:t>
            </a:r>
          </a:p>
          <a:p>
            <a:pPr algn="ctr"/>
            <a:r>
              <a:rPr lang="ro-RO" b="1" dirty="0">
                <a:sym typeface="Wingdings" panose="05000000000000000000" pitchFamily="2" charset="2"/>
              </a:rPr>
              <a:t>2  98 = b</a:t>
            </a:r>
          </a:p>
          <a:p>
            <a:pPr algn="ctr"/>
            <a:r>
              <a:rPr lang="ro-RO" b="1" dirty="0"/>
              <a:t>...</a:t>
            </a:r>
          </a:p>
          <a:p>
            <a:pPr algn="ctr"/>
            <a:r>
              <a:rPr lang="ro-RO" b="1" dirty="0">
                <a:sym typeface="Wingdings" panose="05000000000000000000" pitchFamily="2" charset="2"/>
              </a:rPr>
              <a:t>26  122 = z </a:t>
            </a:r>
          </a:p>
          <a:p>
            <a:pPr algn="ctr"/>
            <a:endParaRPr lang="ro-RO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79714C-6396-4F22-AB72-3A474C02321B}"/>
              </a:ext>
            </a:extLst>
          </p:cNvPr>
          <p:cNvSpPr txBox="1"/>
          <p:nvPr/>
        </p:nvSpPr>
        <p:spPr>
          <a:xfrm>
            <a:off x="2790627" y="5255027"/>
            <a:ext cx="2305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0070C0"/>
                </a:solidFill>
              </a:rPr>
              <a:t>Se citesc lexicografic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BB531E-6223-43DF-A9C6-2AA47B5C719D}"/>
              </a:ext>
            </a:extLst>
          </p:cNvPr>
          <p:cNvSpPr txBox="1"/>
          <p:nvPr/>
        </p:nvSpPr>
        <p:spPr>
          <a:xfrm>
            <a:off x="924133" y="4497983"/>
            <a:ext cx="1396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>
                <a:solidFill>
                  <a:srgbClr val="0070C0"/>
                </a:solidFill>
              </a:rPr>
              <a:t>Coduri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B5308D-4198-4EF7-B1EA-C17EF717CCB3}"/>
              </a:ext>
            </a:extLst>
          </p:cNvPr>
          <p:cNvSpPr txBox="1"/>
          <p:nvPr/>
        </p:nvSpPr>
        <p:spPr>
          <a:xfrm>
            <a:off x="4957936" y="5255027"/>
            <a:ext cx="434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ym typeface="Wingdings" panose="05000000000000000000" pitchFamily="2" charset="2"/>
              </a:rPr>
              <a:t>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29A28F-5A5A-463A-BF50-8A661C0970C5}"/>
              </a:ext>
            </a:extLst>
          </p:cNvPr>
          <p:cNvSpPr txBox="1"/>
          <p:nvPr/>
        </p:nvSpPr>
        <p:spPr>
          <a:xfrm>
            <a:off x="5558843" y="5255027"/>
            <a:ext cx="169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0070C0"/>
                </a:solidFill>
              </a:rPr>
              <a:t>Mesajul ascuns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638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3" grpId="0" animBg="1"/>
      <p:bldP spid="34" grpId="0" animBg="1"/>
      <p:bldP spid="35" grpId="0" animBg="1"/>
      <p:bldP spid="24" grpId="0" animBg="1"/>
      <p:bldP spid="2" grpId="0"/>
      <p:bldP spid="25" grpId="0"/>
      <p:bldP spid="26" grpId="0" animBg="1"/>
      <p:bldP spid="3" grpId="0"/>
      <p:bldP spid="30" grpId="0" animBg="1"/>
      <p:bldP spid="31" grpId="0" animBg="1"/>
      <p:bldP spid="32" grpId="0" animBg="1"/>
      <p:bldP spid="36" grpId="0"/>
      <p:bldP spid="37" grpId="0"/>
      <p:bldP spid="38" grpId="0"/>
      <p:bldP spid="42" grpId="0" animBg="1"/>
      <p:bldP spid="43" grpId="0" animBg="1"/>
      <p:bldP spid="44" grpId="0" animBg="1"/>
      <p:bldP spid="45" grpId="0"/>
      <p:bldP spid="46" grpId="0"/>
      <p:bldP spid="47" grpId="0"/>
      <p:bldP spid="48" grpId="0"/>
      <p:bldP spid="49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279A75-38B0-9AAD-09AF-995533649777}"/>
              </a:ext>
            </a:extLst>
          </p:cNvPr>
          <p:cNvSpPr txBox="1"/>
          <p:nvPr/>
        </p:nvSpPr>
        <p:spPr>
          <a:xfrm>
            <a:off x="290186" y="249382"/>
            <a:ext cx="58058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Ascundere mesaj (1 plan)</a:t>
            </a:r>
          </a:p>
          <a:p>
            <a:pPr lvl="1"/>
            <a:r>
              <a:rPr lang="ro-RO" b="1" dirty="0"/>
              <a:t>I: mesaj, fișier imagine</a:t>
            </a:r>
          </a:p>
          <a:p>
            <a:pPr lvl="1"/>
            <a:r>
              <a:rPr lang="ro-RO" b="1" dirty="0"/>
              <a:t>E: fișier imagine modificată, cod terminare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o-R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Încărcare poză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Conversie mesaj: litere → numere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Alegere pixeli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Valoare maximă pixel utilizabil = 255 - </a:t>
            </a:r>
            <a:r>
              <a:rPr lang="ro-RO" dirty="0" err="1"/>
              <a:t>max</a:t>
            </a:r>
            <a:r>
              <a:rPr lang="ro-RO" dirty="0"/>
              <a:t>(mesaj)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Stabilire pixeli utilizabili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Alegere aleatoare pixeli utilizați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Sortare pixeli lexicografic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Pentru fiecare literă din mesaj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Adaugă valoarea numerică a literei la pixel, în ordine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Salvează poza modificată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69A0E0-AD88-A35E-E93B-94034C8AC8C8}"/>
              </a:ext>
            </a:extLst>
          </p:cNvPr>
          <p:cNvSpPr txBox="1"/>
          <p:nvPr/>
        </p:nvSpPr>
        <p:spPr>
          <a:xfrm>
            <a:off x="6396625" y="249382"/>
            <a:ext cx="5638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/>
              <a:t>Extragere mesaj</a:t>
            </a:r>
          </a:p>
          <a:p>
            <a:pPr lvl="1"/>
            <a:r>
              <a:rPr lang="ro-RO" b="1" dirty="0"/>
              <a:t>I: fișier imagine originală, fișier imagine modificată</a:t>
            </a:r>
          </a:p>
          <a:p>
            <a:pPr lvl="1"/>
            <a:r>
              <a:rPr lang="ro-RO" b="1" dirty="0"/>
              <a:t>E: mesaj</a:t>
            </a:r>
          </a:p>
          <a:p>
            <a:pPr lvl="1"/>
            <a:endParaRPr lang="ro-R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Încărcare poză originală, poză modificată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Inițializare mesaj: șir vid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Calcul masiv diferențe: modificată - originală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Pentru fiecare element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Dacă nu e 0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o-RO" dirty="0"/>
              <a:t>Adaugă la mesaj litera corespunzătoare</a:t>
            </a:r>
          </a:p>
        </p:txBody>
      </p:sp>
    </p:spTree>
    <p:extLst>
      <p:ext uri="{BB962C8B-B14F-4D97-AF65-F5344CB8AC3E}">
        <p14:creationId xmlns:p14="http://schemas.microsoft.com/office/powerpoint/2010/main" val="1179380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3C3D-BC06-457C-156F-0ACCC0D23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8000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o-RO" sz="1400" b="1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Algoritm 1</a:t>
            </a:r>
            <a:r>
              <a:rPr lang="ro-RO" sz="14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– ascunde mesaj text in poza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I/: - </a:t>
            </a:r>
            <a:r>
              <a:rPr lang="ro-RO" sz="1600" kern="1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poza_i</a:t>
            </a: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 nume fișier poza originală, orice tip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282575">
              <a:lnSpc>
                <a:spcPct val="110000"/>
              </a:lnSpc>
              <a:spcBef>
                <a:spcPts val="0"/>
              </a:spcBef>
              <a:buFont typeface="Consolas" panose="020B0609020204030204" pitchFamily="49" charset="0"/>
              <a:buChar char="-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mesaj – mesaj text care trebuie ascuns în poză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282575">
              <a:lnSpc>
                <a:spcPct val="110000"/>
              </a:lnSpc>
              <a:spcBef>
                <a:spcPts val="0"/>
              </a:spcBef>
              <a:buFont typeface="Consolas" panose="020B0609020204030204" pitchFamily="49" charset="0"/>
              <a:buChar char="-"/>
            </a:pPr>
            <a:r>
              <a:rPr lang="ro-RO" sz="1600" kern="1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poza_o</a:t>
            </a: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– nume fișier în care se salvează poza originală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282575">
              <a:lnSpc>
                <a:spcPct val="110000"/>
              </a:lnSpc>
              <a:spcBef>
                <a:spcPts val="0"/>
              </a:spcBef>
              <a:buFont typeface="Consolas" panose="020B0609020204030204" pitchFamily="49" charset="0"/>
              <a:buChar char="-"/>
            </a:pPr>
            <a:r>
              <a:rPr lang="ro-RO" sz="1600" kern="1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poza_m</a:t>
            </a: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– nume fișier în care se salvează poza modificată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282575">
              <a:lnSpc>
                <a:spcPct val="110000"/>
              </a:lnSpc>
              <a:spcBef>
                <a:spcPts val="0"/>
              </a:spcBef>
              <a:buFont typeface="Consolas" panose="020B0609020204030204" pitchFamily="49" charset="0"/>
              <a:buChar char="-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tip – format fișiere imagine salvate (trebuie să fie fără pierdere de informație)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/E: - ok: cod terminare operație (1 – succes, 0 – nu sînt suficienți pixeli utilizabili în imagine, 99 – altă problemă, </a:t>
            </a:r>
            <a:r>
              <a:rPr lang="ro-RO" sz="1600" kern="1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neindentificată</a:t>
            </a: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0000"/>
              </a:lnSpc>
              <a:spcBef>
                <a:spcPts val="0"/>
              </a:spcBef>
              <a:buFont typeface="Consolas" panose="020B0609020204030204" pitchFamily="49" charset="0"/>
              <a:buChar char="-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încărcare poză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0000"/>
              </a:lnSpc>
              <a:spcBef>
                <a:spcPts val="0"/>
              </a:spcBef>
              <a:buFont typeface="Consolas" panose="020B0609020204030204" pitchFamily="49" charset="0"/>
              <a:buChar char="-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calculare număr plane, p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0000"/>
              </a:lnSpc>
              <a:spcBef>
                <a:spcPts val="0"/>
              </a:spcBef>
              <a:buFont typeface="Consolas" panose="020B0609020204030204" pitchFamily="49" charset="0"/>
              <a:buChar char="-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conversie mesaj text în șir de coduri numerice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0000"/>
              </a:lnSpc>
              <a:spcBef>
                <a:spcPts val="0"/>
              </a:spcBef>
              <a:buFont typeface="Consolas" panose="020B0609020204030204" pitchFamily="49" charset="0"/>
              <a:buChar char="-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ok=1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0000"/>
              </a:lnSpc>
              <a:spcBef>
                <a:spcPts val="0"/>
              </a:spcBef>
              <a:buFont typeface="Consolas" panose="020B0609020204030204" pitchFamily="49" charset="0"/>
              <a:buChar char="-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dacă p=1 aplică codificarea textului în imagine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0000"/>
              </a:lnSpc>
              <a:spcBef>
                <a:spcPts val="0"/>
              </a:spcBef>
              <a:buFont typeface="Consolas" panose="020B0609020204030204" pitchFamily="49" charset="0"/>
              <a:buChar char="-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altfel 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dacă p=3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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împarte mesajul aleator în 3 segmente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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pentru fiecare plan i=1..3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600200" lvl="3" indent="-228600">
              <a:lnSpc>
                <a:spcPct val="11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aplică codificarea segmentului i în planul i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altfel ok=99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0000"/>
              </a:lnSpc>
              <a:spcBef>
                <a:spcPts val="0"/>
              </a:spcBef>
              <a:buFont typeface="Consolas" panose="020B0609020204030204" pitchFamily="49" charset="0"/>
              <a:buChar char="-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dacă ok=1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salvează imagine de referință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salvează imagine modificată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(opțional) vizualizează imagini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994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3C3D-BC06-457C-156F-0ACCC0D23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8000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o-RO" sz="1400" b="1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Algoritm 2</a:t>
            </a:r>
            <a:r>
              <a:rPr lang="ro-RO" sz="14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– codifică text în plan imagine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I/: - poza: imagine (1 plan)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282575">
              <a:lnSpc>
                <a:spcPct val="100000"/>
              </a:lnSpc>
              <a:spcAft>
                <a:spcPts val="800"/>
              </a:spcAft>
              <a:buFont typeface="Consolas" panose="020B0609020204030204" pitchFamily="49" charset="0"/>
              <a:buChar char="-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mesaj: șir de coduri numerice aferente literelor mesajului care trebuie ascuns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/E: - </a:t>
            </a:r>
            <a:r>
              <a:rPr lang="ro-RO" sz="1600" kern="1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poza_m</a:t>
            </a: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 imagine modificată (1 plan)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282575">
              <a:lnSpc>
                <a:spcPct val="100000"/>
              </a:lnSpc>
              <a:spcAft>
                <a:spcPts val="800"/>
              </a:spcAft>
              <a:buFont typeface="Consolas" panose="020B0609020204030204" pitchFamily="49" charset="0"/>
              <a:buChar char="-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ok: cod terminare (1 – succes, 0 – nu sînt suficienți pixeli utilizabili)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Consolas" panose="020B0609020204030204" pitchFamily="49" charset="0"/>
              <a:buChar char="-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copiază poza primita ca poză modificată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Consolas" panose="020B0609020204030204" pitchFamily="49" charset="0"/>
              <a:buChar char="-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calculează valoarea maximă a pixelilor utilizabili, </a:t>
            </a:r>
            <a:r>
              <a:rPr lang="ro-RO" sz="1600" kern="1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vmax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Consolas" panose="020B0609020204030204" pitchFamily="49" charset="0"/>
              <a:buChar char="-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calculează numărul de pixeli necesari, nr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Consolas" panose="020B0609020204030204" pitchFamily="49" charset="0"/>
              <a:buChar char="-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alege aleator nr pixeli cu valoarea maxima </a:t>
            </a:r>
            <a:r>
              <a:rPr lang="ro-RO" sz="1600" kern="1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vmax</a:t>
            </a: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din poza; rezultă o matrice cu două coloane p, care conține pe fiecare linie coordonatele unui pixel (lin, col), în ordine lexicografică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Consolas" panose="020B0609020204030204" pitchFamily="49" charset="0"/>
              <a:buChar char="-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dacă numărul pixelilor găsiți e diferit de nr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ok=0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Consolas" panose="020B0609020204030204" pitchFamily="49" charset="0"/>
              <a:buChar char="-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altfel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ok=1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modifică fiecare din pixelii găsiți cu cîte o valoare din mesaj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707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3C3D-BC06-457C-156F-0ACCC0D23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8000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o-RO" sz="1600" b="1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Algoritm 3</a:t>
            </a: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– alege aleator pixeli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I/: - poza: imagine (1 plan)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282575">
              <a:lnSpc>
                <a:spcPct val="107000"/>
              </a:lnSpc>
              <a:buFont typeface="Consolas" panose="020B0609020204030204" pitchFamily="49" charset="0"/>
              <a:buChar char="-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nr: numărul de pixeli necesari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282575">
              <a:lnSpc>
                <a:spcPct val="107000"/>
              </a:lnSpc>
              <a:spcAft>
                <a:spcPts val="800"/>
              </a:spcAft>
              <a:buFont typeface="Consolas" panose="020B0609020204030204" pitchFamily="49" charset="0"/>
              <a:buChar char="-"/>
            </a:pPr>
            <a:r>
              <a:rPr lang="ro-RO" sz="1600" kern="1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vmax</a:t>
            </a: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 valoare maximă admisă pentru pixeli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/E: - </a:t>
            </a:r>
            <a:r>
              <a:rPr lang="ro-RO" sz="1600" kern="1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poz</a:t>
            </a: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 matrice cu două coloane conține pe fiecare linie coordonatele unui pixel (lin, col), în ordine lexicografică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Consolas" panose="020B0609020204030204" pitchFamily="49" charset="0"/>
              <a:buChar char="-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caută toți pixelii cu valoarea maxima </a:t>
            </a:r>
            <a:r>
              <a:rPr lang="ro-RO" sz="1600" kern="1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vmax</a:t>
            </a: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o-RO" sz="1600" kern="1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temp</a:t>
            </a: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(vector de ranguri)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Consolas" panose="020B0609020204030204" pitchFamily="49" charset="0"/>
              <a:buChar char="-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calculează cîți pixeli disponibili au fost găsiți, </a:t>
            </a:r>
            <a:r>
              <a:rPr lang="ro-RO" sz="1600" kern="1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nrdisp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Consolas" panose="020B0609020204030204" pitchFamily="49" charset="0"/>
              <a:buChar char="-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dacă </a:t>
            </a:r>
            <a:r>
              <a:rPr lang="ro-RO" sz="1600" kern="1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nrdisp</a:t>
            </a: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&lt;nr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ro-RO" sz="1600" kern="1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poz</a:t>
            </a: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=[]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Consolas" panose="020B0609020204030204" pitchFamily="49" charset="0"/>
              <a:buChar char="-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altfel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alege aleator nr ranguri unice din </a:t>
            </a:r>
            <a:r>
              <a:rPr lang="ro-RO" sz="1600" kern="1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temp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ro-RO" sz="1600" kern="1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decodifică fiecare rang în pereche (lin, col) și construiește </a:t>
            </a:r>
            <a:r>
              <a:rPr lang="ro-RO" sz="1600" kern="100" dirty="0" err="1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poz</a:t>
            </a:r>
            <a:endParaRPr lang="en-US" sz="1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925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814</Words>
  <Application>Microsoft Office PowerPoint</Application>
  <PresentationFormat>Widescreen</PresentationFormat>
  <Paragraphs>152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Consolas</vt:lpstr>
      <vt:lpstr>Courier New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</dc:creator>
  <cp:lastModifiedBy>X</cp:lastModifiedBy>
  <cp:revision>38</cp:revision>
  <dcterms:created xsi:type="dcterms:W3CDTF">2020-10-05T10:52:16Z</dcterms:created>
  <dcterms:modified xsi:type="dcterms:W3CDTF">2024-10-06T13:42:23Z</dcterms:modified>
</cp:coreProperties>
</file>