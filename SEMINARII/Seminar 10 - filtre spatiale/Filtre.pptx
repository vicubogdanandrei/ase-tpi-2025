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83BB-BB43-4DB6-B56B-563402882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F8D85-DF58-40DD-B57E-B55FE348D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703F-D76F-4934-ADB5-09E05035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E5169-789A-48EE-A794-FEF48D86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12C01-47CB-42BA-BD14-5A828379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4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49F2-EEA9-4CF8-809A-4A90F2E1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8657-FFAC-4C88-8ECF-8B7EFCD7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4CB8E-240D-4BC6-B040-461086E2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D30D-1924-4815-86CE-373B761F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B7B0-ABD5-480F-9D80-8225AE36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A302-8C04-437D-B476-45A4E355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DAA02-F4AB-4F91-89BA-56A8CA72C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26F7F-F409-41A8-B340-D2C4B957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8746D-D6F5-4FFF-9909-B62DF711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9FEF7-134A-44AE-B85F-A2FFA221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D87D7-9775-4738-82EA-4C21D172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1AB59-365E-4037-A8B7-5E9A8F3B9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6D7BE-1FDC-4825-A617-64E9AFAB7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2CDA0-E0B0-411F-AFAC-5304B2D0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64C7-78FB-45A7-8E81-9E0DB59B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16EDE-60A4-44C2-98B0-EDFF67B3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8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217C-02AB-4FA8-955D-5797C608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C324E-83D1-4F2B-8AA0-1F15460CB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91B7F-3548-4838-9414-4BA851DEA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44D08-F4F3-4C8C-B2A4-E3968E7EA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44E17-82D8-4A57-85D0-91947F6FAE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909F2-2040-4A23-9EE3-A6AA9E8D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E5899-B9D1-4F5F-B59D-9F38AE1A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E8B07-4F39-4340-AE06-5490566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8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2CCD-A1BB-479E-BFEA-0A854673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6CB50-73CF-4B66-9231-C5A45EFF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D0D07-DBE8-4EBC-AC33-FD7149FE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2D2AD-4986-4FBD-82F6-7CBEAFE2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55631-391A-4A7A-9EFA-F883C198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190EF-3B69-45A5-9D9C-4A6530E7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9836-69D0-4725-830E-6907E02A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8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6F61-99F1-4493-9B8E-3513F038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F183A-95F6-4D5B-AF7A-0CDF7B7FE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C21BF-BBC7-4B5D-8B20-FB1175AA7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545E0-B3F4-4D4E-A116-88C6187B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C90B8-3D6C-45B7-A5FF-5648AD6C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86D8A-C6A0-4776-91D8-EE35BBB4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5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DE6-D62A-44E5-9465-3BB9A0821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7F20C-5BAA-4D99-BED0-C92F18860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10755-3229-401C-B1E2-E57233DEB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12436-D83C-4C1B-A513-92AC6FD6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27D73-6D23-4B32-80A1-2B6F11A5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36A6D-380A-41F3-AFC2-11155BA1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5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CA23-39C4-4468-AE1B-8D42C4CB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2AC15-96A0-4B10-B971-84FFA5073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9CA3-95ED-44DF-92F7-28DE94F7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45999-43D2-4697-A191-D5F0A8B0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62938-2804-4D55-A5FA-738452F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52157E-11D8-4BD7-97C9-F54BA66B8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935CB-3CA8-4920-8F40-BD02B1502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6D4F-FB6B-4482-B0CC-B2F32139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5B71D-4130-4E1C-8D36-B6C0CCC4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B7670-1D71-48CE-B196-E9D4C28D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75C8D-5787-44CB-864D-A17A3EE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9F157-FFC1-4FF5-B2E9-47CA61B9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7B6C7-D58B-4927-910C-333CB897A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F34F-A46F-405C-84DB-B28B76038B72}" type="datetimeFigureOut">
              <a:rPr lang="en-US" smtClean="0"/>
              <a:t>28-Nov-24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67337-260C-4081-8514-C52D99568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02FB7-7FD1-492B-912D-7F231AC9B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F493A-8064-46C1-82A4-ED2633077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2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image" Target="../media/image5.png"/><Relationship Id="rId7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Word_Document1.docx"/><Relationship Id="rId5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0CD5B7-4B1B-43CA-9836-81F119887F2F}"/>
              </a:ext>
            </a:extLst>
          </p:cNvPr>
          <p:cNvSpPr/>
          <p:nvPr/>
        </p:nvSpPr>
        <p:spPr>
          <a:xfrm>
            <a:off x="202108" y="610037"/>
            <a:ext cx="4038285" cy="24735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B98DBDE-34CE-464E-A5E0-3C8ACF5D6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11582"/>
              </p:ext>
            </p:extLst>
          </p:nvPr>
        </p:nvGraphicFramePr>
        <p:xfrm>
          <a:off x="924940" y="1000729"/>
          <a:ext cx="1357375" cy="1350000"/>
        </p:xfrm>
        <a:graphic>
          <a:graphicData uri="http://schemas.openxmlformats.org/drawingml/2006/table">
            <a:tbl>
              <a:tblPr firstRow="1" bandRow="1"/>
              <a:tblGrid>
                <a:gridCol w="271475">
                  <a:extLst>
                    <a:ext uri="{9D8B030D-6E8A-4147-A177-3AD203B41FA5}">
                      <a16:colId xmlns:a16="http://schemas.microsoft.com/office/drawing/2014/main" val="2681748608"/>
                    </a:ext>
                  </a:extLst>
                </a:gridCol>
                <a:gridCol w="271475">
                  <a:extLst>
                    <a:ext uri="{9D8B030D-6E8A-4147-A177-3AD203B41FA5}">
                      <a16:colId xmlns:a16="http://schemas.microsoft.com/office/drawing/2014/main" val="2769022927"/>
                    </a:ext>
                  </a:extLst>
                </a:gridCol>
                <a:gridCol w="271475">
                  <a:extLst>
                    <a:ext uri="{9D8B030D-6E8A-4147-A177-3AD203B41FA5}">
                      <a16:colId xmlns:a16="http://schemas.microsoft.com/office/drawing/2014/main" val="2852638474"/>
                    </a:ext>
                  </a:extLst>
                </a:gridCol>
                <a:gridCol w="271475">
                  <a:extLst>
                    <a:ext uri="{9D8B030D-6E8A-4147-A177-3AD203B41FA5}">
                      <a16:colId xmlns:a16="http://schemas.microsoft.com/office/drawing/2014/main" val="2212470788"/>
                    </a:ext>
                  </a:extLst>
                </a:gridCol>
                <a:gridCol w="271475">
                  <a:extLst>
                    <a:ext uri="{9D8B030D-6E8A-4147-A177-3AD203B41FA5}">
                      <a16:colId xmlns:a16="http://schemas.microsoft.com/office/drawing/2014/main" val="301243809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581033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712148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003034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218816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4593061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33C9541-755C-45B1-B502-3D3ACF10B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17045"/>
              </p:ext>
            </p:extLst>
          </p:nvPr>
        </p:nvGraphicFramePr>
        <p:xfrm>
          <a:off x="202108" y="3474234"/>
          <a:ext cx="11578900" cy="370840"/>
        </p:xfrm>
        <a:graphic>
          <a:graphicData uri="http://schemas.openxmlformats.org/drawingml/2006/table">
            <a:tbl>
              <a:tblPr firstRow="1" bandRow="1"/>
              <a:tblGrid>
                <a:gridCol w="463156">
                  <a:extLst>
                    <a:ext uri="{9D8B030D-6E8A-4147-A177-3AD203B41FA5}">
                      <a16:colId xmlns:a16="http://schemas.microsoft.com/office/drawing/2014/main" val="166240993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92663108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29964884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630767942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62337012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7362742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464564577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44953499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6402775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73292998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26975457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076227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8126191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11279945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746810375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97215639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9438165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56236281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77114629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3079193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64809327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033938972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6769111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15588354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49991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519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A325EE-554D-46FB-8065-917340F2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213514"/>
              </p:ext>
            </p:extLst>
          </p:nvPr>
        </p:nvGraphicFramePr>
        <p:xfrm>
          <a:off x="202108" y="4253411"/>
          <a:ext cx="11578900" cy="370840"/>
        </p:xfrm>
        <a:graphic>
          <a:graphicData uri="http://schemas.openxmlformats.org/drawingml/2006/table">
            <a:tbl>
              <a:tblPr firstRow="1" bandRow="1"/>
              <a:tblGrid>
                <a:gridCol w="463156">
                  <a:extLst>
                    <a:ext uri="{9D8B030D-6E8A-4147-A177-3AD203B41FA5}">
                      <a16:colId xmlns:a16="http://schemas.microsoft.com/office/drawing/2014/main" val="166240993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92663108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29964884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630767942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62337012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7362742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464564577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44953499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6402775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73292998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26975457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076227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8126191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11279945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746810375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97215639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94381658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562362810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77114629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330791939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64809327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1033938972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67691114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3155883546"/>
                    </a:ext>
                  </a:extLst>
                </a:gridCol>
                <a:gridCol w="463156">
                  <a:extLst>
                    <a:ext uri="{9D8B030D-6E8A-4147-A177-3AD203B41FA5}">
                      <a16:colId xmlns:a16="http://schemas.microsoft.com/office/drawing/2014/main" val="2549991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085199"/>
                  </a:ext>
                </a:extLst>
              </a:tr>
            </a:tbl>
          </a:graphicData>
        </a:graphic>
      </p:graphicFrame>
      <p:sp>
        <p:nvSpPr>
          <p:cNvPr id="14" name="Arrow: Down 13">
            <a:extLst>
              <a:ext uri="{FF2B5EF4-FFF2-40B4-BE49-F238E27FC236}">
                <a16:creationId xmlns:a16="http://schemas.microsoft.com/office/drawing/2014/main" id="{CD20133B-BD97-4ACF-8D40-B9DE28F286F3}"/>
              </a:ext>
            </a:extLst>
          </p:cNvPr>
          <p:cNvSpPr/>
          <p:nvPr/>
        </p:nvSpPr>
        <p:spPr>
          <a:xfrm>
            <a:off x="1366920" y="2363939"/>
            <a:ext cx="473413" cy="10860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95B7A4-D6CA-4707-97D3-3705EA81F6EC}"/>
              </a:ext>
            </a:extLst>
          </p:cNvPr>
          <p:cNvSpPr txBox="1"/>
          <p:nvPr/>
        </p:nvSpPr>
        <p:spPr>
          <a:xfrm>
            <a:off x="0" y="7134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Filtre spațiale pentru eliminarea zgomotului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BF468-B6F5-4DA8-A084-BFF5F35E7828}"/>
              </a:ext>
            </a:extLst>
          </p:cNvPr>
          <p:cNvSpPr/>
          <p:nvPr/>
        </p:nvSpPr>
        <p:spPr>
          <a:xfrm>
            <a:off x="1462576" y="1545121"/>
            <a:ext cx="282102" cy="284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12FF75-EB6C-4A43-8999-DA378A15A21E}"/>
              </a:ext>
            </a:extLst>
          </p:cNvPr>
          <p:cNvSpPr txBox="1"/>
          <p:nvPr/>
        </p:nvSpPr>
        <p:spPr>
          <a:xfrm>
            <a:off x="4679815" y="1168535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median</a:t>
            </a:r>
            <a:r>
              <a:rPr lang="ro-RO" dirty="0"/>
              <a:t>: </a:t>
            </a:r>
            <a:r>
              <a:rPr lang="ro-RO" u="sng" dirty="0"/>
              <a:t>impuls</a:t>
            </a:r>
            <a:r>
              <a:rPr lang="ro-RO" dirty="0"/>
              <a:t>, </a:t>
            </a:r>
            <a:r>
              <a:rPr lang="ro-RO" dirty="0" err="1"/>
              <a:t>Rayleigh</a:t>
            </a:r>
            <a:r>
              <a:rPr lang="ro-RO" dirty="0"/>
              <a:t>, gaussian, exponențial negativ	</a:t>
            </a:r>
            <a:r>
              <a:rPr lang="ro-RO" b="1" dirty="0">
                <a:solidFill>
                  <a:srgbClr val="FF0000"/>
                </a:solidFill>
              </a:rPr>
              <a:t>124 </a:t>
            </a:r>
            <a:r>
              <a:rPr lang="ro-RO" dirty="0"/>
              <a:t>(voalare)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0FE002-55DB-439A-86FA-33F157328600}"/>
              </a:ext>
            </a:extLst>
          </p:cNvPr>
          <p:cNvSpPr/>
          <p:nvPr/>
        </p:nvSpPr>
        <p:spPr>
          <a:xfrm>
            <a:off x="5767449" y="4253410"/>
            <a:ext cx="448218" cy="370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991ED4A8-55CE-4290-BB85-6B4864F74C4E}"/>
              </a:ext>
            </a:extLst>
          </p:cNvPr>
          <p:cNvSpPr/>
          <p:nvPr/>
        </p:nvSpPr>
        <p:spPr>
          <a:xfrm>
            <a:off x="1366920" y="3840640"/>
            <a:ext cx="473413" cy="3951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AB6F8A-C560-4458-BEBD-54A72FED404E}"/>
              </a:ext>
            </a:extLst>
          </p:cNvPr>
          <p:cNvSpPr txBox="1"/>
          <p:nvPr/>
        </p:nvSpPr>
        <p:spPr>
          <a:xfrm>
            <a:off x="4679815" y="1645351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maxim</a:t>
            </a:r>
            <a:r>
              <a:rPr lang="ro-RO" dirty="0"/>
              <a:t>: piper	</a:t>
            </a:r>
            <a:r>
              <a:rPr lang="ro-RO" b="1" dirty="0">
                <a:solidFill>
                  <a:srgbClr val="FF0000"/>
                </a:solidFill>
              </a:rPr>
              <a:t>250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B9A37B-AB90-41B0-8A7E-D21FF74C79A6}"/>
              </a:ext>
            </a:extLst>
          </p:cNvPr>
          <p:cNvSpPr txBox="1"/>
          <p:nvPr/>
        </p:nvSpPr>
        <p:spPr>
          <a:xfrm>
            <a:off x="4679814" y="2082976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minim</a:t>
            </a:r>
            <a:r>
              <a:rPr lang="ro-RO" dirty="0"/>
              <a:t>: sare	</a:t>
            </a:r>
            <a:r>
              <a:rPr lang="ro-RO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F3CBB2-A3FF-4BE9-B404-A621B35E6CDE}"/>
              </a:ext>
            </a:extLst>
          </p:cNvPr>
          <p:cNvSpPr/>
          <p:nvPr/>
        </p:nvSpPr>
        <p:spPr>
          <a:xfrm>
            <a:off x="11332790" y="4255222"/>
            <a:ext cx="448218" cy="370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24ED15-7BB0-4B76-983D-FAF765007AF0}"/>
              </a:ext>
            </a:extLst>
          </p:cNvPr>
          <p:cNvSpPr/>
          <p:nvPr/>
        </p:nvSpPr>
        <p:spPr>
          <a:xfrm>
            <a:off x="202108" y="4255221"/>
            <a:ext cx="448218" cy="370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E34375-0717-4519-A478-0B8884DF1CBE}"/>
              </a:ext>
            </a:extLst>
          </p:cNvPr>
          <p:cNvSpPr txBox="1"/>
          <p:nvPr/>
        </p:nvSpPr>
        <p:spPr>
          <a:xfrm>
            <a:off x="4679814" y="2491313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punct mediu</a:t>
            </a:r>
            <a:r>
              <a:rPr lang="ro-RO" dirty="0"/>
              <a:t>: uniform,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243E1-7503-47EF-A0BD-FED03EB9E998}"/>
                  </a:ext>
                </a:extLst>
              </p:cNvPr>
              <p:cNvSpPr txBox="1"/>
              <p:nvPr/>
            </p:nvSpPr>
            <p:spPr>
              <a:xfrm>
                <a:off x="7996201" y="2452969"/>
                <a:ext cx="1184620" cy="4076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400" b="0" i="1" smtClean="0">
                              <a:latin typeface="Cambria Math" panose="02040503050406030204" pitchFamily="18" charset="0"/>
                            </a:rPr>
                            <m:t>0+250</m:t>
                          </m:r>
                        </m:num>
                        <m:den>
                          <m:r>
                            <a:rPr lang="ro-RO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o-RO" sz="1400" b="0" i="1" smtClean="0">
                          <a:latin typeface="Cambria Math" panose="02040503050406030204" pitchFamily="18" charset="0"/>
                        </a:rPr>
                        <m:t>=125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243E1-7503-47EF-A0BD-FED03EB9E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201" y="2452969"/>
                <a:ext cx="1184620" cy="407676"/>
              </a:xfrm>
              <a:prstGeom prst="rect">
                <a:avLst/>
              </a:prstGeom>
              <a:blipFill>
                <a:blip r:embed="rId3"/>
                <a:stretch>
                  <a:fillRect l="-3093" r="-3093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D5C9622A-5435-4529-BD60-B51AE02C735C}"/>
              </a:ext>
            </a:extLst>
          </p:cNvPr>
          <p:cNvSpPr/>
          <p:nvPr/>
        </p:nvSpPr>
        <p:spPr>
          <a:xfrm>
            <a:off x="8810084" y="2480400"/>
            <a:ext cx="448218" cy="370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EA5FF4-7350-4746-B00A-BD7AEF04B44A}"/>
              </a:ext>
            </a:extLst>
          </p:cNvPr>
          <p:cNvSpPr txBox="1"/>
          <p:nvPr/>
        </p:nvSpPr>
        <p:spPr>
          <a:xfrm>
            <a:off x="4679814" y="2973369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alfa </a:t>
            </a:r>
            <a:r>
              <a:rPr lang="ro-RO" b="1" dirty="0" err="1"/>
              <a:t>trimmed</a:t>
            </a:r>
            <a:r>
              <a:rPr lang="ro-RO" dirty="0"/>
              <a:t>: mixt (gaussian/uniform + sare și piper)	</a:t>
            </a:r>
            <a:r>
              <a:rPr lang="ro-RO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30" name="Callout: Down Arrow 29">
            <a:extLst>
              <a:ext uri="{FF2B5EF4-FFF2-40B4-BE49-F238E27FC236}">
                <a16:creationId xmlns:a16="http://schemas.microsoft.com/office/drawing/2014/main" id="{26101DB5-64A6-4271-856D-8F12279AB630}"/>
              </a:ext>
            </a:extLst>
          </p:cNvPr>
          <p:cNvSpPr/>
          <p:nvPr/>
        </p:nvSpPr>
        <p:spPr>
          <a:xfrm>
            <a:off x="1603626" y="4241820"/>
            <a:ext cx="8786325" cy="1011062"/>
          </a:xfrm>
          <a:prstGeom prst="downArrowCallout">
            <a:avLst>
              <a:gd name="adj1" fmla="val 25000"/>
              <a:gd name="adj2" fmla="val 25000"/>
              <a:gd name="adj3" fmla="val 22468"/>
              <a:gd name="adj4" fmla="val 3726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92EF70-73AA-443A-ABA7-016EED78B794}"/>
              </a:ext>
            </a:extLst>
          </p:cNvPr>
          <p:cNvSpPr txBox="1"/>
          <p:nvPr/>
        </p:nvSpPr>
        <p:spPr>
          <a:xfrm>
            <a:off x="5767449" y="5279068"/>
            <a:ext cx="448218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o-RO" sz="1200" b="1" dirty="0"/>
              <a:t>129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000C20-B1AA-429D-9409-7FB6B73AC2D0}"/>
              </a:ext>
            </a:extLst>
          </p:cNvPr>
          <p:cNvSpPr txBox="1"/>
          <p:nvPr/>
        </p:nvSpPr>
        <p:spPr>
          <a:xfrm>
            <a:off x="112280" y="4211480"/>
            <a:ext cx="346304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Filtre tip medie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6F4543-899A-47CC-86A0-6044D93CBBC3}"/>
              </a:ext>
            </a:extLst>
          </p:cNvPr>
          <p:cNvSpPr txBox="1"/>
          <p:nvPr/>
        </p:nvSpPr>
        <p:spPr>
          <a:xfrm>
            <a:off x="316007" y="4679820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aritmetică</a:t>
            </a:r>
            <a:r>
              <a:rPr lang="ro-RO" dirty="0"/>
              <a:t>: </a:t>
            </a:r>
            <a:r>
              <a:rPr lang="ro-RO" b="1" dirty="0">
                <a:solidFill>
                  <a:srgbClr val="FF0000"/>
                </a:solidFill>
              </a:rPr>
              <a:t>129 </a:t>
            </a:r>
            <a:r>
              <a:rPr lang="ro-RO" dirty="0"/>
              <a:t>(voalare)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D82552-E885-40E6-8E13-49BEFFF8AE5C}"/>
              </a:ext>
            </a:extLst>
          </p:cNvPr>
          <p:cNvSpPr txBox="1"/>
          <p:nvPr/>
        </p:nvSpPr>
        <p:spPr>
          <a:xfrm>
            <a:off x="316007" y="5075339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geometrică</a:t>
            </a:r>
            <a:r>
              <a:rPr lang="ro-RO" dirty="0"/>
              <a:t>: </a:t>
            </a:r>
            <a:r>
              <a:rPr lang="ro-RO" b="1" dirty="0">
                <a:solidFill>
                  <a:srgbClr val="FF0000"/>
                </a:solidFill>
              </a:rPr>
              <a:t>0</a:t>
            </a:r>
            <a:r>
              <a:rPr lang="ro-RO" dirty="0">
                <a:solidFill>
                  <a:srgbClr val="FF0000"/>
                </a:solidFill>
              </a:rPr>
              <a:t>	</a:t>
            </a:r>
            <a:r>
              <a:rPr lang="ro-RO" b="1" dirty="0">
                <a:solidFill>
                  <a:srgbClr val="FF0000"/>
                </a:solidFill>
              </a:rPr>
              <a:t>88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/>
              <a:t>(ignoră 0) </a:t>
            </a:r>
            <a:r>
              <a:rPr lang="ro-RO" dirty="0">
                <a:solidFill>
                  <a:srgbClr val="FF0000"/>
                </a:solidFill>
              </a:rPr>
              <a:t>	</a:t>
            </a:r>
            <a:r>
              <a:rPr lang="ro-RO" b="1" dirty="0">
                <a:solidFill>
                  <a:srgbClr val="FF0000"/>
                </a:solidFill>
              </a:rPr>
              <a:t>106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/>
              <a:t>(0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ro-RO" dirty="0"/>
              <a:t> 1)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49A85-DB5E-43D3-A272-0FA6A665FD56}"/>
              </a:ext>
            </a:extLst>
          </p:cNvPr>
          <p:cNvSpPr txBox="1"/>
          <p:nvPr/>
        </p:nvSpPr>
        <p:spPr>
          <a:xfrm>
            <a:off x="316006" y="5470858"/>
            <a:ext cx="723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armonică</a:t>
            </a:r>
            <a:r>
              <a:rPr lang="ro-RO" dirty="0"/>
              <a:t>: </a:t>
            </a:r>
            <a:r>
              <a:rPr lang="ro-RO" b="1" dirty="0">
                <a:solidFill>
                  <a:srgbClr val="FF0000"/>
                </a:solidFill>
              </a:rPr>
              <a:t>?</a:t>
            </a:r>
            <a:r>
              <a:rPr lang="ro-RO" dirty="0">
                <a:solidFill>
                  <a:srgbClr val="FF0000"/>
                </a:solidFill>
              </a:rPr>
              <a:t>	</a:t>
            </a:r>
            <a:r>
              <a:rPr lang="ro-RO" b="1" dirty="0">
                <a:solidFill>
                  <a:srgbClr val="FF0000"/>
                </a:solidFill>
              </a:rPr>
              <a:t>203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/>
              <a:t>(coincidență, nu se modifică)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709C0D-EBF0-4D51-8584-B8E147747FD8}"/>
              </a:ext>
            </a:extLst>
          </p:cNvPr>
          <p:cNvGrpSpPr/>
          <p:nvPr/>
        </p:nvGrpSpPr>
        <p:grpSpPr>
          <a:xfrm>
            <a:off x="426217" y="2651924"/>
            <a:ext cx="11130682" cy="1603298"/>
            <a:chOff x="426217" y="2651924"/>
            <a:chExt cx="11130682" cy="160329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7647238A-4464-4DBB-A9FD-062D7D61F43D}"/>
                </a:ext>
              </a:extLst>
            </p:cNvPr>
            <p:cNvCxnSpPr>
              <a:cxnSpLocks/>
              <a:stCxn id="25" idx="0"/>
              <a:endCxn id="27" idx="1"/>
            </p:cNvCxnSpPr>
            <p:nvPr/>
          </p:nvCxnSpPr>
          <p:spPr>
            <a:xfrm flipV="1">
              <a:off x="426217" y="2656807"/>
              <a:ext cx="7569984" cy="15984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CB9F72D-D7A5-487A-9DB4-986D06013B68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8553691" y="2651924"/>
              <a:ext cx="3003208" cy="160329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82D025-7E54-46D9-8F49-70BAC8F2C663}"/>
                  </a:ext>
                </a:extLst>
              </p:cNvPr>
              <p:cNvSpPr txBox="1"/>
              <p:nvPr/>
            </p:nvSpPr>
            <p:spPr>
              <a:xfrm>
                <a:off x="7238805" y="4559665"/>
                <a:ext cx="947737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82D025-7E54-46D9-8F49-70BAC8F2C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805" y="4559665"/>
                <a:ext cx="947737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5E3FC2-0B6A-403F-90A9-37157D88FD69}"/>
                  </a:ext>
                </a:extLst>
              </p:cNvPr>
              <p:cNvSpPr txBox="1"/>
              <p:nvPr/>
            </p:nvSpPr>
            <p:spPr>
              <a:xfrm>
                <a:off x="8923983" y="4396900"/>
                <a:ext cx="947737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55E3FC2-0B6A-403F-90A9-37157D88F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983" y="4396900"/>
                <a:ext cx="947737" cy="1169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46E4B1-514F-451E-9AE7-E03A5336B216}"/>
                  </a:ext>
                </a:extLst>
              </p:cNvPr>
              <p:cNvSpPr txBox="1"/>
              <p:nvPr/>
            </p:nvSpPr>
            <p:spPr>
              <a:xfrm>
                <a:off x="10609161" y="4582320"/>
                <a:ext cx="947738" cy="837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46E4B1-514F-451E-9AE7-E03A5336B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61" y="4582320"/>
                <a:ext cx="947738" cy="837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61FFB39-40BB-4AE2-9BA9-C2F38CFC1DCF}"/>
              </a:ext>
            </a:extLst>
          </p:cNvPr>
          <p:cNvSpPr txBox="1"/>
          <p:nvPr/>
        </p:nvSpPr>
        <p:spPr>
          <a:xfrm>
            <a:off x="4488562" y="623568"/>
            <a:ext cx="346304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Filtre tip ordine</a:t>
            </a: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A62BE3BA-B250-43A7-83A1-8D041CB49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839356"/>
              </p:ext>
            </p:extLst>
          </p:nvPr>
        </p:nvGraphicFramePr>
        <p:xfrm>
          <a:off x="6246813" y="1547813"/>
          <a:ext cx="4679950" cy="199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4704949" imgH="2003627" progId="Word.Document.12">
                  <p:embed/>
                </p:oleObj>
              </mc:Choice>
              <mc:Fallback>
                <p:oleObj name="Document" r:id="rId7" imgW="4704949" imgH="2003627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CA4B617-D825-40F8-803A-982061A91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46813" y="1547813"/>
                        <a:ext cx="4679950" cy="1992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260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7" grpId="0"/>
      <p:bldP spid="18" grpId="0" animBg="1"/>
      <p:bldP spid="18" grpId="1" animBg="1"/>
      <p:bldP spid="19" grpId="0" animBg="1"/>
      <p:bldP spid="19" grpId="1" animBg="1"/>
      <p:bldP spid="22" grpId="0"/>
      <p:bldP spid="23" grpId="0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  <p:bldP spid="25" grpId="3" animBg="1"/>
      <p:bldP spid="26" grpId="0"/>
      <p:bldP spid="27" grpId="0"/>
      <p:bldP spid="28" grpId="0" animBg="1"/>
      <p:bldP spid="29" grpId="0"/>
      <p:bldP spid="30" grpId="0" animBg="1"/>
      <p:bldP spid="30" grpId="1" animBg="1"/>
      <p:bldP spid="31" grpId="0" animBg="1"/>
      <p:bldP spid="31" grpId="1" animBg="1"/>
      <p:bldP spid="32" grpId="0"/>
      <p:bldP spid="33" grpId="0"/>
      <p:bldP spid="34" grpId="0"/>
      <p:bldP spid="35" grpId="0"/>
      <p:bldP spid="37" grpId="0"/>
      <p:bldP spid="38" grpId="0"/>
      <p:bldP spid="40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EDBA44F-9175-4E78-AAF6-F72C6A32C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62" y="518403"/>
            <a:ext cx="6533403" cy="3687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19009B-84DA-4C07-93D2-2FE52C3AF11E}"/>
              </a:ext>
            </a:extLst>
          </p:cNvPr>
          <p:cNvSpPr txBox="1"/>
          <p:nvPr/>
        </p:nvSpPr>
        <p:spPr>
          <a:xfrm>
            <a:off x="6972156" y="464901"/>
            <a:ext cx="4905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MMSE</a:t>
            </a:r>
          </a:p>
          <a:p>
            <a:r>
              <a:rPr lang="ro-RO" dirty="0"/>
              <a:t>	optim pentru zgomot uniform, gaussian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EF3CF1-233D-4FE1-BEBB-90FEB24A4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335" y="2362274"/>
            <a:ext cx="941065" cy="32305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FF4F9DB-2986-48C2-A489-8F9651688580}"/>
              </a:ext>
            </a:extLst>
          </p:cNvPr>
          <p:cNvSpPr/>
          <p:nvPr/>
        </p:nvSpPr>
        <p:spPr>
          <a:xfrm rot="13503016">
            <a:off x="7005360" y="2537146"/>
            <a:ext cx="299039" cy="16086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06472-B0BF-47E6-8729-F8D252583110}"/>
              </a:ext>
            </a:extLst>
          </p:cNvPr>
          <p:cNvSpPr/>
          <p:nvPr/>
        </p:nvSpPr>
        <p:spPr>
          <a:xfrm>
            <a:off x="5797629" y="3742887"/>
            <a:ext cx="941065" cy="313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5F672-8608-4F77-8B1B-011F4C9454B0}"/>
              </a:ext>
            </a:extLst>
          </p:cNvPr>
          <p:cNvSpPr txBox="1"/>
          <p:nvPr/>
        </p:nvSpPr>
        <p:spPr>
          <a:xfrm>
            <a:off x="8810685" y="2362274"/>
            <a:ext cx="170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σ</a:t>
            </a:r>
            <a:r>
              <a:rPr lang="ro-RO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global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54B16-D79A-44DB-A8DA-B8AFE3571DF0}"/>
              </a:ext>
            </a:extLst>
          </p:cNvPr>
          <p:cNvSpPr txBox="1"/>
          <p:nvPr/>
        </p:nvSpPr>
        <p:spPr>
          <a:xfrm>
            <a:off x="7380718" y="1911079"/>
            <a:ext cx="3715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Zona pentru estimare zgomot</a:t>
            </a:r>
            <a:endParaRPr lang="en-US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A403A05-748C-427C-A891-7E74702A72C2}"/>
              </a:ext>
            </a:extLst>
          </p:cNvPr>
          <p:cNvSpPr/>
          <p:nvPr/>
        </p:nvSpPr>
        <p:spPr>
          <a:xfrm>
            <a:off x="2717926" y="1899680"/>
            <a:ext cx="299039" cy="25294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82A2E-2E61-4243-9119-3F99CED69B1F}"/>
              </a:ext>
            </a:extLst>
          </p:cNvPr>
          <p:cNvSpPr/>
          <p:nvPr/>
        </p:nvSpPr>
        <p:spPr>
          <a:xfrm>
            <a:off x="2717926" y="1677615"/>
            <a:ext cx="285345" cy="233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EE6BC2-6D5D-459D-8A99-00F0262A7619}"/>
              </a:ext>
            </a:extLst>
          </p:cNvPr>
          <p:cNvSpPr txBox="1"/>
          <p:nvPr/>
        </p:nvSpPr>
        <p:spPr>
          <a:xfrm>
            <a:off x="1719836" y="4403095"/>
            <a:ext cx="136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Zona filtrată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F712EB-089F-482C-A465-D557606B98C9}"/>
              </a:ext>
            </a:extLst>
          </p:cNvPr>
          <p:cNvSpPr txBox="1"/>
          <p:nvPr/>
        </p:nvSpPr>
        <p:spPr>
          <a:xfrm>
            <a:off x="2972372" y="4403095"/>
            <a:ext cx="205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σ</a:t>
            </a:r>
            <a:r>
              <a:rPr lang="ro-RO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local,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μ</a:t>
            </a:r>
            <a:r>
              <a:rPr lang="ro-RO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local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BB81A0-F4FC-4B45-B8BF-4C0DA4A3097E}"/>
              </a:ext>
            </a:extLst>
          </p:cNvPr>
          <p:cNvSpPr/>
          <p:nvPr/>
        </p:nvSpPr>
        <p:spPr>
          <a:xfrm>
            <a:off x="2822470" y="1755435"/>
            <a:ext cx="76254" cy="778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38324A-2D99-404E-B374-64F5B62A52F8}"/>
                  </a:ext>
                </a:extLst>
              </p:cNvPr>
              <p:cNvSpPr txBox="1"/>
              <p:nvPr/>
            </p:nvSpPr>
            <p:spPr>
              <a:xfrm>
                <a:off x="6097622" y="4299328"/>
                <a:ext cx="6094378" cy="577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𝑛𝑜𝑢𝑎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𝑐𝑢𝑟𝑒𝑛𝑡𝑎</m:t>
                    </m:r>
                    <m:r>
                      <a:rPr lang="ro-RO" sz="18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𝑙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  <m:t>𝑜𝑐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𝑐𝑢𝑟𝑒𝑛𝑡𝑎</m:t>
                        </m:r>
                        <m:r>
                          <a:rPr lang="ro-RO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ro-RO" i="1">
                                <a:latin typeface="Cambria Math"/>
                              </a:rPr>
                              <m:t>𝑙</m:t>
                            </m:r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𝑜𝑐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38324A-2D99-404E-B374-64F5B62A5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622" y="4299328"/>
                <a:ext cx="6094378" cy="5775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8552C9-3F23-4687-9C23-C8F218D89143}"/>
              </a:ext>
            </a:extLst>
          </p:cNvPr>
          <p:cNvCxnSpPr>
            <a:cxnSpLocks/>
            <a:stCxn id="19" idx="5"/>
            <a:endCxn id="21" idx="1"/>
          </p:cNvCxnSpPr>
          <p:nvPr/>
        </p:nvCxnSpPr>
        <p:spPr>
          <a:xfrm>
            <a:off x="2887557" y="1821859"/>
            <a:ext cx="3210065" cy="27662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52039CD-5371-45AD-B1A3-30C6B95485AA}"/>
              </a:ext>
            </a:extLst>
          </p:cNvPr>
          <p:cNvSpPr txBox="1"/>
          <p:nvPr/>
        </p:nvSpPr>
        <p:spPr>
          <a:xfrm>
            <a:off x="211837" y="55633"/>
            <a:ext cx="346304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Filtre adaptive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34E4421-8B12-4D3B-B42C-A15AFE7AE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235951"/>
              </p:ext>
            </p:extLst>
          </p:nvPr>
        </p:nvGraphicFramePr>
        <p:xfrm>
          <a:off x="0" y="4833938"/>
          <a:ext cx="6826250" cy="230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855040" imgH="2305593" progId="Word.Document.12">
                  <p:embed/>
                </p:oleObj>
              </mc:Choice>
              <mc:Fallback>
                <p:oleObj name="Document" r:id="rId6" imgW="6855040" imgH="23055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4833938"/>
                        <a:ext cx="6826250" cy="2300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8CD644-908E-4A6C-BCA1-465DD60CCBDC}"/>
                  </a:ext>
                </a:extLst>
              </p:cNvPr>
              <p:cNvSpPr txBox="1"/>
              <p:nvPr/>
            </p:nvSpPr>
            <p:spPr>
              <a:xfrm>
                <a:off x="7222702" y="5152328"/>
                <a:ext cx="4655437" cy="1667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o-R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o-RO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o-RO" dirty="0"/>
                  <a:t> (fără zgomot) </a:t>
                </a:r>
                <a:r>
                  <a:rPr lang="ro-RO" dirty="0">
                    <a:sym typeface="Wingdings" panose="05000000000000000000" pitchFamily="2" charset="2"/>
                  </a:rPr>
                  <a:t> nu se modifică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i="1">
                            <a:latin typeface="Cambria Math"/>
                          </a:rPr>
                          <m:t>𝑙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ro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ro-RO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 ~ nu se modifică</a:t>
                </a:r>
                <a:endParaRPr lang="ro-RO" i="1" dirty="0"/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i="1">
                            <a:latin typeface="Cambria Math"/>
                          </a:rPr>
                          <m:t>𝑙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ro-RO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 </a:t>
                </a:r>
                <a:r>
                  <a:rPr lang="ro-RO" dirty="0"/>
                  <a:t>filtru medie aritmetică</a:t>
                </a:r>
                <a:endParaRPr lang="en-US" dirty="0"/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i="1">
                            <a:latin typeface="Cambria Math"/>
                          </a:rPr>
                          <m:t>𝑙</m:t>
                        </m:r>
                        <m:r>
                          <a:rPr lang="ro-RO" i="1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ro-RO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ro-RO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i="1">
                                <a:latin typeface="Cambria Math"/>
                              </a:rPr>
                              <m:t>𝑙</m:t>
                            </m:r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𝑜𝑐</m:t>
                            </m:r>
                          </m:sub>
                          <m:sup>
                            <m:r>
                              <a:rPr lang="ro-RO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se </a:t>
                </a:r>
                <a:r>
                  <a:rPr lang="ro-RO" dirty="0"/>
                  <a:t>înlocuiește cu 1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58CD644-908E-4A6C-BCA1-465DD60CC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702" y="5152328"/>
                <a:ext cx="4655437" cy="1667572"/>
              </a:xfrm>
              <a:prstGeom prst="rect">
                <a:avLst/>
              </a:prstGeom>
              <a:blipFill>
                <a:blip r:embed="rId8"/>
                <a:stretch>
                  <a:fillRect l="-916" t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24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animBg="1"/>
      <p:bldP spid="14" grpId="0"/>
      <p:bldP spid="15" grpId="0"/>
      <p:bldP spid="16" grpId="0" animBg="1"/>
      <p:bldP spid="8" grpId="0" animBg="1"/>
      <p:bldP spid="17" grpId="0"/>
      <p:bldP spid="18" grpId="0"/>
      <p:bldP spid="19" grpId="0" animBg="1"/>
      <p:bldP spid="21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19009B-84DA-4C07-93D2-2FE52C3AF11E}"/>
              </a:ext>
            </a:extLst>
          </p:cNvPr>
          <p:cNvSpPr txBox="1"/>
          <p:nvPr/>
        </p:nvSpPr>
        <p:spPr>
          <a:xfrm>
            <a:off x="211837" y="531576"/>
            <a:ext cx="11446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Filtru median adaptiv</a:t>
            </a:r>
          </a:p>
          <a:p>
            <a:r>
              <a:rPr lang="ro-RO" dirty="0"/>
              <a:t>	zgomot impuls cu probabilitate mare</a:t>
            </a:r>
          </a:p>
          <a:p>
            <a:r>
              <a:rPr lang="ro-RO" dirty="0"/>
              <a:t>	păstrare detalii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2039CD-5371-45AD-B1A3-30C6B95485AA}"/>
              </a:ext>
            </a:extLst>
          </p:cNvPr>
          <p:cNvSpPr txBox="1"/>
          <p:nvPr/>
        </p:nvSpPr>
        <p:spPr>
          <a:xfrm>
            <a:off x="211837" y="55633"/>
            <a:ext cx="346304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Filtre adaptive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1F0B5F-352A-4DBE-9250-C3D14C8FA1DE}"/>
              </a:ext>
            </a:extLst>
          </p:cNvPr>
          <p:cNvSpPr txBox="1"/>
          <p:nvPr/>
        </p:nvSpPr>
        <p:spPr>
          <a:xfrm>
            <a:off x="5562600" y="1328916"/>
            <a:ext cx="6096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etapa</a:t>
            </a:r>
            <a:r>
              <a:rPr lang="en-US" sz="1600" dirty="0">
                <a:latin typeface="Consolas" panose="020B0609020204030204" pitchFamily="49" charset="0"/>
              </a:rPr>
              <a:t> 1)</a:t>
            </a:r>
            <a:endParaRPr lang="ro-RO" sz="1600" dirty="0">
              <a:latin typeface="Consolas" panose="020B0609020204030204" pitchFamily="49" charset="0"/>
            </a:endParaRPr>
          </a:p>
          <a:p>
            <a:r>
              <a:rPr lang="ro-RO" sz="1600" dirty="0">
                <a:latin typeface="Consolas" panose="020B0609020204030204" pitchFamily="49" charset="0"/>
              </a:rPr>
              <a:t>d=3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A1=</a:t>
            </a:r>
            <a:r>
              <a:rPr lang="en-US" sz="1600" dirty="0" err="1">
                <a:latin typeface="Consolas" panose="020B0609020204030204" pitchFamily="49" charset="0"/>
              </a:rPr>
              <a:t>Zmed-Zmin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A2=</a:t>
            </a:r>
            <a:r>
              <a:rPr lang="en-US" sz="1600" dirty="0" err="1">
                <a:latin typeface="Consolas" panose="020B0609020204030204" pitchFamily="49" charset="0"/>
              </a:rPr>
              <a:t>Zmed-Zmax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</a:t>
            </a:r>
            <a:r>
              <a:rPr lang="ro-RO" sz="1600" dirty="0">
                <a:latin typeface="Consolas" panose="020B0609020204030204" pitchFamily="49" charset="0"/>
              </a:rPr>
              <a:t>î</a:t>
            </a:r>
            <a:r>
              <a:rPr lang="en-US" sz="1600" dirty="0">
                <a:latin typeface="Consolas" panose="020B0609020204030204" pitchFamily="49" charset="0"/>
              </a:rPr>
              <a:t>t </a:t>
            </a:r>
            <a:r>
              <a:rPr lang="en-US" sz="1600" dirty="0" err="1">
                <a:latin typeface="Consolas" panose="020B0609020204030204" pitchFamily="49" charset="0"/>
              </a:rPr>
              <a:t>timp</a:t>
            </a:r>
            <a:r>
              <a:rPr lang="en-US" sz="1600" dirty="0">
                <a:latin typeface="Consolas" panose="020B0609020204030204" pitchFamily="49" charset="0"/>
              </a:rPr>
              <a:t> not(A1&gt;0 </a:t>
            </a:r>
            <a:r>
              <a:rPr lang="ro-RO" sz="1600" dirty="0">
                <a:latin typeface="Consolas" panose="020B0609020204030204" pitchFamily="49" charset="0"/>
              </a:rPr>
              <a:t>ș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A2&lt;0) </a:t>
            </a:r>
            <a:r>
              <a:rPr lang="ro-RO" sz="1600" dirty="0">
                <a:latin typeface="Consolas" panose="020B0609020204030204" pitchFamily="49" charset="0"/>
              </a:rPr>
              <a:t>ș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(d&lt;=</a:t>
            </a:r>
            <a:r>
              <a:rPr lang="en-US" sz="1600" dirty="0" err="1">
                <a:latin typeface="Consolas" panose="020B0609020204030204" pitchFamily="49" charset="0"/>
              </a:rPr>
              <a:t>dmax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d=d+2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dac</a:t>
            </a:r>
            <a:r>
              <a:rPr lang="ro-RO" sz="1600" dirty="0">
                <a:latin typeface="Consolas" panose="020B0609020204030204" pitchFamily="49" charset="0"/>
              </a:rPr>
              <a:t>ă</a:t>
            </a:r>
            <a:r>
              <a:rPr lang="en-US" sz="1600" dirty="0">
                <a:latin typeface="Consolas" panose="020B0609020204030204" pitchFamily="49" charset="0"/>
              </a:rPr>
              <a:t> not(d&lt;=</a:t>
            </a:r>
            <a:r>
              <a:rPr lang="en-US" sz="1600" dirty="0" err="1">
                <a:latin typeface="Consolas" panose="020B0609020204030204" pitchFamily="49" charset="0"/>
              </a:rPr>
              <a:t>dmax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g(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)=</a:t>
            </a:r>
            <a:r>
              <a:rPr lang="en-US" sz="1600" dirty="0" err="1">
                <a:latin typeface="Consolas" panose="020B0609020204030204" pitchFamily="49" charset="0"/>
              </a:rPr>
              <a:t>Zmed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A1=</a:t>
            </a:r>
            <a:r>
              <a:rPr lang="en-US" sz="1600" dirty="0" err="1">
                <a:latin typeface="Consolas" panose="020B0609020204030204" pitchFamily="49" charset="0"/>
              </a:rPr>
              <a:t>Zmed-Zmin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A2=</a:t>
            </a:r>
            <a:r>
              <a:rPr lang="en-US" sz="1600" dirty="0" err="1">
                <a:latin typeface="Consolas" panose="020B0609020204030204" pitchFamily="49" charset="0"/>
              </a:rPr>
              <a:t>Zmed-Zmax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etapa</a:t>
            </a:r>
            <a:r>
              <a:rPr lang="en-US" sz="1600" dirty="0">
                <a:latin typeface="Consolas" panose="020B0609020204030204" pitchFamily="49" charset="0"/>
              </a:rPr>
              <a:t> 2)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dac</a:t>
            </a:r>
            <a:r>
              <a:rPr lang="ro-RO" sz="1600" dirty="0">
                <a:latin typeface="Consolas" panose="020B0609020204030204" pitchFamily="49" charset="0"/>
              </a:rPr>
              <a:t>ă</a:t>
            </a:r>
            <a:r>
              <a:rPr lang="en-US" sz="1600" dirty="0">
                <a:latin typeface="Consolas" panose="020B0609020204030204" pitchFamily="49" charset="0"/>
              </a:rPr>
              <a:t> (d&lt;</a:t>
            </a:r>
            <a:r>
              <a:rPr lang="ro-RO" sz="1600" dirty="0">
                <a:latin typeface="Consolas" panose="020B0609020204030204" pitchFamily="49" charset="0"/>
              </a:rPr>
              <a:t>=</a:t>
            </a:r>
            <a:r>
              <a:rPr lang="en-US" sz="1600" dirty="0" err="1">
                <a:latin typeface="Consolas" panose="020B0609020204030204" pitchFamily="49" charset="0"/>
              </a:rPr>
              <a:t>dmax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B1=g(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)-</a:t>
            </a:r>
            <a:r>
              <a:rPr lang="en-US" sz="1600" dirty="0" err="1">
                <a:latin typeface="Consolas" panose="020B0609020204030204" pitchFamily="49" charset="0"/>
              </a:rPr>
              <a:t>Zmin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B2=g(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)-</a:t>
            </a:r>
            <a:r>
              <a:rPr lang="en-US" sz="1600" dirty="0" err="1">
                <a:latin typeface="Consolas" panose="020B0609020204030204" pitchFamily="49" charset="0"/>
              </a:rPr>
              <a:t>Zmax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dac</a:t>
            </a:r>
            <a:r>
              <a:rPr lang="ro-RO" sz="1600" dirty="0">
                <a:latin typeface="Consolas" panose="020B0609020204030204" pitchFamily="49" charset="0"/>
              </a:rPr>
              <a:t>ă</a:t>
            </a:r>
            <a:r>
              <a:rPr lang="en-US" sz="1600" dirty="0">
                <a:latin typeface="Consolas" panose="020B0609020204030204" pitchFamily="49" charset="0"/>
              </a:rPr>
              <a:t> (B1&gt;0 </a:t>
            </a:r>
            <a:r>
              <a:rPr lang="ro-RO" sz="1600" dirty="0">
                <a:latin typeface="Consolas" panose="020B0609020204030204" pitchFamily="49" charset="0"/>
              </a:rPr>
              <a:t>ș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B2&lt;0)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	g(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)=f(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altfel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		g(</a:t>
            </a:r>
            <a:r>
              <a:rPr lang="en-US" sz="1600" dirty="0" err="1">
                <a:latin typeface="Consolas" panose="020B0609020204030204" pitchFamily="49" charset="0"/>
              </a:rPr>
              <a:t>x,y</a:t>
            </a:r>
            <a:r>
              <a:rPr lang="en-US" sz="1600" dirty="0">
                <a:latin typeface="Consolas" panose="020B0609020204030204" pitchFamily="49" charset="0"/>
              </a:rPr>
              <a:t>)=</a:t>
            </a:r>
            <a:r>
              <a:rPr lang="en-US" sz="1600" dirty="0" err="1">
                <a:latin typeface="Consolas" panose="020B0609020204030204" pitchFamily="49" charset="0"/>
              </a:rPr>
              <a:t>Zmed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1F60D-44B3-4D95-9438-8196518A307F}"/>
              </a:ext>
            </a:extLst>
          </p:cNvPr>
          <p:cNvSpPr txBox="1"/>
          <p:nvPr/>
        </p:nvSpPr>
        <p:spPr>
          <a:xfrm>
            <a:off x="211837" y="1599018"/>
            <a:ext cx="60960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o-RO" sz="1600" i="1" dirty="0"/>
              <a:t>f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imaginea rezultată</a:t>
            </a:r>
          </a:p>
          <a:p>
            <a:pPr>
              <a:spcAft>
                <a:spcPts val="600"/>
              </a:spcAft>
            </a:pPr>
            <a:r>
              <a:rPr lang="ro-RO" sz="1600" i="1" dirty="0"/>
              <a:t>g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imaginea filtrată</a:t>
            </a:r>
          </a:p>
          <a:p>
            <a:pPr>
              <a:spcAft>
                <a:spcPts val="600"/>
              </a:spcAft>
            </a:pPr>
            <a:r>
              <a:rPr lang="en-US" sz="1600" i="1" dirty="0" err="1"/>
              <a:t>Zmin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cel mai mic element din fereastră</a:t>
            </a:r>
            <a:r>
              <a:rPr lang="en-US" sz="1600" dirty="0"/>
              <a:t> </a:t>
            </a:r>
            <a:endParaRPr lang="ro-RO" sz="1600" dirty="0"/>
          </a:p>
          <a:p>
            <a:pPr>
              <a:spcAft>
                <a:spcPts val="600"/>
              </a:spcAft>
            </a:pPr>
            <a:r>
              <a:rPr lang="en-US" sz="1600" i="1" dirty="0" err="1"/>
              <a:t>Zmax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cel mai mare element din fereastră</a:t>
            </a:r>
          </a:p>
          <a:p>
            <a:pPr>
              <a:spcAft>
                <a:spcPts val="600"/>
              </a:spcAft>
            </a:pPr>
            <a:r>
              <a:rPr lang="en-US" sz="1600" i="1" dirty="0" err="1"/>
              <a:t>Zmed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elementul median din fereastră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600" i="1" dirty="0"/>
              <a:t>d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dimensiunea curentă a ferestrei</a:t>
            </a:r>
          </a:p>
          <a:p>
            <a:pPr>
              <a:spcAft>
                <a:spcPts val="600"/>
              </a:spcAft>
            </a:pPr>
            <a:r>
              <a:rPr lang="en-US" sz="1600" i="1" dirty="0" err="1"/>
              <a:t>dmax</a:t>
            </a:r>
            <a:r>
              <a:rPr lang="ro-RO" sz="1600" dirty="0"/>
              <a:t> 	</a:t>
            </a:r>
            <a:r>
              <a:rPr lang="ro-RO" sz="1600" dirty="0">
                <a:sym typeface="Wingdings" panose="05000000000000000000" pitchFamily="2" charset="2"/>
              </a:rPr>
              <a:t> </a:t>
            </a:r>
            <a:r>
              <a:rPr lang="ro-RO" sz="1600" dirty="0"/>
              <a:t>dimensiunea maximă admisă a ferestrei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7524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  <p:bldP spid="28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439</Words>
  <Application>Microsoft Office PowerPoint</Application>
  <PresentationFormat>Widescreen</PresentationFormat>
  <Paragraphs>133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Document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46</cp:revision>
  <dcterms:created xsi:type="dcterms:W3CDTF">2020-11-23T08:27:21Z</dcterms:created>
  <dcterms:modified xsi:type="dcterms:W3CDTF">2024-11-28T10:57:31Z</dcterms:modified>
</cp:coreProperties>
</file>