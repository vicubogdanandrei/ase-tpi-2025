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5143500" type="screen16x9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1" d="100"/>
          <a:sy n="131" d="100"/>
        </p:scale>
        <p:origin x="144" y="5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B1BB-DC7B-49D3-A4A2-2A87161A3CBE}" type="datetimeFigureOut">
              <a:rPr lang="ro-RO" smtClean="0"/>
              <a:t>28.11.2025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C6B1-F851-4DA0-8028-99C34AE95B2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87337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B1BB-DC7B-49D3-A4A2-2A87161A3CBE}" type="datetimeFigureOut">
              <a:rPr lang="ro-RO" smtClean="0"/>
              <a:t>28.11.2025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C6B1-F851-4DA0-8028-99C34AE95B2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00454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B1BB-DC7B-49D3-A4A2-2A87161A3CBE}" type="datetimeFigureOut">
              <a:rPr lang="ro-RO" smtClean="0"/>
              <a:t>28.11.2025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C6B1-F851-4DA0-8028-99C34AE95B2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61617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B1BB-DC7B-49D3-A4A2-2A87161A3CBE}" type="datetimeFigureOut">
              <a:rPr lang="ro-RO" smtClean="0"/>
              <a:t>28.11.2025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C6B1-F851-4DA0-8028-99C34AE95B2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30236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B1BB-DC7B-49D3-A4A2-2A87161A3CBE}" type="datetimeFigureOut">
              <a:rPr lang="ro-RO" smtClean="0"/>
              <a:t>28.11.2025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C6B1-F851-4DA0-8028-99C34AE95B2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15978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B1BB-DC7B-49D3-A4A2-2A87161A3CBE}" type="datetimeFigureOut">
              <a:rPr lang="ro-RO" smtClean="0"/>
              <a:t>28.11.2025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C6B1-F851-4DA0-8028-99C34AE95B2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1997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B1BB-DC7B-49D3-A4A2-2A87161A3CBE}" type="datetimeFigureOut">
              <a:rPr lang="ro-RO" smtClean="0"/>
              <a:t>28.11.2025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C6B1-F851-4DA0-8028-99C34AE95B2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86635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B1BB-DC7B-49D3-A4A2-2A87161A3CBE}" type="datetimeFigureOut">
              <a:rPr lang="ro-RO" smtClean="0"/>
              <a:t>28.11.2025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C6B1-F851-4DA0-8028-99C34AE95B2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13462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B1BB-DC7B-49D3-A4A2-2A87161A3CBE}" type="datetimeFigureOut">
              <a:rPr lang="ro-RO" smtClean="0"/>
              <a:t>28.11.2025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C6B1-F851-4DA0-8028-99C34AE95B2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79307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B1BB-DC7B-49D3-A4A2-2A87161A3CBE}" type="datetimeFigureOut">
              <a:rPr lang="ro-RO" smtClean="0"/>
              <a:t>28.11.2025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C6B1-F851-4DA0-8028-99C34AE95B2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4907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B1BB-DC7B-49D3-A4A2-2A87161A3CBE}" type="datetimeFigureOut">
              <a:rPr lang="ro-RO" smtClean="0"/>
              <a:t>28.11.2025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C6B1-F851-4DA0-8028-99C34AE95B2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05823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CB1BB-DC7B-49D3-A4A2-2A87161A3CBE}" type="datetimeFigureOut">
              <a:rPr lang="ro-RO" smtClean="0"/>
              <a:t>28.11.2025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8C6B1-F851-4DA0-8028-99C34AE95B2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803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/>
          <p:cNvGrpSpPr/>
          <p:nvPr/>
        </p:nvGrpSpPr>
        <p:grpSpPr>
          <a:xfrm>
            <a:off x="609600" y="514351"/>
            <a:ext cx="2514600" cy="680590"/>
            <a:chOff x="609600" y="514351"/>
            <a:chExt cx="2514600" cy="680590"/>
          </a:xfrm>
        </p:grpSpPr>
        <p:sp>
          <p:nvSpPr>
            <p:cNvPr id="7" name="TextBox 6"/>
            <p:cNvSpPr txBox="1"/>
            <p:nvPr/>
          </p:nvSpPr>
          <p:spPr>
            <a:xfrm>
              <a:off x="609600" y="856387"/>
              <a:ext cx="1981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o-RO" sz="1600" dirty="0"/>
                <a:t>Imagine degradată</a:t>
              </a:r>
            </a:p>
          </p:txBody>
        </p:sp>
        <p:cxnSp>
          <p:nvCxnSpPr>
            <p:cNvPr id="33" name="Straight Arrow Connector 32"/>
            <p:cNvCxnSpPr>
              <a:stCxn id="7" idx="0"/>
            </p:cNvCxnSpPr>
            <p:nvPr/>
          </p:nvCxnSpPr>
          <p:spPr>
            <a:xfrm flipV="1">
              <a:off x="1600200" y="514351"/>
              <a:ext cx="1524000" cy="3420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/>
          <p:cNvGrpSpPr/>
          <p:nvPr/>
        </p:nvGrpSpPr>
        <p:grpSpPr>
          <a:xfrm>
            <a:off x="2743200" y="514351"/>
            <a:ext cx="2286000" cy="788311"/>
            <a:chOff x="2743200" y="514351"/>
            <a:chExt cx="2286000" cy="788311"/>
          </a:xfrm>
        </p:grpSpPr>
        <p:sp>
          <p:nvSpPr>
            <p:cNvPr id="8" name="TextBox 7"/>
            <p:cNvSpPr txBox="1"/>
            <p:nvPr/>
          </p:nvSpPr>
          <p:spPr>
            <a:xfrm>
              <a:off x="2743200" y="717887"/>
              <a:ext cx="2286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o-RO" sz="1600" dirty="0"/>
                <a:t>Impuls </a:t>
              </a:r>
            </a:p>
            <a:p>
              <a:pPr algn="ctr"/>
              <a:r>
                <a:rPr lang="ro-RO" sz="1600" dirty="0"/>
                <a:t>(factor de degradare)</a:t>
              </a:r>
            </a:p>
          </p:txBody>
        </p:sp>
        <p:cxnSp>
          <p:nvCxnSpPr>
            <p:cNvPr id="34" name="Straight Arrow Connector 33"/>
            <p:cNvCxnSpPr>
              <a:stCxn id="8" idx="0"/>
            </p:cNvCxnSpPr>
            <p:nvPr/>
          </p:nvCxnSpPr>
          <p:spPr>
            <a:xfrm flipH="1" flipV="1">
              <a:off x="3733800" y="514351"/>
              <a:ext cx="152400" cy="2035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4114800" y="514350"/>
            <a:ext cx="2895600" cy="680590"/>
            <a:chOff x="4114800" y="514350"/>
            <a:chExt cx="2895600" cy="680590"/>
          </a:xfrm>
        </p:grpSpPr>
        <p:sp>
          <p:nvSpPr>
            <p:cNvPr id="6" name="TextBox 5"/>
            <p:cNvSpPr txBox="1"/>
            <p:nvPr/>
          </p:nvSpPr>
          <p:spPr>
            <a:xfrm>
              <a:off x="5029200" y="856386"/>
              <a:ext cx="1981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o-RO" sz="1600" dirty="0"/>
                <a:t>Imagine clară</a:t>
              </a:r>
            </a:p>
          </p:txBody>
        </p:sp>
        <p:cxnSp>
          <p:nvCxnSpPr>
            <p:cNvPr id="35" name="Straight Arrow Connector 34"/>
            <p:cNvCxnSpPr>
              <a:stCxn id="6" idx="0"/>
            </p:cNvCxnSpPr>
            <p:nvPr/>
          </p:nvCxnSpPr>
          <p:spPr>
            <a:xfrm flipH="1" flipV="1">
              <a:off x="4114800" y="514350"/>
              <a:ext cx="1905000" cy="3420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/>
          <p:cNvGrpSpPr/>
          <p:nvPr/>
        </p:nvGrpSpPr>
        <p:grpSpPr>
          <a:xfrm>
            <a:off x="4648200" y="514351"/>
            <a:ext cx="4038600" cy="680590"/>
            <a:chOff x="4648200" y="514351"/>
            <a:chExt cx="4038600" cy="680590"/>
          </a:xfrm>
        </p:grpSpPr>
        <p:sp>
          <p:nvSpPr>
            <p:cNvPr id="9" name="TextBox 8"/>
            <p:cNvSpPr txBox="1"/>
            <p:nvPr/>
          </p:nvSpPr>
          <p:spPr>
            <a:xfrm>
              <a:off x="6705600" y="856387"/>
              <a:ext cx="1981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o-RO" sz="1600" dirty="0"/>
                <a:t>Zgomot </a:t>
              </a:r>
            </a:p>
          </p:txBody>
        </p:sp>
        <p:cxnSp>
          <p:nvCxnSpPr>
            <p:cNvPr id="36" name="Straight Arrow Connector 35"/>
            <p:cNvCxnSpPr>
              <a:stCxn id="9" idx="0"/>
            </p:cNvCxnSpPr>
            <p:nvPr/>
          </p:nvCxnSpPr>
          <p:spPr>
            <a:xfrm flipH="1" flipV="1">
              <a:off x="4648200" y="514351"/>
              <a:ext cx="3048000" cy="3420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F117D9F-64D0-4803-8C28-C9AAD8F32F5A}"/>
                  </a:ext>
                </a:extLst>
              </p:cNvPr>
              <p:cNvSpPr txBox="1"/>
              <p:nvPr/>
            </p:nvSpPr>
            <p:spPr>
              <a:xfrm>
                <a:off x="304800" y="209550"/>
                <a:ext cx="7391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b="1" dirty="0"/>
                  <a:t>Model liniar de degradare</a:t>
                </a:r>
                <a:r>
                  <a:rPr lang="ro-RO" sz="1600" dirty="0"/>
                  <a:t>:</a:t>
                </a:r>
                <a:r>
                  <a:rPr lang="en-US" sz="1600" dirty="0"/>
                  <a:t>	</a:t>
                </a:r>
                <a14:m>
                  <m:oMath xmlns:m="http://schemas.openxmlformats.org/officeDocument/2006/math">
                    <m:r>
                      <a:rPr lang="ro-RO" sz="1600" b="1" i="1" smtClean="0">
                        <a:latin typeface="Cambria Math"/>
                      </a:rPr>
                      <m:t>𝒈</m:t>
                    </m:r>
                    <m:r>
                      <a:rPr lang="ro-RO" sz="1600" b="1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o-RO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b="1" i="1">
                            <a:latin typeface="Cambria Math"/>
                          </a:rPr>
                          <m:t>𝒉</m:t>
                        </m:r>
                        <m:r>
                          <a:rPr lang="ro-RO" sz="1600" b="1" i="1">
                            <a:latin typeface="Cambria Math"/>
                          </a:rPr>
                          <m:t>⊗</m:t>
                        </m:r>
                        <m:r>
                          <a:rPr lang="ro-RO" sz="1600" b="1" i="1">
                            <a:latin typeface="Cambria Math"/>
                          </a:rPr>
                          <m:t>𝒇</m:t>
                        </m:r>
                      </m:e>
                    </m:d>
                    <m:r>
                      <a:rPr lang="ro-RO" sz="1600" b="1" i="1">
                        <a:latin typeface="Cambria Math"/>
                      </a:rPr>
                      <m:t>+</m:t>
                    </m:r>
                    <m:r>
                      <a:rPr lang="ro-RO" sz="1600" b="1" i="1">
                        <a:latin typeface="Cambria Math"/>
                      </a:rPr>
                      <m:t>𝜼</m:t>
                    </m:r>
                  </m:oMath>
                </a14:m>
                <a:r>
                  <a:rPr lang="en-US" sz="1600" b="1" dirty="0"/>
                  <a:t>		</a:t>
                </a:r>
                <a:r>
                  <a:rPr lang="ro-RO" sz="16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o-RO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o-RO" sz="16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𝒈</m:t>
                        </m:r>
                      </m:e>
                    </m:acc>
                    <m:r>
                      <a:rPr lang="ro-RO" sz="1600" b="1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acc>
                      <m:accPr>
                        <m:chr m:val="̂"/>
                        <m:ctrlPr>
                          <a:rPr lang="ro-RO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o-RO" sz="16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𝒉</m:t>
                        </m:r>
                      </m:e>
                    </m:acc>
                    <m:r>
                      <a:rPr lang="ro-RO" sz="1600" b="1" i="1">
                        <a:solidFill>
                          <a:schemeClr val="tx1"/>
                        </a:solidFill>
                        <a:latin typeface="Cambria Math"/>
                      </a:rPr>
                      <m:t>⋅</m:t>
                    </m:r>
                    <m:acc>
                      <m:accPr>
                        <m:chr m:val="̂"/>
                        <m:ctrlPr>
                          <a:rPr lang="ro-RO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o-RO" sz="16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𝒇</m:t>
                        </m:r>
                      </m:e>
                    </m:acc>
                    <m:r>
                      <a:rPr lang="ro-RO" sz="1600" b="1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acc>
                      <m:accPr>
                        <m:chr m:val="̂"/>
                        <m:ctrlPr>
                          <a:rPr lang="ro-RO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o-RO" sz="16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𝜼</m:t>
                        </m:r>
                      </m:e>
                    </m:acc>
                  </m:oMath>
                </a14:m>
                <a:endParaRPr lang="ro-RO" sz="1600" b="1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F117D9F-64D0-4803-8C28-C9AAD8F32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09550"/>
                <a:ext cx="7391400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660" t="-8197" b="-2459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152400" y="2190750"/>
                <a:ext cx="4495800" cy="1037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1600" b="1" dirty="0"/>
                  <a:t>Turbulențe atmosferice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i="1">
                              <a:latin typeface="Cambria Math"/>
                            </a:rPr>
                            <m:t>h</m:t>
                          </m:r>
                        </m:e>
                      </m:acc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/>
                            </a:rPr>
                            <m:t>𝑛</m:t>
                          </m:r>
                          <m:r>
                            <a:rPr lang="en-US" sz="1200" i="1">
                              <a:latin typeface="Cambria Math"/>
                            </a:rPr>
                            <m:t>,</m:t>
                          </m:r>
                          <m:r>
                            <a:rPr lang="en-US" sz="12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en-US" sz="1200" i="1">
                          <a:latin typeface="Cambria Math"/>
                        </a:rPr>
                        <m:t>=</m:t>
                      </m:r>
                      <m:r>
                        <a:rPr lang="en-US" sz="1200" i="1">
                          <a:latin typeface="Cambria Math"/>
                        </a:rPr>
                        <m:t>𝑒𝑥𝑝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/>
                            </a:rPr>
                            <m:t>−</m:t>
                          </m:r>
                          <m:r>
                            <a:rPr lang="en-US" sz="1200" i="1">
                              <a:latin typeface="Cambria Math"/>
                            </a:rPr>
                            <m:t>𝑘</m:t>
                          </m:r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i="1">
                                              <a:latin typeface="Cambria Math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200" i="1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200" i="1">
                                                  <a:latin typeface="Cambria Math"/>
                                                </a:rPr>
                                                <m:t>𝑁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200" i="1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2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200" i="1">
                                      <a:latin typeface="Cambria Math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i="1">
                                              <a:latin typeface="Cambria Math"/>
                                            </a:rPr>
                                            <m:t>𝑚</m:t>
                                          </m:r>
                                          <m:r>
                                            <a:rPr lang="en-US" sz="1200" i="1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200" i="1">
                                                  <a:latin typeface="Cambria Math"/>
                                                </a:rPr>
                                                <m:t>𝑀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200" i="1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2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1">
                                      <a:latin typeface="Cambria Math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1200" i="1">
                                      <a:latin typeface="Cambria Math"/>
                                    </a:rPr>
                                    <m:t>6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ro-RO" sz="16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2190750"/>
                <a:ext cx="4495800" cy="1037913"/>
              </a:xfrm>
              <a:prstGeom prst="rect">
                <a:avLst/>
              </a:prstGeom>
              <a:blipFill rotWithShape="1">
                <a:blip r:embed="rId3"/>
                <a:stretch>
                  <a:fillRect l="-678" t="-175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4419600" y="2190750"/>
                <a:ext cx="4419600" cy="23862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1600" b="1" dirty="0"/>
                  <a:t>Mișcare (</a:t>
                </a:r>
                <a:r>
                  <a:rPr lang="ro-RO" sz="1600" b="1" dirty="0" err="1"/>
                  <a:t>motion</a:t>
                </a:r>
                <a:r>
                  <a:rPr lang="ro-RO" sz="1600" b="1" dirty="0"/>
                  <a:t> </a:t>
                </a:r>
                <a:r>
                  <a:rPr lang="ro-RO" sz="1600" b="1" dirty="0" err="1"/>
                  <a:t>blur</a:t>
                </a:r>
                <a:r>
                  <a:rPr lang="ro-RO" sz="1600" b="1" dirty="0"/>
                  <a:t>) domeniu continuu </a:t>
                </a:r>
              </a:p>
              <a:p>
                <a:r>
                  <a:rPr lang="ro-RO" sz="1200" dirty="0"/>
                  <a:t>(acumulare a intensităților luminoase în senzor)</a:t>
                </a:r>
                <a:endParaRPr lang="ro-RO" sz="1600" dirty="0"/>
              </a:p>
              <a:p>
                <a:r>
                  <a:rPr lang="ro-RO" sz="1200" b="1" dirty="0"/>
                  <a:t>- pe X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i="1">
                              <a:latin typeface="Cambria Math"/>
                            </a:rPr>
                            <m:t>h</m:t>
                          </m:r>
                        </m:e>
                      </m:acc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/>
                            </a:rPr>
                            <m:t>𝑛</m:t>
                          </m:r>
                          <m:r>
                            <a:rPr lang="en-US" sz="1200" i="1">
                              <a:latin typeface="Cambria Math"/>
                            </a:rPr>
                            <m:t>,</m:t>
                          </m:r>
                          <m:r>
                            <a:rPr lang="en-US" sz="12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en-US" sz="12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/>
                            </a:rPr>
                            <m:t>𝑇</m:t>
                          </m:r>
                          <m:r>
                            <a:rPr lang="en-US" sz="1200" i="1">
                              <a:latin typeface="Cambria Math"/>
                            </a:rPr>
                            <m:t>∙</m:t>
                          </m:r>
                          <m:r>
                            <a:rPr lang="en-US" sz="1200" i="1">
                              <a:latin typeface="Cambria Math"/>
                            </a:rPr>
                            <m:t>𝑠𝑖𝑛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/>
                                </a:rPr>
                                <m:t>𝜋</m:t>
                              </m:r>
                              <m:r>
                                <a:rPr lang="en-US" sz="1200" i="1">
                                  <a:latin typeface="Cambria Math"/>
                                </a:rPr>
                                <m:t>∙</m:t>
                              </m:r>
                              <m:r>
                                <a:rPr lang="en-US" sz="12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/>
                                </a:rPr>
                                <m:t>∙</m:t>
                              </m:r>
                              <m:r>
                                <a:rPr lang="en-US" sz="1200" i="1">
                                  <a:latin typeface="Cambria Math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en-US" sz="1200" i="1">
                              <a:latin typeface="Cambria Math"/>
                            </a:rPr>
                            <m:t>𝜋</m:t>
                          </m:r>
                          <m:r>
                            <a:rPr lang="en-US" sz="1200" i="1">
                              <a:latin typeface="Cambria Math"/>
                            </a:rPr>
                            <m:t>∙</m:t>
                          </m:r>
                          <m:r>
                            <a:rPr lang="en-US" sz="1200" i="1">
                              <a:latin typeface="Cambria Math"/>
                            </a:rPr>
                            <m:t>𝑛</m:t>
                          </m:r>
                          <m:r>
                            <a:rPr lang="en-US" sz="1200" i="1">
                              <a:latin typeface="Cambria Math"/>
                            </a:rPr>
                            <m:t>∙</m:t>
                          </m:r>
                          <m:r>
                            <a:rPr lang="en-US" sz="1200" i="1">
                              <a:latin typeface="Cambria Math"/>
                            </a:rPr>
                            <m:t>𝑎</m:t>
                          </m:r>
                        </m:den>
                      </m:f>
                      <m:r>
                        <a:rPr lang="en-US" sz="1200" i="1">
                          <a:latin typeface="Cambria Math"/>
                        </a:rPr>
                        <m:t>𝑒𝑥𝑝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1200" i="1" smtClean="0">
                              <a:latin typeface="Cambria Math"/>
                            </a:rPr>
                            <m:t>𝜋</m:t>
                          </m:r>
                          <m:r>
                            <a:rPr lang="en-US" sz="1200" i="1" smtClean="0">
                              <a:latin typeface="Cambria Math"/>
                            </a:rPr>
                            <m:t>∙</m:t>
                          </m:r>
                          <m:r>
                            <a:rPr lang="en-US" sz="120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sz="1200" i="1" smtClean="0">
                              <a:latin typeface="Cambria Math"/>
                            </a:rPr>
                            <m:t>∙</m:t>
                          </m:r>
                          <m:r>
                            <a:rPr lang="en-US" sz="120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sz="1200" i="1" smtClean="0">
                              <a:latin typeface="Cambria Math"/>
                            </a:rPr>
                            <m:t>∙</m:t>
                          </m:r>
                          <m:r>
                            <a:rPr lang="en-US" sz="1200" i="1" smtClean="0">
                              <a:latin typeface="Cambria Math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sz="1600" dirty="0"/>
              </a:p>
              <a:p>
                <a:r>
                  <a:rPr lang="en-US" sz="1600" dirty="0"/>
                  <a:t>- </a:t>
                </a:r>
                <a:r>
                  <a:rPr lang="ro-RO" sz="1200" b="1" dirty="0"/>
                  <a:t>pe y</a:t>
                </a:r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i="1">
                              <a:latin typeface="Cambria Math"/>
                            </a:rPr>
                            <m:t>h</m:t>
                          </m:r>
                        </m:e>
                      </m:acc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/>
                            </a:rPr>
                            <m:t>𝑛</m:t>
                          </m:r>
                          <m:r>
                            <a:rPr lang="en-US" sz="1200" i="1">
                              <a:latin typeface="Cambria Math"/>
                            </a:rPr>
                            <m:t>,</m:t>
                          </m:r>
                          <m:r>
                            <a:rPr lang="en-US" sz="12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en-US" sz="12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/>
                            </a:rPr>
                            <m:t>𝑇</m:t>
                          </m:r>
                          <m:r>
                            <a:rPr lang="en-US" sz="1200" i="1">
                              <a:latin typeface="Cambria Math"/>
                            </a:rPr>
                            <m:t>∙</m:t>
                          </m:r>
                          <m:r>
                            <a:rPr lang="en-US" sz="1200" i="1">
                              <a:latin typeface="Cambria Math"/>
                            </a:rPr>
                            <m:t>𝑠𝑖𝑛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/>
                                </a:rPr>
                                <m:t>𝜋</m:t>
                              </m:r>
                              <m:r>
                                <a:rPr lang="en-US" sz="1200" i="1">
                                  <a:latin typeface="Cambria Math"/>
                                </a:rPr>
                                <m:t>∙</m:t>
                              </m:r>
                              <m:r>
                                <a:rPr lang="ro-RO" sz="1200" b="0" i="1" smtClean="0">
                                  <a:latin typeface="Cambria Math"/>
                                </a:rPr>
                                <m:t>𝑚</m:t>
                              </m:r>
                              <m:r>
                                <a:rPr lang="en-US" sz="1200" i="1">
                                  <a:latin typeface="Cambria Math"/>
                                </a:rPr>
                                <m:t>∙</m:t>
                              </m:r>
                              <m:r>
                                <a:rPr lang="ro-RO" sz="1200" b="0" i="1" smtClean="0">
                                  <a:latin typeface="Cambria Math"/>
                                </a:rPr>
                                <m:t>𝑏</m:t>
                              </m:r>
                            </m:e>
                          </m:d>
                        </m:num>
                        <m:den>
                          <m:r>
                            <a:rPr lang="en-US" sz="1200" i="1">
                              <a:latin typeface="Cambria Math"/>
                            </a:rPr>
                            <m:t>𝜋</m:t>
                          </m:r>
                          <m:r>
                            <a:rPr lang="en-US" sz="1200" i="1">
                              <a:latin typeface="Cambria Math"/>
                            </a:rPr>
                            <m:t>∙</m:t>
                          </m:r>
                          <m:r>
                            <a:rPr lang="ro-RO" sz="1200" b="0" i="1" smtClean="0">
                              <a:latin typeface="Cambria Math"/>
                            </a:rPr>
                            <m:t>𝑚</m:t>
                          </m:r>
                          <m:r>
                            <a:rPr lang="en-US" sz="1200" i="1">
                              <a:latin typeface="Cambria Math"/>
                            </a:rPr>
                            <m:t>∙</m:t>
                          </m:r>
                          <m:r>
                            <a:rPr lang="ro-RO" sz="1200" b="0" i="1" smtClean="0">
                              <a:latin typeface="Cambria Math"/>
                            </a:rPr>
                            <m:t>𝑏</m:t>
                          </m:r>
                        </m:den>
                      </m:f>
                      <m:r>
                        <a:rPr lang="en-US" sz="1200" i="1">
                          <a:latin typeface="Cambria Math"/>
                        </a:rPr>
                        <m:t>𝑒𝑥𝑝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/>
                            </a:rPr>
                            <m:t>−</m:t>
                          </m:r>
                          <m:r>
                            <a:rPr lang="en-US" sz="1200" i="1">
                              <a:latin typeface="Cambria Math"/>
                            </a:rPr>
                            <m:t>𝜋</m:t>
                          </m:r>
                          <m:r>
                            <a:rPr lang="en-US" sz="1200" i="1">
                              <a:latin typeface="Cambria Math"/>
                            </a:rPr>
                            <m:t>∙</m:t>
                          </m:r>
                          <m:r>
                            <a:rPr lang="en-US" sz="1200" i="1">
                              <a:latin typeface="Cambria Math"/>
                            </a:rPr>
                            <m:t>𝑖</m:t>
                          </m:r>
                          <m:r>
                            <a:rPr lang="en-US" sz="1200" i="1">
                              <a:latin typeface="Cambria Math"/>
                            </a:rPr>
                            <m:t>∙</m:t>
                          </m:r>
                          <m:r>
                            <a:rPr lang="ro-RO" sz="1200" b="0" i="1" smtClean="0">
                              <a:latin typeface="Cambria Math"/>
                            </a:rPr>
                            <m:t>𝑚</m:t>
                          </m:r>
                          <m:r>
                            <a:rPr lang="en-US" sz="1200" i="1">
                              <a:latin typeface="Cambria Math"/>
                            </a:rPr>
                            <m:t>∙</m:t>
                          </m:r>
                          <m:r>
                            <a:rPr lang="ro-RO" sz="1200" b="0" i="1" smtClean="0">
                              <a:latin typeface="Cambria Math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ro-RO" sz="1600" dirty="0"/>
              </a:p>
              <a:p>
                <a:r>
                  <a:rPr lang="en-US" sz="2000" dirty="0"/>
                  <a:t>- </a:t>
                </a:r>
                <a:r>
                  <a:rPr lang="ro-RO" sz="1200" b="1" dirty="0"/>
                  <a:t>pe ambele direcții</a:t>
                </a:r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i="1">
                              <a:latin typeface="Cambria Math"/>
                            </a:rPr>
                            <m:t>h</m:t>
                          </m:r>
                        </m:e>
                      </m:acc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/>
                            </a:rPr>
                            <m:t>𝑛</m:t>
                          </m:r>
                          <m:r>
                            <a:rPr lang="en-US" sz="1200" i="1">
                              <a:latin typeface="Cambria Math"/>
                            </a:rPr>
                            <m:t>,</m:t>
                          </m:r>
                          <m:r>
                            <a:rPr lang="en-US" sz="12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en-US" sz="12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/>
                            </a:rPr>
                            <m:t>𝑇</m:t>
                          </m:r>
                          <m:r>
                            <a:rPr lang="en-US" sz="1200" i="1">
                              <a:latin typeface="Cambria Math"/>
                            </a:rPr>
                            <m:t>∙</m:t>
                          </m:r>
                          <m:r>
                            <a:rPr lang="en-US" sz="1200" i="1">
                              <a:latin typeface="Cambria Math"/>
                            </a:rPr>
                            <m:t>𝑠𝑖𝑛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/>
                                </a:rPr>
                                <m:t>𝜋</m:t>
                              </m:r>
                              <m:r>
                                <a:rPr lang="en-US" sz="1200" i="1">
                                  <a:latin typeface="Cambria Math"/>
                                </a:rPr>
                                <m:t>∙</m:t>
                              </m:r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1200" i="1">
                                      <a:latin typeface="Cambria Math"/>
                                    </a:rPr>
                                    <m:t>∙</m:t>
                                  </m:r>
                                  <m:r>
                                    <a:rPr lang="en-US" sz="1200" i="1">
                                      <a:latin typeface="Cambria Math"/>
                                    </a:rPr>
                                    <m:t>𝑎</m:t>
                                  </m:r>
                                  <m:r>
                                    <a:rPr lang="en-US" sz="1200" i="1"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en-US" sz="1200" i="1">
                                      <a:latin typeface="Cambria Math"/>
                                    </a:rPr>
                                    <m:t>𝑚</m:t>
                                  </m:r>
                                  <m:r>
                                    <a:rPr lang="en-US" sz="1200" i="1">
                                      <a:latin typeface="Cambria Math"/>
                                    </a:rPr>
                                    <m:t>∙</m:t>
                                  </m:r>
                                  <m:r>
                                    <a:rPr lang="en-US" sz="1200" i="1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sz="1200" i="1">
                              <a:latin typeface="Cambria Math"/>
                            </a:rPr>
                            <m:t>𝜋</m:t>
                          </m:r>
                          <m:r>
                            <a:rPr lang="en-US" sz="1200" i="1">
                              <a:latin typeface="Cambria Math"/>
                            </a:rPr>
                            <m:t>∙</m:t>
                          </m:r>
                          <m:d>
                            <m:d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/>
                                </a:rPr>
                                <m:t>∙</m:t>
                              </m:r>
                              <m:r>
                                <a:rPr lang="en-US" sz="1200" i="1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sz="12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1200" i="1">
                                  <a:latin typeface="Cambria Math"/>
                                </a:rPr>
                                <m:t>𝑚</m:t>
                              </m:r>
                              <m:r>
                                <a:rPr lang="en-US" sz="1200" i="1">
                                  <a:latin typeface="Cambria Math"/>
                                </a:rPr>
                                <m:t>∙</m:t>
                              </m:r>
                              <m:r>
                                <a:rPr lang="en-US" sz="1200" i="1">
                                  <a:latin typeface="Cambria Math"/>
                                </a:rPr>
                                <m:t>𝑏</m:t>
                              </m:r>
                            </m:e>
                          </m:d>
                        </m:den>
                      </m:f>
                      <m:r>
                        <a:rPr lang="en-US" sz="1200" i="1">
                          <a:latin typeface="Cambria Math"/>
                        </a:rPr>
                        <m:t>𝑒𝑥𝑝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/>
                            </a:rPr>
                            <m:t>−</m:t>
                          </m:r>
                          <m:r>
                            <a:rPr lang="en-US" sz="1200" i="1">
                              <a:latin typeface="Cambria Math"/>
                            </a:rPr>
                            <m:t>𝜋</m:t>
                          </m:r>
                          <m:r>
                            <a:rPr lang="en-US" sz="1200" i="1">
                              <a:latin typeface="Cambria Math"/>
                            </a:rPr>
                            <m:t>∙</m:t>
                          </m:r>
                          <m:r>
                            <a:rPr lang="en-US" sz="1200" i="1">
                              <a:latin typeface="Cambria Math"/>
                            </a:rPr>
                            <m:t>𝑖</m:t>
                          </m:r>
                          <m:r>
                            <a:rPr lang="en-US" sz="1200" i="1">
                              <a:latin typeface="Cambria Math"/>
                            </a:rPr>
                            <m:t>∙</m:t>
                          </m:r>
                          <m:d>
                            <m:d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/>
                                </a:rPr>
                                <m:t>∙</m:t>
                              </m:r>
                              <m:r>
                                <a:rPr lang="en-US" sz="1200" i="1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sz="12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1200" i="1">
                                  <a:latin typeface="Cambria Math"/>
                                </a:rPr>
                                <m:t>𝑚</m:t>
                              </m:r>
                              <m:r>
                                <a:rPr lang="en-US" sz="1200" i="1">
                                  <a:latin typeface="Cambria Math"/>
                                </a:rPr>
                                <m:t>∙</m:t>
                              </m:r>
                              <m:r>
                                <a:rPr lang="en-US" sz="1200" i="1">
                                  <a:latin typeface="Cambria Math"/>
                                </a:rPr>
                                <m:t>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ro-RO" sz="1600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2190750"/>
                <a:ext cx="4419600" cy="2386231"/>
              </a:xfrm>
              <a:prstGeom prst="rect">
                <a:avLst/>
              </a:prstGeom>
              <a:blipFill rotWithShape="1">
                <a:blip r:embed="rId4"/>
                <a:stretch>
                  <a:fillRect l="-1379" t="-76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9" name="Picture 5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84" y="0"/>
            <a:ext cx="811846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25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6200" y="133350"/>
                <a:ext cx="4876800" cy="4888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1600" b="1" dirty="0"/>
                  <a:t>Mișcare (</a:t>
                </a:r>
                <a:r>
                  <a:rPr lang="ro-RO" sz="1600" b="1" dirty="0" err="1"/>
                  <a:t>motion</a:t>
                </a:r>
                <a:r>
                  <a:rPr lang="ro-RO" sz="1600" b="1" dirty="0"/>
                  <a:t> </a:t>
                </a:r>
                <a:r>
                  <a:rPr lang="ro-RO" sz="1600" b="1" dirty="0" err="1"/>
                  <a:t>blur</a:t>
                </a:r>
                <a:r>
                  <a:rPr lang="ro-RO" sz="1600" b="1" dirty="0"/>
                  <a:t>) domeniu discret</a:t>
                </a:r>
              </a:p>
              <a:p>
                <a:r>
                  <a:rPr lang="ro-RO" sz="1200" dirty="0"/>
                  <a:t>(acumulare a intensităților luminoase ale pixelilor în senzor)</a:t>
                </a:r>
                <a:endParaRPr lang="ro-RO" sz="1600" dirty="0"/>
              </a:p>
              <a:p>
                <a:r>
                  <a:rPr lang="ro-RO" sz="1200" b="1" dirty="0"/>
                  <a:t>- pe X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o-RO" sz="120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i="1">
                              <a:latin typeface="Cambria Math"/>
                            </a:rPr>
                            <m:t>𝑥</m:t>
                          </m:r>
                          <m:r>
                            <a:rPr lang="ro-RO" sz="1200" i="1">
                              <a:latin typeface="Cambria Math"/>
                            </a:rPr>
                            <m:t>,</m:t>
                          </m:r>
                          <m:r>
                            <a:rPr lang="ro-RO" sz="1200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ro-RO" sz="12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12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1200" i="1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o-RO" sz="1200" i="1">
                                  <a:latin typeface="Cambria Math"/>
                                </a:rPr>
                                <m:t>𝑇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o-RO" sz="1200" i="1">
                              <a:latin typeface="Cambria Math"/>
                            </a:rPr>
                            <m:t>𝑘</m:t>
                          </m:r>
                          <m:r>
                            <a:rPr lang="ro-RO" sz="1200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1200" i="1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o-RO" sz="1200" i="1">
                                  <a:latin typeface="Cambria Math"/>
                                </a:rPr>
                                <m:t>𝑇</m:t>
                              </m:r>
                            </m:sub>
                          </m:sSub>
                          <m:r>
                            <a:rPr lang="ro-RO" sz="1200" i="1">
                              <a:latin typeface="Cambria Math"/>
                            </a:rPr>
                            <m:t>−1</m:t>
                          </m:r>
                        </m:sup>
                        <m:e>
                          <m:r>
                            <a:rPr lang="ro-RO" sz="1200" i="1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2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ro-RO" sz="12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ro-RO" sz="1200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ro-RO" sz="12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ro-RO" sz="1200" i="1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  <m:r>
                        <a:rPr lang="ro-RO" sz="1200" b="0" i="1" smtClean="0">
                          <a:latin typeface="Cambria Math"/>
                        </a:rPr>
                        <m:t>,</m:t>
                      </m:r>
                      <m:r>
                        <a:rPr lang="ro-RO" sz="1200" i="1" smtClean="0">
                          <a:latin typeface="Cambria Math"/>
                        </a:rPr>
                        <m:t> </m:t>
                      </m:r>
                      <m:r>
                        <a:rPr lang="ro-RO" sz="1200" b="0" i="1" smtClean="0">
                          <a:latin typeface="Cambria Math"/>
                        </a:rPr>
                        <m:t> </m:t>
                      </m:r>
                      <m:r>
                        <a:rPr lang="ro-RO" sz="1200" i="1" smtClean="0">
                          <a:latin typeface="Cambria Math"/>
                        </a:rPr>
                        <m:t>𝑥</m:t>
                      </m:r>
                      <m:r>
                        <a:rPr lang="ro-RO" sz="1200" i="1" smtClean="0">
                          <a:latin typeface="Cambria Math"/>
                        </a:rPr>
                        <m:t>=0,1,⋯,</m:t>
                      </m:r>
                      <m:r>
                        <a:rPr lang="ro-RO" sz="1200" i="1" smtClean="0">
                          <a:latin typeface="Cambria Math"/>
                        </a:rPr>
                        <m:t>𝑁</m:t>
                      </m:r>
                      <m:r>
                        <a:rPr lang="ro-RO" sz="1200" i="1" smtClean="0">
                          <a:latin typeface="Cambria Math"/>
                        </a:rPr>
                        <m:t>−1  </m:t>
                      </m:r>
                      <m:r>
                        <a:rPr lang="ro-RO" sz="1200" i="1" smtClean="0">
                          <a:latin typeface="Cambria Math"/>
                        </a:rPr>
                        <m:t>𝑦</m:t>
                      </m:r>
                      <m:r>
                        <a:rPr lang="ro-RO" sz="1200" i="1" smtClean="0">
                          <a:latin typeface="Cambria Math"/>
                        </a:rPr>
                        <m:t>=0,1,⋯,</m:t>
                      </m:r>
                      <m:r>
                        <a:rPr lang="ro-RO" sz="1200" i="1" smtClean="0">
                          <a:latin typeface="Cambria Math"/>
                        </a:rPr>
                        <m:t>𝑀</m:t>
                      </m:r>
                      <m:r>
                        <a:rPr lang="ro-RO" sz="1200" i="1" smtClean="0"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ro-RO" sz="1200" dirty="0"/>
              </a:p>
              <a:p>
                <a:endParaRPr lang="ro-RO" sz="1200" dirty="0"/>
              </a:p>
              <a:p>
                <a:endParaRPr lang="ro-RO" sz="1200" dirty="0"/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200" i="1">
                              <a:latin typeface="Cambria Math"/>
                            </a:rPr>
                            <m:t>h</m:t>
                          </m:r>
                        </m:e>
                      </m:acc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i="1">
                              <a:latin typeface="Cambria Math"/>
                            </a:rPr>
                            <m:t>𝑛</m:t>
                          </m:r>
                          <m:r>
                            <a:rPr lang="ro-RO" sz="1200" i="1">
                              <a:latin typeface="Cambria Math"/>
                            </a:rPr>
                            <m:t>,</m:t>
                          </m:r>
                          <m:r>
                            <a:rPr lang="ro-RO" sz="12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sz="12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12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1200" i="1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o-RO" sz="1200" i="1">
                                  <a:latin typeface="Cambria Math"/>
                                </a:rPr>
                                <m:t>𝑇</m:t>
                              </m:r>
                            </m:sub>
                          </m:sSub>
                        </m:den>
                      </m:f>
                      <m:r>
                        <a:rPr lang="ro-RO" sz="1200" i="1">
                          <a:latin typeface="Cambria Math"/>
                        </a:rPr>
                        <m:t>∙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1200" i="1">
                              <a:latin typeface="Cambria Math"/>
                            </a:rPr>
                            <m:t>𝑠𝑖𝑛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200" i="1">
                                  <a:latin typeface="Cambria Math"/>
                                </a:rPr>
                                <m:t>𝜋</m:t>
                              </m:r>
                              <m:r>
                                <a:rPr lang="ro-RO" sz="1200" i="1">
                                  <a:latin typeface="Cambria Math"/>
                                </a:rPr>
                                <m:t>∙</m:t>
                              </m:r>
                              <m:f>
                                <m:f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o-RO" sz="1200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ro-RO" sz="1200" i="1">
                                      <a:latin typeface="Cambria Math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1200" i="1">
                                          <a:latin typeface="Cambria Math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ro-RO" sz="1200" i="1">
                                          <a:latin typeface="Cambria Math"/>
                                        </a:rPr>
                                        <m:t>𝑇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ro-RO" sz="1200" i="1">
                                      <a:latin typeface="Cambria Math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ro-RO" sz="1200">
                              <a:latin typeface="Cambria Math"/>
                            </a:rPr>
                            <m:t> </m:t>
                          </m:r>
                          <m:r>
                            <a:rPr lang="ro-RO" sz="1200" i="1">
                              <a:latin typeface="Cambria Math"/>
                            </a:rPr>
                            <m:t>𝑠𝑖𝑛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200" i="1">
                                  <a:latin typeface="Cambria Math"/>
                                </a:rPr>
                                <m:t>𝜋</m:t>
                              </m:r>
                              <m:r>
                                <a:rPr lang="ro-RO" sz="1200" i="1">
                                  <a:latin typeface="Cambria Math"/>
                                </a:rPr>
                                <m:t>∙</m:t>
                              </m:r>
                              <m:f>
                                <m:f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o-RO" sz="1200" i="1">
                                      <a:latin typeface="Cambria Math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ro-RO" sz="1200" i="1">
                                      <a:latin typeface="Cambria Math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ro-RO" sz="1200" i="1">
                          <a:latin typeface="Cambria Math"/>
                        </a:rPr>
                        <m:t>∙</m:t>
                      </m:r>
                      <m:r>
                        <a:rPr lang="ro-RO" sz="1200" i="1">
                          <a:latin typeface="Cambria Math"/>
                        </a:rPr>
                        <m:t>𝑒𝑥𝑝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i="1" smtClean="0">
                              <a:latin typeface="Cambria Math"/>
                            </a:rPr>
                            <m:t>−</m:t>
                          </m:r>
                          <m:r>
                            <a:rPr lang="ro-RO" sz="1200" i="1" smtClean="0">
                              <a:latin typeface="Cambria Math"/>
                            </a:rPr>
                            <m:t>𝜋</m:t>
                          </m:r>
                          <m:r>
                            <a:rPr lang="ro-RO" sz="1200" i="1" smtClean="0">
                              <a:latin typeface="Cambria Math"/>
                            </a:rPr>
                            <m:t>∙</m:t>
                          </m:r>
                          <m:r>
                            <a:rPr lang="ro-RO" sz="1200" i="1" smtClean="0">
                              <a:latin typeface="Cambria Math"/>
                            </a:rPr>
                            <m:t>𝑖</m:t>
                          </m:r>
                          <m:r>
                            <a:rPr lang="ro-RO" sz="1200" i="1" smtClean="0">
                              <a:latin typeface="Cambria Math"/>
                            </a:rPr>
                            <m:t>∙</m:t>
                          </m:r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o-RO" sz="12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ro-RO" sz="1200" i="1">
                                  <a:latin typeface="Cambria Math"/>
                                </a:rPr>
                                <m:t>∙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1200" i="1">
                                          <a:latin typeface="Cambria Math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ro-RO" sz="1200" i="1">
                                          <a:latin typeface="Cambria Math"/>
                                        </a:rPr>
                                        <m:t>𝑇</m:t>
                                      </m:r>
                                    </m:sub>
                                  </m:sSub>
                                  <m:r>
                                    <a:rPr lang="ro-RO" sz="1200" i="1">
                                      <a:latin typeface="Cambria Math"/>
                                    </a:rPr>
                                    <m:t>−1</m:t>
                                  </m:r>
                                </m:e>
                              </m:d>
                            </m:num>
                            <m:den>
                              <m:r>
                                <a:rPr lang="ro-RO" sz="1200" i="1">
                                  <a:latin typeface="Cambria Math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  <m:r>
                        <a:rPr lang="ro-RO" sz="1200" i="1">
                          <a:latin typeface="Cambria Math"/>
                        </a:rPr>
                        <m:t>, </m:t>
                      </m:r>
                      <m:r>
                        <a:rPr lang="ro-RO" sz="1200" i="1">
                          <a:latin typeface="Cambria Math"/>
                        </a:rPr>
                        <m:t>𝑛</m:t>
                      </m:r>
                      <m:r>
                        <a:rPr lang="en-US" sz="1200" i="1">
                          <a:latin typeface="Cambria Math"/>
                        </a:rPr>
                        <m:t>&gt;</m:t>
                      </m:r>
                      <m:r>
                        <a:rPr lang="ro-RO" sz="1200" i="1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ro-RO" sz="1200" dirty="0"/>
              </a:p>
              <a:p>
                <a:pPr marL="400050" lvl="1" indent="0">
                  <a:buNone/>
                </a:pPr>
                <a:endParaRPr lang="ro-RO" sz="1200" dirty="0"/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200" i="1">
                              <a:latin typeface="Cambria Math"/>
                            </a:rPr>
                            <m:t>h</m:t>
                          </m:r>
                        </m:e>
                      </m:acc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i="1">
                              <a:latin typeface="Cambria Math"/>
                            </a:rPr>
                            <m:t>0,</m:t>
                          </m:r>
                          <m:r>
                            <a:rPr lang="ro-RO" sz="12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sz="1200" i="1">
                          <a:latin typeface="Cambria Math"/>
                        </a:rPr>
                        <m:t>=1,  </m:t>
                      </m:r>
                      <m:r>
                        <a:rPr lang="ro-RO" sz="1200" i="1">
                          <a:latin typeface="Cambria Math"/>
                        </a:rPr>
                        <m:t>𝑚</m:t>
                      </m:r>
                      <m:r>
                        <a:rPr lang="ro-RO" sz="1200" i="1">
                          <a:latin typeface="Cambria Math"/>
                        </a:rPr>
                        <m:t>=0,1,⋯,</m:t>
                      </m:r>
                      <m:r>
                        <a:rPr lang="ro-RO" sz="1200" i="1">
                          <a:latin typeface="Cambria Math"/>
                        </a:rPr>
                        <m:t>𝑀</m:t>
                      </m:r>
                      <m:r>
                        <a:rPr lang="ro-RO" sz="1200" i="1"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US" sz="1200" dirty="0"/>
              </a:p>
              <a:p>
                <a:endParaRPr lang="en-US" sz="1200" dirty="0"/>
              </a:p>
              <a:p>
                <a:r>
                  <a:rPr lang="en-US" sz="1600" dirty="0"/>
                  <a:t>- </a:t>
                </a:r>
                <a:r>
                  <a:rPr lang="ro-RO" sz="1200" b="1" dirty="0"/>
                  <a:t>pe y</a:t>
                </a:r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o-RO" sz="120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i="1">
                              <a:latin typeface="Cambria Math"/>
                            </a:rPr>
                            <m:t>𝑥</m:t>
                          </m:r>
                          <m:r>
                            <a:rPr lang="ro-RO" sz="1200" i="1">
                              <a:latin typeface="Cambria Math"/>
                            </a:rPr>
                            <m:t>,</m:t>
                          </m:r>
                          <m:r>
                            <a:rPr lang="ro-RO" sz="1200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ro-RO" sz="12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12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1200" i="1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o-RO" sz="1200" i="1">
                                  <a:latin typeface="Cambria Math"/>
                                </a:rPr>
                                <m:t>𝑇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o-RO" sz="1200" i="1">
                              <a:latin typeface="Cambria Math"/>
                            </a:rPr>
                            <m:t>𝑘</m:t>
                          </m:r>
                          <m:r>
                            <a:rPr lang="ro-RO" sz="1200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1200" i="1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o-RO" sz="1200" i="1">
                                  <a:latin typeface="Cambria Math"/>
                                </a:rPr>
                                <m:t>𝑇</m:t>
                              </m:r>
                            </m:sub>
                          </m:sSub>
                          <m:r>
                            <a:rPr lang="ro-RO" sz="1200" i="1">
                              <a:latin typeface="Cambria Math"/>
                            </a:rPr>
                            <m:t>−1</m:t>
                          </m:r>
                        </m:sup>
                        <m:e>
                          <m:r>
                            <a:rPr lang="ro-RO" sz="1200" i="1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2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ro-RO" sz="12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ro-RO" sz="1200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ro-RO" sz="12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ro-RO" sz="1200" i="1">
                                  <a:latin typeface="Cambria Math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  <m:r>
                        <a:rPr lang="ro-RO" sz="1200" i="1">
                          <a:latin typeface="Cambria Math"/>
                        </a:rPr>
                        <m:t>        </m:t>
                      </m:r>
                      <m:r>
                        <a:rPr lang="ro-RO" sz="1200" i="1">
                          <a:latin typeface="Cambria Math"/>
                        </a:rPr>
                        <m:t>𝑥</m:t>
                      </m:r>
                      <m:r>
                        <a:rPr lang="ro-RO" sz="1200" i="1">
                          <a:latin typeface="Cambria Math"/>
                        </a:rPr>
                        <m:t>=0,1,⋯,</m:t>
                      </m:r>
                      <m:r>
                        <a:rPr lang="ro-RO" sz="1200" i="1">
                          <a:latin typeface="Cambria Math"/>
                        </a:rPr>
                        <m:t>𝑁</m:t>
                      </m:r>
                      <m:r>
                        <a:rPr lang="ro-RO" sz="1200" i="1">
                          <a:latin typeface="Cambria Math"/>
                        </a:rPr>
                        <m:t>−1  </m:t>
                      </m:r>
                      <m:r>
                        <a:rPr lang="ro-RO" sz="1200" i="1">
                          <a:latin typeface="Cambria Math"/>
                        </a:rPr>
                        <m:t>𝑦</m:t>
                      </m:r>
                      <m:r>
                        <a:rPr lang="ro-RO" sz="1200" i="1">
                          <a:latin typeface="Cambria Math"/>
                        </a:rPr>
                        <m:t>=0,1,⋯,</m:t>
                      </m:r>
                      <m:r>
                        <a:rPr lang="ro-RO" sz="1200" i="1">
                          <a:latin typeface="Cambria Math"/>
                        </a:rPr>
                        <m:t>𝑀</m:t>
                      </m:r>
                      <m:r>
                        <a:rPr lang="ro-RO" sz="1200" i="1"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ro-RO" sz="1200" dirty="0"/>
              </a:p>
              <a:p>
                <a:endParaRPr lang="en-US" sz="120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200" i="1">
                              <a:latin typeface="Cambria Math"/>
                            </a:rPr>
                            <m:t>h</m:t>
                          </m:r>
                        </m:e>
                      </m:acc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i="1">
                              <a:latin typeface="Cambria Math"/>
                            </a:rPr>
                            <m:t>𝑛</m:t>
                          </m:r>
                          <m:r>
                            <a:rPr lang="ro-RO" sz="1200" i="1">
                              <a:latin typeface="Cambria Math"/>
                            </a:rPr>
                            <m:t>,</m:t>
                          </m:r>
                          <m:r>
                            <a:rPr lang="ro-RO" sz="1200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ro-RO" sz="12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12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1200" i="1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o-RO" sz="1200" i="1">
                                  <a:latin typeface="Cambria Math"/>
                                </a:rPr>
                                <m:t>𝑇</m:t>
                              </m:r>
                            </m:sub>
                          </m:sSub>
                        </m:den>
                      </m:f>
                      <m:r>
                        <a:rPr lang="ro-RO" sz="1200" i="1">
                          <a:latin typeface="Cambria Math"/>
                        </a:rPr>
                        <m:t>∙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1200" i="1">
                              <a:latin typeface="Cambria Math"/>
                            </a:rPr>
                            <m:t>𝑠𝑖𝑛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200" i="1">
                                  <a:latin typeface="Cambria Math"/>
                                </a:rPr>
                                <m:t>𝜋</m:t>
                              </m:r>
                              <m:r>
                                <a:rPr lang="ro-RO" sz="1200" i="1">
                                  <a:latin typeface="Cambria Math"/>
                                </a:rPr>
                                <m:t>∙</m:t>
                              </m:r>
                              <m:f>
                                <m:f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o-RO" sz="1200" i="1">
                                      <a:latin typeface="Cambria Math"/>
                                    </a:rPr>
                                    <m:t>𝑚</m:t>
                                  </m:r>
                                  <m:r>
                                    <a:rPr lang="ro-RO" sz="1200" i="1">
                                      <a:latin typeface="Cambria Math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1200" i="1">
                                          <a:latin typeface="Cambria Math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ro-RO" sz="1200" i="1">
                                          <a:latin typeface="Cambria Math"/>
                                        </a:rPr>
                                        <m:t>𝑇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ro-RO" sz="1200" i="1">
                                      <a:latin typeface="Cambria Math"/>
                                    </a:rPr>
                                    <m:t>𝑀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ro-RO" sz="1200">
                              <a:latin typeface="Cambria Math"/>
                            </a:rPr>
                            <m:t> </m:t>
                          </m:r>
                          <m:r>
                            <a:rPr lang="ro-RO" sz="1200" i="1">
                              <a:latin typeface="Cambria Math"/>
                            </a:rPr>
                            <m:t>𝑠𝑖𝑛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200" i="1">
                                  <a:latin typeface="Cambria Math"/>
                                </a:rPr>
                                <m:t>𝜋</m:t>
                              </m:r>
                              <m:r>
                                <a:rPr lang="ro-RO" sz="1200" i="1">
                                  <a:latin typeface="Cambria Math"/>
                                </a:rPr>
                                <m:t>∙</m:t>
                              </m:r>
                              <m:f>
                                <m:f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o-RO" sz="1200" i="1">
                                      <a:latin typeface="Cambria Math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ro-RO" sz="1200" i="1">
                                      <a:latin typeface="Cambria Math"/>
                                    </a:rPr>
                                    <m:t>𝑀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ro-RO" sz="1200" i="1">
                          <a:latin typeface="Cambria Math"/>
                        </a:rPr>
                        <m:t>∙</m:t>
                      </m:r>
                      <m:r>
                        <a:rPr lang="ro-RO" sz="1200" i="1">
                          <a:latin typeface="Cambria Math"/>
                        </a:rPr>
                        <m:t>𝑒𝑥𝑝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i="1">
                              <a:latin typeface="Cambria Math"/>
                            </a:rPr>
                            <m:t>−</m:t>
                          </m:r>
                          <m:r>
                            <a:rPr lang="ro-RO" sz="1200" i="1">
                              <a:latin typeface="Cambria Math"/>
                            </a:rPr>
                            <m:t>𝜋</m:t>
                          </m:r>
                          <m:r>
                            <a:rPr lang="ro-RO" sz="1200" i="1">
                              <a:latin typeface="Cambria Math"/>
                            </a:rPr>
                            <m:t>∙</m:t>
                          </m:r>
                          <m:r>
                            <a:rPr lang="ro-RO" sz="1200" i="1">
                              <a:latin typeface="Cambria Math"/>
                            </a:rPr>
                            <m:t>𝑖</m:t>
                          </m:r>
                          <m:r>
                            <a:rPr lang="ro-RO" sz="1200" i="1">
                              <a:latin typeface="Cambria Math"/>
                            </a:rPr>
                            <m:t>∙</m:t>
                          </m:r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o-RO" sz="1200" i="1">
                                  <a:latin typeface="Cambria Math"/>
                                </a:rPr>
                                <m:t>𝑚</m:t>
                              </m:r>
                              <m:r>
                                <a:rPr lang="ro-RO" sz="1200" i="1">
                                  <a:latin typeface="Cambria Math"/>
                                </a:rPr>
                                <m:t>∙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1200" i="1">
                                          <a:latin typeface="Cambria Math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ro-RO" sz="1200" i="1">
                                          <a:latin typeface="Cambria Math"/>
                                        </a:rPr>
                                        <m:t>𝑇</m:t>
                                      </m:r>
                                    </m:sub>
                                  </m:sSub>
                                  <m:r>
                                    <a:rPr lang="ro-RO" sz="1200" i="1">
                                      <a:latin typeface="Cambria Math"/>
                                    </a:rPr>
                                    <m:t>−1</m:t>
                                  </m:r>
                                </m:e>
                              </m:d>
                            </m:num>
                            <m:den>
                              <m:r>
                                <a:rPr lang="ro-RO" sz="1200" i="1">
                                  <a:latin typeface="Cambria Math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ro-RO" sz="1200" dirty="0"/>
              </a:p>
              <a:p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200" i="1">
                              <a:latin typeface="Cambria Math"/>
                            </a:rPr>
                            <m:t>h</m:t>
                          </m:r>
                        </m:e>
                      </m:acc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i="1">
                              <a:latin typeface="Cambria Math"/>
                            </a:rPr>
                            <m:t>𝑛</m:t>
                          </m:r>
                          <m:r>
                            <a:rPr lang="ro-RO" sz="1200" i="1">
                              <a:latin typeface="Cambria Math"/>
                            </a:rPr>
                            <m:t>,0</m:t>
                          </m:r>
                        </m:e>
                      </m:d>
                      <m:r>
                        <a:rPr lang="ro-RO" sz="1200" i="1">
                          <a:latin typeface="Cambria Math"/>
                        </a:rPr>
                        <m:t>=1,  </m:t>
                      </m:r>
                      <m:r>
                        <a:rPr lang="ro-RO" sz="1200" i="1">
                          <a:latin typeface="Cambria Math"/>
                        </a:rPr>
                        <m:t>𝑛</m:t>
                      </m:r>
                      <m:r>
                        <a:rPr lang="ro-RO" sz="1200" i="1">
                          <a:latin typeface="Cambria Math"/>
                        </a:rPr>
                        <m:t>=0,1,⋯,</m:t>
                      </m:r>
                      <m:r>
                        <a:rPr lang="ro-RO" sz="1200" i="1">
                          <a:latin typeface="Cambria Math"/>
                        </a:rPr>
                        <m:t>𝑁</m:t>
                      </m:r>
                      <m:r>
                        <a:rPr lang="ro-RO" sz="1200" i="1"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133350"/>
                <a:ext cx="4876800" cy="4888133"/>
              </a:xfrm>
              <a:prstGeom prst="rect">
                <a:avLst/>
              </a:prstGeom>
              <a:blipFill rotWithShape="1">
                <a:blip r:embed="rId2"/>
                <a:stretch>
                  <a:fillRect l="-750" t="-37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953000" y="116359"/>
                <a:ext cx="4191001" cy="4962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1600" b="1" dirty="0"/>
                  <a:t>Mască de voalare</a:t>
                </a:r>
                <a:endParaRPr lang="en-US" sz="16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1200" i="1">
                              <a:latin typeface="Cambria Math"/>
                            </a:rPr>
                            <m:t>𝑠𝑢𝑚𝑎</m:t>
                          </m:r>
                          <m:r>
                            <a:rPr lang="en-US" sz="1200" i="1">
                              <a:latin typeface="Cambria Math"/>
                            </a:rPr>
                            <m:t> </m:t>
                          </m:r>
                          <m:r>
                            <a:rPr lang="en-US" sz="1200" i="1">
                              <a:latin typeface="Cambria Math"/>
                            </a:rPr>
                            <m:t>𝑒𝑙𝑒𝑚𝑒𝑛𝑡𝑒𝑙𝑜𝑟</m:t>
                          </m:r>
                          <m:r>
                            <a:rPr lang="en-US" sz="1200" i="1">
                              <a:latin typeface="Cambria Math"/>
                            </a:rPr>
                            <m:t> </m:t>
                          </m:r>
                          <m:r>
                            <a:rPr lang="en-US" sz="1200" i="1">
                              <a:latin typeface="Cambria Math"/>
                            </a:rPr>
                            <m:t>𝑓𝑖𝑙𝑡𝑟𝑢𝑙𝑢𝑖</m:t>
                          </m:r>
                        </m:den>
                      </m:f>
                      <m:r>
                        <a:rPr lang="en-US" sz="1200" i="1">
                          <a:latin typeface="Cambria Math"/>
                        </a:rPr>
                        <m:t>×</m:t>
                      </m:r>
                    </m:oMath>
                  </m:oMathPara>
                </a14:m>
                <a:endParaRPr lang="en-US" sz="1200" b="1" dirty="0"/>
              </a:p>
              <a:p>
                <a:endParaRPr lang="en-US" sz="1200" b="1" dirty="0"/>
              </a:p>
              <a:p>
                <a:r>
                  <a:rPr lang="ro-RO" sz="1200" dirty="0"/>
                  <a:t>Mască orizontală cu voalare uniformă 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o-RO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ro-RO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o-RO" sz="1200" dirty="0"/>
              </a:p>
              <a:p>
                <a:endParaRPr lang="ro-RO" sz="1200" dirty="0"/>
              </a:p>
              <a:p>
                <a:r>
                  <a:rPr lang="ro-RO" sz="1200" dirty="0"/>
                  <a:t>Mască verticală ponderată central 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o-RO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ro-RO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o-RO" sz="1200" dirty="0"/>
              </a:p>
              <a:p>
                <a:endParaRPr lang="ro-RO" sz="1200" dirty="0"/>
              </a:p>
              <a:p>
                <a:r>
                  <a:rPr lang="ro-RO" sz="1200" dirty="0"/>
                  <a:t>Mască diagonală cu distribuție normală 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o-RO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ro-RO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o-RO" sz="1200" dirty="0"/>
              </a:p>
              <a:p>
                <a:endParaRPr lang="ro-RO" sz="1200" dirty="0"/>
              </a:p>
              <a:p>
                <a:r>
                  <a:rPr lang="ro-RO" sz="1200" dirty="0"/>
                  <a:t>Mască circulară cu distribuție normală 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o-RO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ro-RO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o-RO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116359"/>
                <a:ext cx="4191001" cy="4962833"/>
              </a:xfrm>
              <a:prstGeom prst="rect">
                <a:avLst/>
              </a:prstGeom>
              <a:blipFill rotWithShape="1">
                <a:blip r:embed="rId3"/>
                <a:stretch>
                  <a:fillRect l="-873" t="-36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5980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117D9F-64D0-4803-8C28-C9AAD8F32F5A}"/>
              </a:ext>
            </a:extLst>
          </p:cNvPr>
          <p:cNvSpPr txBox="1"/>
          <p:nvPr/>
        </p:nvSpPr>
        <p:spPr>
          <a:xfrm>
            <a:off x="304800" y="209550"/>
            <a:ext cx="739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Filtru invers</a:t>
            </a:r>
            <a:r>
              <a:rPr lang="ro-RO" sz="1600" dirty="0"/>
              <a:t>	</a:t>
            </a:r>
            <a:endParaRPr lang="ro-RO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117D9F-64D0-4803-8C28-C9AAD8F32F5A}"/>
                  </a:ext>
                </a:extLst>
              </p:cNvPr>
              <p:cNvSpPr txBox="1"/>
              <p:nvPr/>
            </p:nvSpPr>
            <p:spPr>
              <a:xfrm>
                <a:off x="381000" y="895350"/>
                <a:ext cx="8382000" cy="507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o-RO" sz="1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  <m:d>
                        <m:dPr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o-RO" sz="12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ro-RO" sz="120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d>
                        <m:dPr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o-RO" sz="12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ro-RO" sz="120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o-RO" sz="12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ro-RO" sz="1200" b="0" i="1" smtClean="0">
                          <a:latin typeface="Cambria Math"/>
                        </a:rPr>
                        <m:t>   </m:t>
                      </m:r>
                      <m:r>
                        <a:rPr lang="ro-RO" sz="1200" b="0" i="1" smtClean="0">
                          <a:latin typeface="Cambria Math"/>
                          <a:ea typeface="Cambria Math"/>
                        </a:rPr>
                        <m:t>→    </m:t>
                      </m:r>
                      <m:acc>
                        <m:accPr>
                          <m:chr m:val="̂"/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o-RO" sz="12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ro-RO" sz="120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  <m:d>
                        <m:dPr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o-RO" sz="12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ro-RO" sz="1200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12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acc>
                            <m:accPr>
                              <m:chr m:val="̂"/>
                              <m:ctrlPr>
                                <a:rPr lang="ro-RO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  <m:d>
                            <m:dPr>
                              <m:ctrlPr>
                                <a:rPr lang="ro-RO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o-RO" sz="1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den>
                      </m:f>
                      <m:r>
                        <a:rPr lang="ro-RO" sz="1200" b="0" i="1" smtClean="0">
                          <a:latin typeface="Cambria Math"/>
                        </a:rPr>
                        <m:t>    </m:t>
                      </m:r>
                      <m:r>
                        <a:rPr lang="ro-RO" sz="1200" b="0" i="1" smtClean="0">
                          <a:latin typeface="Cambria Math"/>
                          <a:ea typeface="Cambria Math"/>
                        </a:rPr>
                        <m:t>→      </m:t>
                      </m:r>
                      <m:r>
                        <a:rPr lang="ro-RO" sz="1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ro-RO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1200" i="1">
                          <a:latin typeface="Cambria Math" panose="02040503050406030204" pitchFamily="18" charset="0"/>
                        </a:rPr>
                        <m:t>𝑇𝐹𝐷𝐼</m:t>
                      </m:r>
                      <m:d>
                        <m:dPr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ro-RO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d>
                            <m:dPr>
                              <m:ctrlPr>
                                <a:rPr lang="ro-RO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ro-RO" sz="1200" i="1">
                              <a:latin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ro-RO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o-RO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acc>
                                <m:accPr>
                                  <m:chr m:val="̂"/>
                                  <m:ctrlPr>
                                    <a:rPr lang="ro-RO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o-RO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ro-RO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ro-RO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o-RO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ro-RO" sz="12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F117D9F-64D0-4803-8C28-C9AAD8F32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895350"/>
                <a:ext cx="8382000" cy="5073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117D9F-64D0-4803-8C28-C9AAD8F32F5A}"/>
                  </a:ext>
                </a:extLst>
              </p:cNvPr>
              <p:cNvSpPr txBox="1"/>
              <p:nvPr/>
            </p:nvSpPr>
            <p:spPr>
              <a:xfrm>
                <a:off x="304800" y="1830345"/>
                <a:ext cx="8382000" cy="31586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1400" b="1" dirty="0"/>
                  <a:t>Probleme posibile</a:t>
                </a:r>
              </a:p>
              <a:p>
                <a:endParaRPr lang="ro-RO" sz="1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o-RO" sz="1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200" b="1" i="1">
                              <a:latin typeface="Cambria Math"/>
                            </a:rPr>
                            <m:t>𝒉</m:t>
                          </m:r>
                        </m:e>
                      </m:acc>
                      <m:d>
                        <m:dPr>
                          <m:ctrlPr>
                            <a:rPr lang="ro-RO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b="1" i="1">
                              <a:latin typeface="Cambria Math"/>
                            </a:rPr>
                            <m:t>𝒏</m:t>
                          </m:r>
                          <m:r>
                            <a:rPr lang="ro-RO" sz="1200" b="1" i="1">
                              <a:latin typeface="Cambria Math"/>
                            </a:rPr>
                            <m:t>,</m:t>
                          </m:r>
                          <m:r>
                            <a:rPr lang="ro-RO" sz="1200" b="1" i="1">
                              <a:latin typeface="Cambria Math"/>
                            </a:rPr>
                            <m:t>𝒎</m:t>
                          </m:r>
                        </m:e>
                      </m:d>
                      <m:r>
                        <a:rPr lang="ro-RO" sz="1200" b="1" i="1">
                          <a:latin typeface="Cambria Math"/>
                        </a:rPr>
                        <m:t>=</m:t>
                      </m:r>
                      <m:r>
                        <a:rPr lang="ro-RO" sz="1200" b="1" i="1">
                          <a:latin typeface="Cambria Math"/>
                        </a:rPr>
                        <m:t>𝟎</m:t>
                      </m:r>
                      <m:r>
                        <a:rPr lang="ro-RO" sz="1200" i="1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ro-RO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ro-RO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ro-RO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o-RO" sz="1200" i="1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ro-RO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200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ro-RO" sz="12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ro-RO" sz="12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d>
                            </m:e>
                          </m:d>
                          <m:r>
                            <a:rPr lang="ro-RO" sz="1200" i="1">
                              <a:latin typeface="Cambria Math"/>
                            </a:rPr>
                            <m:t>&lt;</m:t>
                          </m:r>
                          <m:r>
                            <a:rPr lang="ro-RO" sz="1200" i="1">
                              <a:latin typeface="Cambria Math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ro-RO" sz="1200" i="1" dirty="0"/>
              </a:p>
              <a:p>
                <a:endParaRPr lang="ro-RO" sz="1200" i="1" dirty="0"/>
              </a:p>
              <a:p>
                <a:r>
                  <a:rPr lang="ro-RO" sz="1200" b="0" dirty="0">
                    <a:ea typeface="Cambria Math"/>
                  </a:rPr>
                  <a:t>	</a:t>
                </a:r>
                <a14:m>
                  <m:oMath xmlns:m="http://schemas.openxmlformats.org/officeDocument/2006/math">
                    <m:r>
                      <a:rPr lang="ro-RO" sz="1200" b="0" i="1" smtClean="0">
                        <a:latin typeface="Cambria Math"/>
                        <a:ea typeface="Cambria Math"/>
                      </a:rPr>
                      <m:t>→    </m:t>
                    </m:r>
                    <m:acc>
                      <m:accPr>
                        <m:chr m:val="̂"/>
                        <m:ctrlPr>
                          <a:rPr lang="ro-RO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o-RO" sz="1200" i="1">
                            <a:latin typeface="Cambria Math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ro-RO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200" i="1">
                            <a:latin typeface="Cambria Math"/>
                          </a:rPr>
                          <m:t>𝑛</m:t>
                        </m:r>
                        <m:r>
                          <a:rPr lang="ro-RO" sz="1200">
                            <a:latin typeface="Cambria Math"/>
                          </a:rPr>
                          <m:t>,</m:t>
                        </m:r>
                        <m:r>
                          <a:rPr lang="ro-RO" sz="1200" i="1">
                            <a:latin typeface="Cambria Math"/>
                          </a:rPr>
                          <m:t>𝑚</m:t>
                        </m:r>
                      </m:e>
                    </m:d>
                    <m:r>
                      <a:rPr lang="ro-RO" sz="1200">
                        <a:latin typeface="Cambria Math"/>
                      </a:rPr>
                      <m:t>=</m:t>
                    </m:r>
                    <m:acc>
                      <m:accPr>
                        <m:chr m:val="̂"/>
                        <m:ctrlPr>
                          <a:rPr lang="ro-RO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o-RO" sz="1200" i="1">
                            <a:latin typeface="Cambria Math"/>
                          </a:rPr>
                          <m:t>𝑔</m:t>
                        </m:r>
                      </m:e>
                    </m:acc>
                    <m:d>
                      <m:dPr>
                        <m:ctrlPr>
                          <a:rPr lang="ro-RO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200" i="1">
                            <a:latin typeface="Cambria Math"/>
                          </a:rPr>
                          <m:t>𝑛</m:t>
                        </m:r>
                        <m:r>
                          <a:rPr lang="ro-RO" sz="1200">
                            <a:latin typeface="Cambria Math"/>
                          </a:rPr>
                          <m:t>,</m:t>
                        </m:r>
                        <m:r>
                          <a:rPr lang="ro-RO" sz="1200" i="1">
                            <a:latin typeface="Cambria Math"/>
                          </a:rPr>
                          <m:t>𝑚</m:t>
                        </m:r>
                      </m:e>
                    </m:d>
                  </m:oMath>
                </a14:m>
                <a:endParaRPr lang="ro-RO" sz="1200" b="0" i="1" dirty="0">
                  <a:latin typeface="Cambria Math"/>
                </a:endParaRPr>
              </a:p>
              <a:p>
                <a:endParaRPr lang="ro-RO" sz="1200" b="0" i="1" dirty="0">
                  <a:latin typeface="Cambria Math"/>
                  <a:ea typeface="Cambria Math"/>
                </a:endParaRPr>
              </a:p>
              <a:p>
                <a:r>
                  <a:rPr lang="ro-RO" sz="1200" b="0" dirty="0">
                    <a:ea typeface="Cambria Math"/>
                  </a:rPr>
                  <a:t>	</a:t>
                </a:r>
                <a14:m>
                  <m:oMath xmlns:m="http://schemas.openxmlformats.org/officeDocument/2006/math">
                    <m:r>
                      <a:rPr lang="ro-RO" sz="1200" b="0" i="1" smtClean="0">
                        <a:latin typeface="Cambria Math"/>
                        <a:ea typeface="Cambria Math"/>
                      </a:rPr>
                      <m:t>→    </m:t>
                    </m:r>
                    <m:r>
                      <a:rPr lang="ro-RO" sz="1200" b="0" i="1" smtClean="0">
                        <a:latin typeface="Cambria Math"/>
                      </a:rPr>
                      <m:t>𝑓𝑖𝑙𝑡𝑟𝑎𝑟𝑒</m:t>
                    </m:r>
                    <m:r>
                      <a:rPr lang="ro-RO" sz="1200" b="0" i="1" smtClean="0">
                        <a:latin typeface="Cambria Math"/>
                      </a:rPr>
                      <m:t> </m:t>
                    </m:r>
                    <m:r>
                      <a:rPr lang="ro-RO" sz="1200" b="0" i="1" smtClean="0">
                        <a:latin typeface="Cambria Math"/>
                      </a:rPr>
                      <m:t>𝑡𝑟𝑒𝑐𝑒</m:t>
                    </m:r>
                    <m:r>
                      <a:rPr lang="ro-RO" sz="1200" b="0" i="1" smtClean="0">
                        <a:latin typeface="Cambria Math"/>
                      </a:rPr>
                      <m:t>−</m:t>
                    </m:r>
                    <m:r>
                      <a:rPr lang="ro-RO" sz="1200" b="0" i="1" smtClean="0">
                        <a:latin typeface="Cambria Math"/>
                      </a:rPr>
                      <m:t>𝑗𝑜𝑠</m:t>
                    </m:r>
                  </m:oMath>
                </a14:m>
                <a:endParaRPr lang="ro-RO" sz="1200" b="1" dirty="0"/>
              </a:p>
              <a:p>
                <a:endParaRPr lang="ro-RO" sz="1200" b="1" dirty="0"/>
              </a:p>
              <a:p>
                <a:r>
                  <a:rPr lang="ro-RO" sz="1200" b="1" dirty="0"/>
                  <a:t>Pierdere de informație la achiziție</a:t>
                </a:r>
              </a:p>
              <a:p>
                <a:r>
                  <a:rPr lang="ro-RO" sz="1200" b="1" dirty="0"/>
                  <a:t>	</a:t>
                </a:r>
                <a:r>
                  <a:rPr lang="ro-RO" sz="1200" b="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ro-RO" sz="1200" b="0" i="1" smtClean="0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ro-RO" sz="1200" b="1" dirty="0"/>
                  <a:t> </a:t>
                </a:r>
                <a:r>
                  <a:rPr lang="ro-RO" sz="1200" dirty="0"/>
                  <a:t>imposibilitate restaurare</a:t>
                </a:r>
              </a:p>
              <a:p>
                <a:endParaRPr lang="ro-RO" sz="1200" b="1" dirty="0"/>
              </a:p>
              <a:p>
                <a:r>
                  <a:rPr lang="ro-RO" sz="1200" b="1" dirty="0"/>
                  <a:t>Zgomot: necunoscut, posibil dominant</a:t>
                </a:r>
              </a:p>
              <a:p>
                <a:pPr marL="9144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o-RO" sz="12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200" b="1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  <m:d>
                        <m:dPr>
                          <m:ctrlPr>
                            <a:rPr lang="ro-RO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b="1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o-RO" sz="12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o-RO" sz="1200" b="1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ro-RO" sz="12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ro-RO" sz="12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200" b="1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d>
                        <m:dPr>
                          <m:ctrlPr>
                            <a:rPr lang="ro-RO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b="1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o-RO" sz="12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o-RO" sz="1200" b="1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ro-RO" sz="1200" b="1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ro-RO" sz="12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200" b="1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ro-RO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b="1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o-RO" sz="12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o-RO" sz="1200" b="1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ro-RO" sz="12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ro-RO" sz="12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200" b="1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acc>
                      <m:d>
                        <m:dPr>
                          <m:ctrlPr>
                            <a:rPr lang="ro-RO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b="1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o-RO" sz="12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o-RO" sz="1200" b="1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ro-RO" sz="1200" b="1" i="0" smtClean="0">
                          <a:latin typeface="Cambria Math"/>
                        </a:rPr>
                        <m:t>      </m:t>
                      </m:r>
                      <m:r>
                        <a:rPr lang="ro-RO" sz="1200" b="0" i="1" smtClean="0">
                          <a:latin typeface="Cambria Math"/>
                          <a:ea typeface="Cambria Math"/>
                        </a:rPr>
                        <m:t>→ </m:t>
                      </m:r>
                      <m:r>
                        <a:rPr lang="ro-RO" sz="1200" b="1" i="1" smtClean="0">
                          <a:latin typeface="Cambria Math"/>
                          <a:ea typeface="Cambria Math"/>
                        </a:rPr>
                        <m:t>    </m:t>
                      </m:r>
                      <m:acc>
                        <m:accPr>
                          <m:chr m:val="̃"/>
                          <m:ctrlPr>
                            <a:rPr lang="ro-RO" sz="12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200" b="1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ro-RO" sz="1200" b="1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ro-RO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200" b="1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o-RO" sz="12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o-RO" sz="1200" b="1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ro-RO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1200" b="1" i="1">
                          <a:latin typeface="Cambria Math" panose="02040503050406030204" pitchFamily="18" charset="0"/>
                        </a:rPr>
                        <m:t>𝑇𝐹𝐷𝐼</m:t>
                      </m:r>
                      <m:d>
                        <m:dPr>
                          <m:ctrlPr>
                            <a:rPr lang="ro-RO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o-RO" sz="12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̂"/>
                                  <m:ctrlPr>
                                    <a:rPr lang="ro-RO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o-RO" sz="1200" b="1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ro-RO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200" b="1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ro-RO" sz="1200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o-RO" sz="1200" b="1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num>
                            <m:den>
                              <m:acc>
                                <m:accPr>
                                  <m:chr m:val="̂"/>
                                  <m:ctrlPr>
                                    <a:rPr lang="ro-RO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o-RO" sz="1200" b="1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ro-RO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200" b="1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ro-RO" sz="1200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o-RO" sz="1200" b="1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den>
                          </m:f>
                          <m:r>
                            <a:rPr lang="ro-RO" sz="12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o-RO" sz="12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̂"/>
                                  <m:ctrlPr>
                                    <a:rPr lang="ro-RO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o-RO" sz="1200" b="1" i="1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ro-RO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200" b="1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ro-RO" sz="1200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o-RO" sz="1200" b="1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num>
                            <m:den>
                              <m:acc>
                                <m:accPr>
                                  <m:chr m:val="̂"/>
                                  <m:ctrlPr>
                                    <a:rPr lang="ro-RO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o-RO" sz="1200" b="1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ro-RO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200" b="1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ro-RO" sz="1200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o-RO" sz="1200" b="1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ro-RO" sz="1200" b="1" dirty="0"/>
              </a:p>
              <a:p>
                <a:endParaRPr lang="ro-RO" sz="1200" b="1" dirty="0"/>
              </a:p>
              <a:p>
                <a:r>
                  <a:rPr lang="ro-RO" sz="1400" b="1" dirty="0"/>
                  <a:t>Concluzie: puțin folosit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F117D9F-64D0-4803-8C28-C9AAD8F32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830345"/>
                <a:ext cx="8382000" cy="3158622"/>
              </a:xfrm>
              <a:prstGeom prst="rect">
                <a:avLst/>
              </a:prstGeom>
              <a:blipFill rotWithShape="1">
                <a:blip r:embed="rId3"/>
                <a:stretch>
                  <a:fillRect l="-145" t="-193" b="-193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813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117D9F-64D0-4803-8C28-C9AAD8F32F5A}"/>
              </a:ext>
            </a:extLst>
          </p:cNvPr>
          <p:cNvSpPr txBox="1"/>
          <p:nvPr/>
        </p:nvSpPr>
        <p:spPr>
          <a:xfrm>
            <a:off x="304800" y="209550"/>
            <a:ext cx="86868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Ce facem:</a:t>
            </a:r>
          </a:p>
          <a:p>
            <a:endParaRPr lang="ro-RO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600" b="1" dirty="0"/>
              <a:t>aplicare mască spațială de voalare în domeniul spațial</a:t>
            </a: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o-RO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600" b="1" dirty="0"/>
              <a:t>aplicare mască spațială de voalare în domeniul de frecvențe</a:t>
            </a: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600" b="1" dirty="0"/>
              <a:t>Rezultatul aplicării măștii spațiale e același în ambele cazuri?</a:t>
            </a: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o-RO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600" b="1" dirty="0"/>
              <a:t>aplicare filtru invers pentru reducerea perturbării de voalare induse cu mască spațială</a:t>
            </a: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600" b="1" dirty="0"/>
              <a:t>Calcul SNR</a:t>
            </a:r>
            <a:r>
              <a:rPr lang="en-US" sz="1600" b="1" dirty="0"/>
              <a:t> </a:t>
            </a:r>
            <a:r>
              <a:rPr lang="ro-RO" sz="1600" b="1" dirty="0"/>
              <a:t>față de imaginea originală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sz="1600" b="1" dirty="0"/>
              <a:t>Imaginea originală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sz="1600" b="1" dirty="0"/>
              <a:t>Imaginea perturbată în domeniul spațial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sz="1600" b="1" dirty="0"/>
              <a:t>Imaginea perturbată în domeniul de frecvențe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sz="1600" b="1" dirty="0"/>
              <a:t>Imaginea restaurată cu filtrul invers din imagine perturbată în domeniul spațial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sz="1600" b="1" dirty="0"/>
              <a:t>Imaginea restaurată cu filtrul invers din imagine perturbată în domeniul </a:t>
            </a:r>
            <a:r>
              <a:rPr lang="ro-RO" sz="1600" b="1"/>
              <a:t>de frecvențe</a:t>
            </a:r>
            <a:endParaRPr lang="ro-RO" sz="1600" b="1" dirty="0"/>
          </a:p>
        </p:txBody>
      </p:sp>
    </p:spTree>
    <p:extLst>
      <p:ext uri="{BB962C8B-B14F-4D97-AF65-F5344CB8AC3E}">
        <p14:creationId xmlns:p14="http://schemas.microsoft.com/office/powerpoint/2010/main" val="95187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9D97EC-2CB1-720F-C8FB-739770757A3F}"/>
              </a:ext>
            </a:extLst>
          </p:cNvPr>
          <p:cNvSpPr txBox="1"/>
          <p:nvPr/>
        </p:nvSpPr>
        <p:spPr>
          <a:xfrm>
            <a:off x="304800" y="209550"/>
            <a:ext cx="8686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b="1" dirty="0"/>
              <a:t>Aplicare mască spațială de voalare în domeniul spațial</a:t>
            </a:r>
          </a:p>
          <a:p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600" b="1" dirty="0"/>
              <a:t>Funcție</a:t>
            </a:r>
            <a:endParaRPr lang="en-US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sz="1600" b="1" dirty="0"/>
              <a:t> I/</a:t>
            </a:r>
            <a:r>
              <a:rPr lang="en-US" sz="1600" b="1" dirty="0"/>
              <a:t>: </a:t>
            </a:r>
            <a:r>
              <a:rPr lang="ro-RO" sz="1600" b="1" dirty="0"/>
              <a:t>fișier imagine (cu cale), fișier mască, tip fișier imagine rezultat</a:t>
            </a:r>
            <a:endParaRPr lang="en-US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sz="1600" b="1" dirty="0"/>
              <a:t>/E</a:t>
            </a:r>
            <a:r>
              <a:rPr lang="en-US" sz="1600" b="1" dirty="0"/>
              <a:t>:</a:t>
            </a:r>
            <a:r>
              <a:rPr lang="ro-RO" sz="1600" b="1" dirty="0"/>
              <a:t> SNR (perturbată, originală)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o-RO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600" b="1" dirty="0"/>
              <a:t>Încărcare imagine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600" b="1" dirty="0"/>
              <a:t>Dacă imaginea e RGB, transformare în monocrom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600" b="1" dirty="0"/>
              <a:t>Salvare imagine monocromă în directorul curent cu numele original (fără cale, extensie) + „-</a:t>
            </a:r>
            <a:r>
              <a:rPr lang="ro-RO" sz="1600" b="1" dirty="0" err="1"/>
              <a:t>gray</a:t>
            </a:r>
            <a:r>
              <a:rPr lang="ro-RO" sz="1600" b="1" dirty="0"/>
              <a:t>.” + tip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600" b="1" dirty="0"/>
              <a:t>Încărcare filtru (cu împărțire la suma elementelor)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600" b="1" dirty="0"/>
              <a:t>Aplicare filtru spațial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600" b="1" dirty="0"/>
              <a:t>Vizualizare imagine originală și perturbată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600" b="1" dirty="0"/>
              <a:t>Salvare imagine perturbată în directorul curent cu numele original (fără cale, extensie) + „-</a:t>
            </a:r>
            <a:r>
              <a:rPr lang="ro-RO" sz="1600" b="1" dirty="0" err="1"/>
              <a:t>gray</a:t>
            </a:r>
            <a:r>
              <a:rPr lang="ro-RO" sz="1600" b="1" dirty="0"/>
              <a:t>” + nume filtru (fără extensie) + „.” + tip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600" b="1" dirty="0"/>
              <a:t>Calcul SNR (perturbată, originală)</a:t>
            </a:r>
          </a:p>
        </p:txBody>
      </p:sp>
    </p:spTree>
    <p:extLst>
      <p:ext uri="{BB962C8B-B14F-4D97-AF65-F5344CB8AC3E}">
        <p14:creationId xmlns:p14="http://schemas.microsoft.com/office/powerpoint/2010/main" val="529045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9E3CD-F578-6E17-C2CF-2B1B7E8F2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6EE5D4-50F5-D59F-DAF7-292E07A29777}"/>
              </a:ext>
            </a:extLst>
          </p:cNvPr>
          <p:cNvSpPr txBox="1"/>
          <p:nvPr/>
        </p:nvSpPr>
        <p:spPr>
          <a:xfrm>
            <a:off x="304800" y="0"/>
            <a:ext cx="8686800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b="1" dirty="0"/>
              <a:t>Aplicare mască spațială de voalare în domeniul </a:t>
            </a:r>
            <a:r>
              <a:rPr lang="en-US" sz="1600" b="1" dirty="0"/>
              <a:t>de </a:t>
            </a:r>
            <a:r>
              <a:rPr lang="ro-RO" sz="1600" b="1" dirty="0"/>
              <a:t>frecvențe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/>
              <a:t>Funcție</a:t>
            </a:r>
            <a:endParaRPr lang="en-US" sz="15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sz="1500" b="1" dirty="0"/>
              <a:t> I/</a:t>
            </a:r>
            <a:r>
              <a:rPr lang="en-US" sz="1500" b="1" dirty="0"/>
              <a:t>: </a:t>
            </a:r>
            <a:r>
              <a:rPr lang="ro-RO" sz="1500" b="1" dirty="0"/>
              <a:t>fișier imagine (cu cale), fișier mască, tip fișier imagine rezultat</a:t>
            </a:r>
            <a:endParaRPr lang="en-US" sz="15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sz="1500" b="1" dirty="0"/>
              <a:t>/E</a:t>
            </a:r>
            <a:r>
              <a:rPr lang="en-US" sz="1500" b="1" dirty="0"/>
              <a:t>:</a:t>
            </a:r>
            <a:r>
              <a:rPr lang="ro-RO" sz="1500" b="1" dirty="0"/>
              <a:t> SNR (perturbată, originală)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>
                <a:solidFill>
                  <a:schemeClr val="accent1"/>
                </a:solidFill>
              </a:rPr>
              <a:t>Încărcare imagine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>
                <a:solidFill>
                  <a:schemeClr val="accent1"/>
                </a:solidFill>
              </a:rPr>
              <a:t>Dacă imaginea e RGB, transformare în monocrom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>
                <a:solidFill>
                  <a:schemeClr val="accent1"/>
                </a:solidFill>
              </a:rPr>
              <a:t>Salvare imagine monocromă în directorul curent cu numele original (fără cale, extensie) + „-</a:t>
            </a:r>
            <a:r>
              <a:rPr lang="ro-RO" sz="1500" b="1" dirty="0" err="1">
                <a:solidFill>
                  <a:schemeClr val="accent1"/>
                </a:solidFill>
              </a:rPr>
              <a:t>gray</a:t>
            </a:r>
            <a:r>
              <a:rPr lang="ro-RO" sz="1500" b="1" dirty="0">
                <a:solidFill>
                  <a:schemeClr val="accent1"/>
                </a:solidFill>
              </a:rPr>
              <a:t>.” + tip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/>
              <a:t>Încărcare filtru (cu împărțire la suma elementelor) și determinare dimensiuni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>
                <a:solidFill>
                  <a:schemeClr val="accent1"/>
                </a:solidFill>
              </a:rPr>
              <a:t>Calcul dimensiuni imagine expandată</a:t>
            </a:r>
            <a:r>
              <a:rPr lang="en-US" sz="1500" b="1" dirty="0">
                <a:solidFill>
                  <a:schemeClr val="accent1"/>
                </a:solidFill>
              </a:rPr>
              <a:t> </a:t>
            </a:r>
            <a:r>
              <a:rPr lang="ro-RO" sz="1500" b="1" dirty="0">
                <a:solidFill>
                  <a:schemeClr val="accent1"/>
                </a:solidFill>
              </a:rPr>
              <a:t>și creare imagine expandată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>
                <a:solidFill>
                  <a:schemeClr val="accent1"/>
                </a:solidFill>
              </a:rPr>
              <a:t>Centrare imagine expandată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>
                <a:solidFill>
                  <a:schemeClr val="accent1"/>
                </a:solidFill>
              </a:rPr>
              <a:t>Calcul TFD imagine expandată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/>
              <a:t>Calcul funcție filtru în domeniul de frecvențe</a:t>
            </a:r>
            <a:r>
              <a:rPr lang="en-US" sz="1500" b="1" dirty="0"/>
              <a:t> (</a:t>
            </a:r>
            <a:r>
              <a:rPr lang="ro-RO" sz="1500" b="1" dirty="0"/>
              <a:t>imagine expandată, centrare, TFD, de-centrare)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>
                <a:solidFill>
                  <a:schemeClr val="accent1"/>
                </a:solidFill>
              </a:rPr>
              <a:t>Aplicare filtru în domeniul de frecvențe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/>
              <a:t>Revenire în domeniul spațial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/>
              <a:t>De-centrare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/>
              <a:t>Eliminare reziduuri complexe (erori de reprezentare și calcul)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/>
              <a:t>Extragere imagine perturbată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>
                <a:solidFill>
                  <a:schemeClr val="accent1"/>
                </a:solidFill>
              </a:rPr>
              <a:t>Vizualizare imagine originală și perturbată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>
                <a:solidFill>
                  <a:schemeClr val="accent1"/>
                </a:solidFill>
              </a:rPr>
              <a:t>Salvare imagine perturbată în directorul curent cu numele original (fără cale, extensie) + „-</a:t>
            </a:r>
            <a:r>
              <a:rPr lang="ro-RO" sz="1500" b="1" dirty="0" err="1">
                <a:solidFill>
                  <a:schemeClr val="accent1"/>
                </a:solidFill>
              </a:rPr>
              <a:t>gray</a:t>
            </a:r>
            <a:r>
              <a:rPr lang="ro-RO" sz="1500" b="1" dirty="0">
                <a:solidFill>
                  <a:schemeClr val="accent1"/>
                </a:solidFill>
              </a:rPr>
              <a:t>” + nume filtru (fără extensie) + „</a:t>
            </a:r>
            <a:r>
              <a:rPr lang="en-US" sz="1500" b="1" dirty="0" err="1">
                <a:solidFill>
                  <a:schemeClr val="accent1"/>
                </a:solidFill>
              </a:rPr>
              <a:t>frecv</a:t>
            </a:r>
            <a:r>
              <a:rPr lang="ro-RO" sz="1500" b="1" dirty="0">
                <a:solidFill>
                  <a:schemeClr val="accent1"/>
                </a:solidFill>
              </a:rPr>
              <a:t>.” + tip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/>
              <a:t>Calcul SNR (perturbată, originală)</a:t>
            </a:r>
          </a:p>
        </p:txBody>
      </p:sp>
    </p:spTree>
    <p:extLst>
      <p:ext uri="{BB962C8B-B14F-4D97-AF65-F5344CB8AC3E}">
        <p14:creationId xmlns:p14="http://schemas.microsoft.com/office/powerpoint/2010/main" val="640234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DD5DA-2A03-69E3-F215-E2243F98D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8D41CD-8FAB-8561-1212-2AE23FF6E499}"/>
              </a:ext>
            </a:extLst>
          </p:cNvPr>
          <p:cNvSpPr txBox="1"/>
          <p:nvPr/>
        </p:nvSpPr>
        <p:spPr>
          <a:xfrm>
            <a:off x="304800" y="0"/>
            <a:ext cx="868680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b="1" dirty="0"/>
              <a:t>Aplicare filtru invers </a:t>
            </a:r>
            <a:r>
              <a:rPr lang="en-US" sz="1600" b="1" dirty="0"/>
              <a:t>cu </a:t>
            </a:r>
            <a:r>
              <a:rPr lang="ro-RO" sz="1600" b="1" dirty="0"/>
              <a:t>mască spațială în domeniul de frecvențe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/>
              <a:t>Funcție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sz="1500" b="1" dirty="0"/>
              <a:t> I/: fișier imagine </a:t>
            </a:r>
            <a:r>
              <a:rPr lang="en-US" sz="1500" b="1" dirty="0"/>
              <a:t>mono</a:t>
            </a:r>
            <a:r>
              <a:rPr lang="ro-RO" sz="1500" b="1" dirty="0"/>
              <a:t> (local), fișier mască, vecinătatea lui zero, tip fișier imagine rezultat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sz="1500" b="1" dirty="0"/>
              <a:t>/E: 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/>
              <a:t>Încărcare imagine perturbată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/>
              <a:t>Încărcare filtru, cu împărțire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/>
              <a:t>Calcul dimensiuni imagine expandată, creare imagine expandată, centrare, calcul TFD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/>
              <a:t>Calcul funcție filtru în domeniul de frecvențe</a:t>
            </a:r>
            <a:r>
              <a:rPr lang="en-US" sz="1500" b="1" dirty="0"/>
              <a:t> pe </a:t>
            </a:r>
            <a:r>
              <a:rPr lang="ro-RO" sz="1500" b="1" dirty="0"/>
              <a:t>baza filtrului spațial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/>
              <a:t>Aplicarea filtrului invers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/>
              <a:t>Revenire în domeniul spațial, de-centrare, eliminare reziduuri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/>
              <a:t>Extragere imagine filtrată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/>
              <a:t>Vizualizare imagine perturbată și imagine filtrată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500" b="1" dirty="0"/>
              <a:t>Salvare imagine filtrată cu numele primit (fără extensie) + „-R” + nume filtru (fără extensie) + „-</a:t>
            </a:r>
            <a:r>
              <a:rPr lang="ro-RO" sz="1500" b="1" dirty="0" err="1"/>
              <a:t>fr</a:t>
            </a:r>
            <a:r>
              <a:rPr lang="ro-RO" sz="1500" b="1" dirty="0"/>
              <a:t>-”</a:t>
            </a:r>
            <a:r>
              <a:rPr lang="en-US" sz="1500" b="1" dirty="0"/>
              <a:t> + eps </a:t>
            </a:r>
            <a:r>
              <a:rPr lang="en-US" sz="1500" b="1"/>
              <a:t>+ tip</a:t>
            </a:r>
            <a:endParaRPr lang="ro-RO" sz="15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o-RO" sz="1500" b="1" dirty="0"/>
          </a:p>
        </p:txBody>
      </p:sp>
    </p:spTree>
    <p:extLst>
      <p:ext uri="{BB962C8B-B14F-4D97-AF65-F5344CB8AC3E}">
        <p14:creationId xmlns:p14="http://schemas.microsoft.com/office/powerpoint/2010/main" val="3660276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816</Words>
  <Application>Microsoft Office PowerPoint</Application>
  <PresentationFormat>On-screen Show (16:9)</PresentationFormat>
  <Paragraphs>122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Academia de Studii Economice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.</dc:creator>
  <cp:lastModifiedBy>X</cp:lastModifiedBy>
  <cp:revision>35</cp:revision>
  <dcterms:created xsi:type="dcterms:W3CDTF">2020-11-26T12:00:48Z</dcterms:created>
  <dcterms:modified xsi:type="dcterms:W3CDTF">2025-11-28T09:26:59Z</dcterms:modified>
</cp:coreProperties>
</file>