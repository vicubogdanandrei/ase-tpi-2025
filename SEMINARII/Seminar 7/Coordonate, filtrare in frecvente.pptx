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1" r:id="rId2"/>
    <p:sldId id="259" r:id="rId3"/>
    <p:sldId id="266" r:id="rId4"/>
    <p:sldId id="264" r:id="rId5"/>
    <p:sldId id="265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278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0A03C3-746E-4F3E-AFAD-BE589BE9DE43}" type="datetimeFigureOut">
              <a:rPr lang="en-US" smtClean="0"/>
              <a:t>10-Nov-24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7C30C7-C94A-4568-80A3-696AB1F46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99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7C30C7-C94A-4568-80A3-696AB1F46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522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1BB3C-BD81-4763-967C-FEF1D896F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312406-1A74-435D-BF0A-677C9AB699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23756-CA79-4726-B25B-EAAA1D5BD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2160B-403B-4A6F-896D-4C71B2EAE59F}" type="datetimeFigureOut">
              <a:rPr lang="en-US" smtClean="0"/>
              <a:t>10-Nov-24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533D6-1FA2-41B3-ADE3-58DC671DA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9613D-22B1-4C33-9E10-C42633A5F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98C49-4274-48B1-A8BD-637618DF7B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61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F45CB-960E-4E9D-87CC-058EB76DC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6A3AA-2416-415E-A6C6-3F0B5B224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F77E7-E826-4D88-82D7-49F2DE2CA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2160B-403B-4A6F-896D-4C71B2EAE59F}" type="datetimeFigureOut">
              <a:rPr lang="en-US" smtClean="0"/>
              <a:t>10-Nov-24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DC76E-427C-4881-B14E-ACCBD3191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9CCB9-5142-4B27-B989-8CCEFF1BB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98C49-4274-48B1-A8BD-637618DF7B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588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87D49-ABBF-438C-BA36-5F9B04765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EA8BBB-5274-419C-A17D-FB108EA82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28B47-2896-4153-83F7-84EC40787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2160B-403B-4A6F-896D-4C71B2EAE59F}" type="datetimeFigureOut">
              <a:rPr lang="en-US" smtClean="0"/>
              <a:t>10-Nov-24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13C8E-6D3D-42D3-B5F7-E2A1DCCCB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08DDA-F550-4932-B361-97CA5716D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98C49-4274-48B1-A8BD-637618DF7B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410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18052-0E58-472B-A73E-AE1D17FDA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2DF26-F5C6-45C5-81D7-A2E906E9B7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CE25DF-BCE3-42CE-809A-A7CF29B9E0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D40E0C-AB63-4190-AA98-942E47829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2160B-403B-4A6F-896D-4C71B2EAE59F}" type="datetimeFigureOut">
              <a:rPr lang="en-US" smtClean="0"/>
              <a:t>10-Nov-24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9A3488-D469-45E2-97F3-828ABFF74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25226-CC57-41FD-81DC-1756C5C87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98C49-4274-48B1-A8BD-637618DF7B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606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ACA26-B775-4CF6-AAA5-C736D6876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0E4033-9491-44F1-906B-D1EE4EFF2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EC32B7-D8B5-4DAE-B565-F5C608E110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E1791F-856F-4B75-954D-73984D2949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1AACAC-F4A3-4AE1-86A7-255FE375BC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3EE0B7-B15B-45E2-B012-A2EA7BDFC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2160B-403B-4A6F-896D-4C71B2EAE59F}" type="datetimeFigureOut">
              <a:rPr lang="en-US" smtClean="0"/>
              <a:t>10-Nov-24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DEBE53-A81F-467F-831A-37B0EDC35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CE9CFB-5D05-47BC-87BF-F372F5806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98C49-4274-48B1-A8BD-637618DF7B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215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B514B-A5CD-4111-B95B-F65060A6C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4FA1FF-207E-45B3-BA65-45C7677CD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2160B-403B-4A6F-896D-4C71B2EAE59F}" type="datetimeFigureOut">
              <a:rPr lang="en-US" smtClean="0"/>
              <a:t>10-Nov-24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A0B46C-DA53-4014-9A65-D63C7EC26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0F73D7-772A-4532-8C91-5501E71B7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98C49-4274-48B1-A8BD-637618DF7B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609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88117F-3DA8-4D23-97A5-3676BA1F6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2160B-403B-4A6F-896D-4C71B2EAE59F}" type="datetimeFigureOut">
              <a:rPr lang="en-US" smtClean="0"/>
              <a:t>10-Nov-24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008B8C-994D-4352-8F0C-BFB5F0081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9C33A-8CD4-4665-A971-A359DE25B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98C49-4274-48B1-A8BD-637618DF7B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09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5D103-1ADA-4BCC-B77A-0CE325C10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FAEF0-7784-4BD0-AEBE-918E926D2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F24AD3-6583-459F-A05D-47BA0EF4EB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5DFD2C-9E30-44FC-8F63-6EA7EE161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2160B-403B-4A6F-896D-4C71B2EAE59F}" type="datetimeFigureOut">
              <a:rPr lang="en-US" smtClean="0"/>
              <a:t>10-Nov-24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B2BC73-3279-4FFC-ABE6-08A38DC0B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1BB009-A311-462B-9372-CF6BC89FB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98C49-4274-48B1-A8BD-637618DF7B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271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38A30-C91A-4119-AD1F-E1E888AA3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D266CE-3D32-4545-AB2C-AB4B3448F0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4ED40F-557D-43A4-AE8E-1A57FD77AB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612B39-5178-48D7-92E1-CF0523A4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2160B-403B-4A6F-896D-4C71B2EAE59F}" type="datetimeFigureOut">
              <a:rPr lang="en-US" smtClean="0"/>
              <a:t>10-Nov-24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B89BD5-E66C-4BD3-9E13-EF2A2AE42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93542-D297-481D-AD1E-4696C1BDE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98C49-4274-48B1-A8BD-637618DF7B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167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B13E6-1404-4A7E-9E24-3C2EB14E2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CC2C33-022C-4DF8-A144-4A0E1BDDE7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E102C-3B9D-47D1-94B9-1004BCC5B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2160B-403B-4A6F-896D-4C71B2EAE59F}" type="datetimeFigureOut">
              <a:rPr lang="en-US" smtClean="0"/>
              <a:t>10-Nov-24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B7D64-28D2-4FCD-8991-4F75033C1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CED9F-44BC-459D-91BE-4B76E3670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98C49-4274-48B1-A8BD-637618DF7B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499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8558FA-5346-4D37-9636-39C669FF76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5BFB67-A97C-4937-A004-E6A1100267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5A6CA-3922-4B9E-BCAA-E583FD2C1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2160B-403B-4A6F-896D-4C71B2EAE59F}" type="datetimeFigureOut">
              <a:rPr lang="en-US" smtClean="0"/>
              <a:t>10-Nov-24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116BA6-6678-4CFF-BC4D-680E7FCD2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CFA88-1EC9-4672-AA9C-F1261E9F4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98C49-4274-48B1-A8BD-637618DF7B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0961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4F350E-96BB-4806-A720-9B9D86D9DD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093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23D0DC-D5A2-415A-8B6A-5F5DC8032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51AC5D-EC5B-42C7-B7DB-E0CB868A7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1C848-C075-4E6B-84C6-67172508C0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22160B-403B-4A6F-896D-4C71B2EAE59F}" type="datetimeFigureOut">
              <a:rPr lang="en-US" smtClean="0"/>
              <a:t>10-Nov-24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08313-8098-498F-B5B0-A65C17A5E4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1BA413-DD7F-4C5F-9523-BF871FEDE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A98C49-4274-48B1-A8BD-637618DF7B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648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image" Target="../media/image3.png"/><Relationship Id="rId7" Type="http://schemas.openxmlformats.org/officeDocument/2006/relationships/image" Target="../media/image2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.emf"/><Relationship Id="rId4" Type="http://schemas.openxmlformats.org/officeDocument/2006/relationships/image" Target="../media/image4.png"/><Relationship Id="rId9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F870B7D-386F-4569-AE78-BDC3CC89A69B}"/>
                  </a:ext>
                </a:extLst>
              </p:cNvPr>
              <p:cNvSpPr txBox="1"/>
              <p:nvPr/>
            </p:nvSpPr>
            <p:spPr>
              <a:xfrm>
                <a:off x="402980" y="224212"/>
                <a:ext cx="11386039" cy="64095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o-RO" sz="2400" b="1" dirty="0"/>
                  <a:t>Transforma</a:t>
                </a:r>
                <a:r>
                  <a:rPr lang="en-US" sz="2400" b="1" dirty="0"/>
                  <a:t>r</a:t>
                </a:r>
                <a:r>
                  <a:rPr lang="ro-RO" sz="2400" b="1" dirty="0"/>
                  <a:t>e Fourier în caz discret, bidimensional (matrice)</a:t>
                </a:r>
                <a:endParaRPr lang="en-US" sz="2400" b="1" dirty="0"/>
              </a:p>
              <a:p>
                <a:endParaRPr lang="ro-RO" b="1" dirty="0"/>
              </a:p>
              <a:p>
                <a:r>
                  <a:rPr lang="ro-RO" b="1" dirty="0"/>
                  <a:t>	N, M </a:t>
                </a:r>
                <a:r>
                  <a:rPr lang="ro-RO" dirty="0"/>
                  <a:t>– dimensiuni matrice inițială (imagine</a:t>
                </a:r>
                <a:r>
                  <a:rPr lang="en-US" dirty="0"/>
                  <a:t> </a:t>
                </a:r>
                <a:r>
                  <a:rPr lang="ro-RO" dirty="0"/>
                  <a:t>monocromă – 1 plan)</a:t>
                </a:r>
              </a:p>
              <a:p>
                <a:r>
                  <a:rPr lang="ro-RO" b="1" dirty="0"/>
                  <a:t>	n, m </a:t>
                </a:r>
                <a:r>
                  <a:rPr lang="ro-RO" dirty="0"/>
                  <a:t>– coordonate în matricea rezultat</a:t>
                </a:r>
              </a:p>
              <a:p>
                <a:r>
                  <a:rPr lang="ro-RO" b="1" dirty="0"/>
                  <a:t>	x, y </a:t>
                </a:r>
                <a:r>
                  <a:rPr lang="ro-RO" dirty="0"/>
                  <a:t>– coordonate în matricea inițială</a:t>
                </a:r>
              </a:p>
              <a:p>
                <a:endParaRPr lang="ro-RO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o-RO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i="1" smtClean="0">
                              <a:latin typeface="Cambria Math" panose="02040503050406030204" pitchFamily="18" charset="0"/>
                            </a:rPr>
                            <m:t>𝑇𝐹𝐷</m:t>
                          </m:r>
                          <m:d>
                            <m:dPr>
                              <m:ctrlPr>
                                <a:rPr lang="ro-RO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e>
                      </m:d>
                      <m:d>
                        <m:dPr>
                          <m:ctrlPr>
                            <a:rPr lang="ro-RO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ro-RO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ro-RO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o-RO" i="1">
                              <a:latin typeface="Cambria Math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ro-RO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i="1">
                              <a:latin typeface="Cambria Math"/>
                            </a:rPr>
                            <m:t>𝑛</m:t>
                          </m:r>
                          <m:r>
                            <a:rPr lang="ro-RO" i="1">
                              <a:latin typeface="Cambria Math"/>
                            </a:rPr>
                            <m:t>,</m:t>
                          </m:r>
                          <m:r>
                            <a:rPr lang="ro-RO" i="1">
                              <a:latin typeface="Cambria Math"/>
                            </a:rPr>
                            <m:t>𝑚</m:t>
                          </m:r>
                        </m:e>
                      </m:d>
                      <m:r>
                        <a:rPr lang="ro-RO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o-RO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o-RO" i="1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ro-RO" i="1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𝑁𝑀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ro-RO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o-RO" i="1">
                              <a:latin typeface="Cambria Math"/>
                            </a:rPr>
                            <m:t>𝑥</m:t>
                          </m:r>
                          <m:r>
                            <a:rPr lang="ro-RO" i="1">
                              <a:latin typeface="Cambria Math"/>
                            </a:rPr>
                            <m:t>=0</m:t>
                          </m:r>
                        </m:sub>
                        <m:sup>
                          <m:r>
                            <a:rPr lang="ro-RO" i="1">
                              <a:latin typeface="Cambria Math"/>
                            </a:rPr>
                            <m:t>𝑁</m:t>
                          </m:r>
                          <m:r>
                            <a:rPr lang="ro-RO" i="1">
                              <a:latin typeface="Cambria Math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ro-RO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o-RO" i="1">
                                  <a:latin typeface="Cambria Math"/>
                                </a:rPr>
                                <m:t>𝑦</m:t>
                              </m:r>
                              <m:r>
                                <a:rPr lang="ro-RO" i="1">
                                  <a:latin typeface="Cambria Math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ro-RO" i="1">
                                  <a:latin typeface="Cambria Math"/>
                                </a:rPr>
                                <m:t>𝑀</m:t>
                              </m:r>
                              <m:r>
                                <a:rPr lang="ro-RO" i="1">
                                  <a:latin typeface="Cambria Math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ro-RO" i="1">
                                  <a:latin typeface="Cambria Math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ro-R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i="1">
                                      <a:latin typeface="Cambria Math"/>
                                    </a:rPr>
                                    <m:t>𝑥</m:t>
                                  </m:r>
                                  <m:r>
                                    <a:rPr lang="ro-RO" i="1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ro-RO" i="1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ro-RO" i="1">
                                  <a:latin typeface="Cambria Math"/>
                                </a:rPr>
                                <m:t>𝑒𝑥𝑝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ro-R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i="1">
                                      <a:latin typeface="Cambria Math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ro-RO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o-RO" i="1">
                                          <a:latin typeface="Cambria Math"/>
                                        </a:rPr>
                                        <m:t>2</m:t>
                                      </m:r>
                                      <m:r>
                                        <a:rPr lang="ro-RO" i="1">
                                          <a:latin typeface="Cambria Math"/>
                                        </a:rPr>
                                        <m:t>𝜋</m:t>
                                      </m:r>
                                      <m:r>
                                        <a:rPr lang="ro-RO" i="1">
                                          <a:latin typeface="Cambria Math"/>
                                        </a:rPr>
                                        <m:t>𝑖𝑛𝑥</m:t>
                                      </m:r>
                                    </m:num>
                                    <m:den>
                                      <m:r>
                                        <a:rPr lang="ro-RO" i="1">
                                          <a:latin typeface="Cambria Math"/>
                                        </a:rPr>
                                        <m:t>𝑁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ro-RO" i="1">
                                  <a:latin typeface="Cambria Math"/>
                                </a:rPr>
                                <m:t>𝑒𝑥𝑝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ro-R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i="1">
                                      <a:latin typeface="Cambria Math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ro-RO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o-RO" i="1">
                                          <a:latin typeface="Cambria Math"/>
                                        </a:rPr>
                                        <m:t>2</m:t>
                                      </m:r>
                                      <m:r>
                                        <a:rPr lang="ro-RO" i="1">
                                          <a:latin typeface="Cambria Math"/>
                                        </a:rPr>
                                        <m:t>𝜋</m:t>
                                      </m:r>
                                      <m:r>
                                        <a:rPr lang="ro-RO" i="1">
                                          <a:latin typeface="Cambria Math"/>
                                        </a:rPr>
                                        <m:t>𝑖𝑚𝑦</m:t>
                                      </m:r>
                                    </m:num>
                                    <m:den>
                                      <m:r>
                                        <a:rPr lang="ro-RO" i="1">
                                          <a:latin typeface="Cambria Math"/>
                                        </a:rPr>
                                        <m:t>𝑀</m:t>
                                      </m:r>
                                    </m:den>
                                  </m:f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ro-RO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o-RO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i="1" smtClean="0">
                              <a:latin typeface="Cambria Math" panose="02040503050406030204" pitchFamily="18" charset="0"/>
                            </a:rPr>
                            <m:t>𝑇𝐹𝐷</m:t>
                          </m:r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ro-RO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ro-R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o-RO" i="1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</m:d>
                        </m:e>
                      </m:d>
                      <m:d>
                        <m:dPr>
                          <m:ctrlPr>
                            <a:rPr lang="ro-RO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ro-RO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ro-RO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o-RO" i="1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ro-RO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i="1">
                              <a:latin typeface="Cambria Math"/>
                            </a:rPr>
                            <m:t>𝑥</m:t>
                          </m:r>
                          <m:r>
                            <a:rPr lang="ro-RO" i="1">
                              <a:latin typeface="Cambria Math"/>
                            </a:rPr>
                            <m:t>,</m:t>
                          </m:r>
                          <m:r>
                            <a:rPr lang="ro-RO" i="1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ro-RO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o-RO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/>
                            </m:rPr>
                            <a:rPr lang="ro-RO" i="1">
                              <a:latin typeface="Cambria Math"/>
                            </a:rPr>
                            <m:t>𝑛</m:t>
                          </m:r>
                          <m:r>
                            <a:rPr lang="ro-RO" i="1">
                              <a:latin typeface="Cambria Math"/>
                            </a:rPr>
                            <m:t>=0</m:t>
                          </m:r>
                        </m:sub>
                        <m:sup>
                          <m:r>
                            <a:rPr lang="ro-RO" i="1">
                              <a:latin typeface="Cambria Math"/>
                            </a:rPr>
                            <m:t>𝑁</m:t>
                          </m:r>
                          <m:r>
                            <a:rPr lang="ro-RO" i="1">
                              <a:latin typeface="Cambria Math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ro-RO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/>
                                </m:rPr>
                                <a:rPr lang="ro-RO" i="1">
                                  <a:latin typeface="Cambria Math"/>
                                </a:rPr>
                                <m:t>𝑚</m:t>
                              </m:r>
                              <m:r>
                                <a:rPr lang="ro-RO" i="1">
                                  <a:latin typeface="Cambria Math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ro-RO" i="1">
                                  <a:latin typeface="Cambria Math"/>
                                </a:rPr>
                                <m:t>𝑀</m:t>
                              </m:r>
                              <m:r>
                                <a:rPr lang="ro-RO" i="1">
                                  <a:latin typeface="Cambria Math"/>
                                </a:rPr>
                                <m:t>−1</m:t>
                              </m:r>
                            </m:sup>
                            <m:e>
                              <m:acc>
                                <m:accPr>
                                  <m:chr m:val="̂"/>
                                  <m:ctrlPr>
                                    <a:rPr lang="ro-R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o-RO" i="1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ro-R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i="1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ro-RO" i="1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ro-RO" i="1"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</m:d>
                              <m:r>
                                <a:rPr lang="ro-RO" i="1">
                                  <a:latin typeface="Cambria Math"/>
                                </a:rPr>
                                <m:t>𝑒𝑥𝑝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ro-R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ro-RO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o-RO" i="1">
                                          <a:latin typeface="Cambria Math"/>
                                        </a:rPr>
                                        <m:t>2</m:t>
                                      </m:r>
                                      <m:r>
                                        <a:rPr lang="ro-RO" i="1">
                                          <a:latin typeface="Cambria Math"/>
                                        </a:rPr>
                                        <m:t>𝜋</m:t>
                                      </m:r>
                                      <m:r>
                                        <a:rPr lang="ro-RO" i="1">
                                          <a:latin typeface="Cambria Math"/>
                                        </a:rPr>
                                        <m:t>𝑖𝑛𝑥</m:t>
                                      </m:r>
                                    </m:num>
                                    <m:den>
                                      <m:r>
                                        <a:rPr lang="ro-RO" i="1">
                                          <a:latin typeface="Cambria Math"/>
                                        </a:rPr>
                                        <m:t>𝑁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ro-RO" i="1">
                                  <a:latin typeface="Cambria Math"/>
                                </a:rPr>
                                <m:t>𝑒𝑥𝑝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ro-R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ro-RO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o-RO" i="1">
                                          <a:latin typeface="Cambria Math"/>
                                        </a:rPr>
                                        <m:t>2</m:t>
                                      </m:r>
                                      <m:r>
                                        <a:rPr lang="ro-RO" i="1">
                                          <a:latin typeface="Cambria Math"/>
                                        </a:rPr>
                                        <m:t>𝜋</m:t>
                                      </m:r>
                                      <m:r>
                                        <a:rPr lang="ro-RO" i="1">
                                          <a:latin typeface="Cambria Math"/>
                                        </a:rPr>
                                        <m:t>𝑖𝑚𝑦</m:t>
                                      </m:r>
                                    </m:num>
                                    <m:den>
                                      <m:r>
                                        <a:rPr lang="ro-RO" i="1">
                                          <a:latin typeface="Cambria Math"/>
                                        </a:rPr>
                                        <m:t>𝑀</m:t>
                                      </m:r>
                                    </m:den>
                                  </m:f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ro-RO" dirty="0"/>
              </a:p>
              <a:p>
                <a:endParaRPr lang="ro-RO" dirty="0"/>
              </a:p>
              <a:p>
                <a:r>
                  <a:rPr lang="ro-RO" dirty="0"/>
                  <a:t>sau</a:t>
                </a:r>
              </a:p>
              <a:p>
                <a:r>
                  <a:rPr lang="ro-RO" dirty="0"/>
                  <a:t>(în MATLAB)</a:t>
                </a:r>
              </a:p>
              <a:p>
                <a:endParaRPr lang="ro-RO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o-RO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i="1" smtClean="0">
                              <a:latin typeface="Cambria Math" panose="02040503050406030204" pitchFamily="18" charset="0"/>
                            </a:rPr>
                            <m:t>𝑇𝐹𝐷</m:t>
                          </m:r>
                          <m:d>
                            <m:dPr>
                              <m:ctrlPr>
                                <a:rPr lang="ro-RO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e>
                      </m:d>
                      <m:d>
                        <m:dPr>
                          <m:ctrlPr>
                            <a:rPr lang="ro-RO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o-RO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o-RO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ro-RO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ro-RO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o-RO" i="1">
                              <a:latin typeface="Cambria Math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ro-RO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i="1">
                              <a:latin typeface="Cambria Math"/>
                            </a:rPr>
                            <m:t>𝑛</m:t>
                          </m:r>
                          <m:r>
                            <a:rPr lang="ro-RO" i="1">
                              <a:latin typeface="Cambria Math"/>
                            </a:rPr>
                            <m:t>,</m:t>
                          </m:r>
                          <m:r>
                            <a:rPr lang="ro-RO" i="1">
                              <a:latin typeface="Cambria Math"/>
                            </a:rPr>
                            <m:t>𝑚</m:t>
                          </m:r>
                        </m:e>
                      </m:d>
                      <m:r>
                        <a:rPr lang="ro-RO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o-RO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o-RO" i="1">
                              <a:latin typeface="Cambria Math"/>
                            </a:rPr>
                            <m:t>𝑥</m:t>
                          </m:r>
                          <m:r>
                            <a:rPr lang="ro-RO" i="1">
                              <a:latin typeface="Cambria Math"/>
                            </a:rPr>
                            <m:t>=0</m:t>
                          </m:r>
                        </m:sub>
                        <m:sup>
                          <m:r>
                            <a:rPr lang="ro-RO" i="1">
                              <a:latin typeface="Cambria Math"/>
                            </a:rPr>
                            <m:t>𝑁</m:t>
                          </m:r>
                          <m:r>
                            <a:rPr lang="ro-RO" i="1">
                              <a:latin typeface="Cambria Math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ro-RO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o-RO" i="1">
                                  <a:latin typeface="Cambria Math"/>
                                </a:rPr>
                                <m:t>𝑦</m:t>
                              </m:r>
                              <m:r>
                                <a:rPr lang="ro-RO" i="1">
                                  <a:latin typeface="Cambria Math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ro-RO" i="1">
                                  <a:latin typeface="Cambria Math"/>
                                </a:rPr>
                                <m:t>𝑀</m:t>
                              </m:r>
                              <m:r>
                                <a:rPr lang="ro-RO" i="1">
                                  <a:latin typeface="Cambria Math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ro-RO" i="1">
                                  <a:latin typeface="Cambria Math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ro-R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i="1">
                                      <a:latin typeface="Cambria Math"/>
                                    </a:rPr>
                                    <m:t>𝑥</m:t>
                                  </m:r>
                                  <m:r>
                                    <a:rPr lang="ro-RO" i="1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ro-RO" i="1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ro-RO" i="1">
                                  <a:latin typeface="Cambria Math"/>
                                </a:rPr>
                                <m:t>𝑒𝑥𝑝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ro-R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i="1">
                                      <a:latin typeface="Cambria Math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ro-RO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o-RO" i="1">
                                          <a:latin typeface="Cambria Math"/>
                                        </a:rPr>
                                        <m:t>2</m:t>
                                      </m:r>
                                      <m:r>
                                        <a:rPr lang="ro-RO" i="1">
                                          <a:latin typeface="Cambria Math"/>
                                        </a:rPr>
                                        <m:t>𝜋</m:t>
                                      </m:r>
                                      <m:r>
                                        <a:rPr lang="ro-RO" i="1">
                                          <a:latin typeface="Cambria Math"/>
                                        </a:rPr>
                                        <m:t>𝑖𝑛𝑥</m:t>
                                      </m:r>
                                    </m:num>
                                    <m:den>
                                      <m:r>
                                        <a:rPr lang="ro-RO" i="1">
                                          <a:latin typeface="Cambria Math"/>
                                        </a:rPr>
                                        <m:t>𝑁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ro-RO" i="1">
                                  <a:latin typeface="Cambria Math"/>
                                </a:rPr>
                                <m:t>𝑒𝑥𝑝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ro-R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i="1">
                                      <a:latin typeface="Cambria Math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ro-RO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o-RO" i="1">
                                          <a:latin typeface="Cambria Math"/>
                                        </a:rPr>
                                        <m:t>2</m:t>
                                      </m:r>
                                      <m:r>
                                        <a:rPr lang="ro-RO" i="1">
                                          <a:latin typeface="Cambria Math"/>
                                        </a:rPr>
                                        <m:t>𝜋</m:t>
                                      </m:r>
                                      <m:r>
                                        <a:rPr lang="ro-RO" i="1">
                                          <a:latin typeface="Cambria Math"/>
                                        </a:rPr>
                                        <m:t>𝑖𝑚𝑦</m:t>
                                      </m:r>
                                    </m:num>
                                    <m:den>
                                      <m:r>
                                        <a:rPr lang="ro-RO" i="1">
                                          <a:latin typeface="Cambria Math"/>
                                        </a:rPr>
                                        <m:t>𝑀</m:t>
                                      </m:r>
                                    </m:den>
                                  </m:f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ro-RO" dirty="0"/>
              </a:p>
              <a:p>
                <a:endParaRPr lang="ro-RO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o-RO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i="1" smtClean="0">
                              <a:latin typeface="Cambria Math" panose="02040503050406030204" pitchFamily="18" charset="0"/>
                            </a:rPr>
                            <m:t>𝑇𝐹𝐷𝐼</m:t>
                          </m:r>
                          <m:d>
                            <m:dPr>
                              <m:ctrlPr>
                                <a:rPr lang="ro-RO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ro-R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o-RO" i="1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</m:d>
                        </m:e>
                      </m:d>
                      <m:d>
                        <m:dPr>
                          <m:ctrlPr>
                            <a:rPr lang="ro-RO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ro-RO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o-RO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ro-RO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o-RO" i="1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ro-RO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i="1">
                              <a:latin typeface="Cambria Math"/>
                            </a:rPr>
                            <m:t>𝑥</m:t>
                          </m:r>
                          <m:r>
                            <a:rPr lang="ro-RO" i="1">
                              <a:latin typeface="Cambria Math"/>
                            </a:rPr>
                            <m:t>,</m:t>
                          </m:r>
                          <m:r>
                            <a:rPr lang="ro-RO" i="1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ro-RO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ro-RO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o-RO" i="1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ro-RO" i="1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𝑁𝑀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ro-RO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/>
                            </m:rPr>
                            <a:rPr lang="ro-RO" i="1">
                              <a:latin typeface="Cambria Math"/>
                            </a:rPr>
                            <m:t>𝑛</m:t>
                          </m:r>
                          <m:r>
                            <a:rPr lang="ro-RO" i="1">
                              <a:latin typeface="Cambria Math"/>
                            </a:rPr>
                            <m:t>=0</m:t>
                          </m:r>
                        </m:sub>
                        <m:sup>
                          <m:r>
                            <a:rPr lang="ro-RO" i="1">
                              <a:latin typeface="Cambria Math"/>
                            </a:rPr>
                            <m:t>𝑁</m:t>
                          </m:r>
                          <m:r>
                            <a:rPr lang="ro-RO" i="1">
                              <a:latin typeface="Cambria Math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ro-RO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/>
                                </m:rPr>
                                <a:rPr lang="ro-RO" i="1">
                                  <a:latin typeface="Cambria Math"/>
                                </a:rPr>
                                <m:t>𝑚</m:t>
                              </m:r>
                              <m:r>
                                <a:rPr lang="ro-RO" i="1">
                                  <a:latin typeface="Cambria Math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ro-RO" i="1">
                                  <a:latin typeface="Cambria Math"/>
                                </a:rPr>
                                <m:t>𝑀</m:t>
                              </m:r>
                              <m:r>
                                <a:rPr lang="ro-RO" i="1">
                                  <a:latin typeface="Cambria Math"/>
                                </a:rPr>
                                <m:t>−1</m:t>
                              </m:r>
                            </m:sup>
                            <m:e>
                              <m:acc>
                                <m:accPr>
                                  <m:chr m:val="̂"/>
                                  <m:ctrlPr>
                                    <a:rPr lang="ro-R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o-RO" i="1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ro-R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i="1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ro-RO" i="1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ro-RO" i="1"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</m:d>
                              <m:r>
                                <a:rPr lang="ro-RO" i="1">
                                  <a:latin typeface="Cambria Math"/>
                                </a:rPr>
                                <m:t>𝑒𝑥𝑝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ro-R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ro-RO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o-RO" i="1">
                                          <a:latin typeface="Cambria Math"/>
                                        </a:rPr>
                                        <m:t>2</m:t>
                                      </m:r>
                                      <m:r>
                                        <a:rPr lang="ro-RO" i="1">
                                          <a:latin typeface="Cambria Math"/>
                                        </a:rPr>
                                        <m:t>𝜋</m:t>
                                      </m:r>
                                      <m:r>
                                        <a:rPr lang="ro-RO" i="1">
                                          <a:latin typeface="Cambria Math"/>
                                        </a:rPr>
                                        <m:t>𝑖𝑛𝑥</m:t>
                                      </m:r>
                                    </m:num>
                                    <m:den>
                                      <m:r>
                                        <a:rPr lang="ro-RO" i="1">
                                          <a:latin typeface="Cambria Math"/>
                                        </a:rPr>
                                        <m:t>𝑁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ro-RO" i="1">
                                  <a:latin typeface="Cambria Math"/>
                                </a:rPr>
                                <m:t>𝑒𝑥𝑝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ro-R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ro-RO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o-RO" i="1">
                                          <a:latin typeface="Cambria Math"/>
                                        </a:rPr>
                                        <m:t>2</m:t>
                                      </m:r>
                                      <m:r>
                                        <a:rPr lang="ro-RO" i="1">
                                          <a:latin typeface="Cambria Math"/>
                                        </a:rPr>
                                        <m:t>𝜋</m:t>
                                      </m:r>
                                      <m:r>
                                        <a:rPr lang="ro-RO" i="1">
                                          <a:latin typeface="Cambria Math"/>
                                        </a:rPr>
                                        <m:t>𝑖𝑚𝑦</m:t>
                                      </m:r>
                                    </m:num>
                                    <m:den>
                                      <m:r>
                                        <a:rPr lang="ro-RO" i="1">
                                          <a:latin typeface="Cambria Math"/>
                                        </a:rPr>
                                        <m:t>𝑀</m:t>
                                      </m:r>
                                    </m:den>
                                  </m:f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ro-RO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F870B7D-386F-4569-AE78-BDC3CC89A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980" y="224212"/>
                <a:ext cx="11386039" cy="6409575"/>
              </a:xfrm>
              <a:prstGeom prst="rect">
                <a:avLst/>
              </a:prstGeom>
              <a:blipFill>
                <a:blip r:embed="rId2"/>
                <a:stretch>
                  <a:fillRect l="-803" t="-7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5551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D2728F3-0FAA-45E3-B73D-57D0BC8DC1C2}"/>
                  </a:ext>
                </a:extLst>
              </p:cNvPr>
              <p:cNvSpPr txBox="1"/>
              <p:nvPr/>
            </p:nvSpPr>
            <p:spPr>
              <a:xfrm>
                <a:off x="0" y="248735"/>
                <a:ext cx="12192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o-RO" sz="2400" b="1" dirty="0"/>
                  <a:t>Coordonate spațiale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dirty="0" err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400" b="1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dirty="0" err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sz="2400" b="1" i="1" dirty="0" err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o-RO" sz="2400" b="1" dirty="0">
                    <a:sym typeface="Wingdings" panose="05000000000000000000" pitchFamily="2" charset="2"/>
                  </a:rPr>
                  <a:t></a:t>
                </a:r>
                <a:r>
                  <a:rPr lang="ro-RO" sz="2400" b="1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sz="2400" b="1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l-GR" sz="24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Wingdings" panose="05000000000000000000" pitchFamily="2" charset="2"/>
                          </a:rPr>
                          <m:t>𝝋</m:t>
                        </m:r>
                      </m:e>
                    </m:d>
                    <m:r>
                      <a:rPr lang="en-US" sz="2400" b="1" i="1" dirty="0" err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o-RO" sz="2400" b="1" dirty="0"/>
                  <a:t>Coordonate polare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D2728F3-0FAA-45E3-B73D-57D0BC8DC1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48735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t="-11842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2C73018-AD4A-4597-AAA6-5D388B87ED21}"/>
                  </a:ext>
                </a:extLst>
              </p:cNvPr>
              <p:cNvSpPr txBox="1"/>
              <p:nvPr/>
            </p:nvSpPr>
            <p:spPr>
              <a:xfrm>
                <a:off x="6318819" y="1210901"/>
                <a:ext cx="4841078" cy="2279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 err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 dirty="0" err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 err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↔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sz="2400" i="1" dirty="0" err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𝑟</m:t>
                          </m:r>
                          <m:r>
                            <a:rPr lang="en-US" sz="2400" i="1" dirty="0" err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·</m:t>
                          </m:r>
                          <m:func>
                            <m:funcPr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ro-RO" sz="2400" b="0" i="0" dirty="0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i="1" dirty="0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dPr>
                                <m:e>
                                  <m:r>
                                    <a:rPr lang="el-GR" sz="240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  <a:sym typeface="Wingdings" panose="05000000000000000000" pitchFamily="2" charset="2"/>
                                    </a:rPr>
                                    <m:t>𝜑</m:t>
                                  </m:r>
                                </m:e>
                              </m:d>
                            </m:e>
                          </m:func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,</m:t>
                          </m:r>
                          <m:r>
                            <a:rPr lang="en-US" sz="240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  <m:r>
                            <a:rPr lang="en-US" sz="2400" i="1" dirty="0" err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𝑟</m:t>
                          </m:r>
                          <m:r>
                            <a:rPr lang="en-US" sz="2400" i="1" dirty="0" err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·</m:t>
                          </m:r>
                          <m:func>
                            <m:func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ro-RO" sz="2400" b="0" i="0" dirty="0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dPr>
                                <m:e>
                                  <m:r>
                                    <a:rPr lang="el-GR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  <a:sym typeface="Wingdings" panose="05000000000000000000" pitchFamily="2" charset="2"/>
                                    </a:rPr>
                                    <m:t>𝜑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ro-RO" sz="2400" dirty="0">
                  <a:cs typeface="Calibri" panose="020F0502020204030204" pitchFamily="34" charset="0"/>
                  <a:sym typeface="Wingdings" panose="05000000000000000000" pitchFamily="2" charset="2"/>
                </a:endParaRPr>
              </a:p>
              <a:p>
                <a:endParaRPr lang="ro-RO" sz="2400" dirty="0"/>
              </a:p>
              <a:p>
                <a:endParaRPr lang="ro-RO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ro-RO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ro-RO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ro-RO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o-RO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ro-RO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o-RO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ro-RO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o-RO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ro-RO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o-RO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m:t>𝜑</m:t>
                      </m:r>
                      <m:r>
                        <a:rPr lang="ro-RO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m:rPr>
                          <m:sty m:val="p"/>
                        </m:rPr>
                        <a:rPr lang="ro-RO" sz="24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m:t>arctan</m:t>
                      </m:r>
                      <m:r>
                        <a:rPr lang="ro-RO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m:t>⁡</m:t>
                      </m:r>
                      <m:d>
                        <m:dPr>
                          <m:ctrlPr>
                            <a:rPr lang="ro-RO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ro-RO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  <a:sym typeface="Wingdings" panose="05000000000000000000" pitchFamily="2" charset="2"/>
                                </a:rPr>
                              </m:ctrlPr>
                            </m:fPr>
                            <m:num>
                              <m:r>
                                <a:rPr lang="ro-RO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  <a:sym typeface="Wingdings" panose="05000000000000000000" pitchFamily="2" charset="2"/>
                                </a:rPr>
                                <m:t>𝑦</m:t>
                              </m:r>
                            </m:num>
                            <m:den>
                              <m:r>
                                <a:rPr lang="ro-RO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  <a:sym typeface="Wingdings" panose="05000000000000000000" pitchFamily="2" charset="2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2C73018-AD4A-4597-AAA6-5D388B87ED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8819" y="1210901"/>
                <a:ext cx="4841078" cy="22799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F222C2D-BD83-45D8-A271-D453F2AE3786}"/>
              </a:ext>
            </a:extLst>
          </p:cNvPr>
          <p:cNvSpPr txBox="1"/>
          <p:nvPr/>
        </p:nvSpPr>
        <p:spPr>
          <a:xfrm>
            <a:off x="1885216" y="4525585"/>
            <a:ext cx="60241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400" dirty="0"/>
              <a:t>Coordonate </a:t>
            </a:r>
            <a:r>
              <a:rPr lang="ro-RO" sz="2400" dirty="0">
                <a:sym typeface="Wingdings" panose="05000000000000000000" pitchFamily="2" charset="2"/>
              </a:rPr>
              <a:t> Numere complexe</a:t>
            </a:r>
            <a:endParaRPr lang="ro-RO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21F3962-2CDD-45A4-BDAD-E3DA8C6BC067}"/>
                  </a:ext>
                </a:extLst>
              </p:cNvPr>
              <p:cNvSpPr txBox="1"/>
              <p:nvPr/>
            </p:nvSpPr>
            <p:spPr>
              <a:xfrm>
                <a:off x="6795600" y="4117377"/>
                <a:ext cx="3887515" cy="12122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24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ro-RO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ro-RO" sz="2400" b="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𝑥</m:t>
                      </m:r>
                      <m:r>
                        <a:rPr lang="ro-RO" sz="2400" b="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+</m:t>
                      </m:r>
                      <m:r>
                        <a:rPr lang="ro-RO" sz="2400" b="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𝑖</m:t>
                      </m:r>
                      <m:r>
                        <a:rPr lang="en-US" sz="2400" i="1" dirty="0" err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·</m:t>
                      </m:r>
                      <m:r>
                        <a:rPr lang="ro-RO" sz="2400" b="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𝑦</m:t>
                      </m:r>
                    </m:oMath>
                  </m:oMathPara>
                </a14:m>
                <a:endParaRPr lang="ro-RO" sz="2400" dirty="0"/>
              </a:p>
              <a:p>
                <a:endParaRPr lang="ro-RO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ro-RO" sz="2400" i="1">
                          <a:latin typeface="Cambria Math"/>
                        </a:rPr>
                        <m:t>=</m:t>
                      </m:r>
                      <m:r>
                        <a:rPr lang="ro-RO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ro-RO" sz="2400" i="1">
                          <a:latin typeface="Cambria Math"/>
                        </a:rPr>
                        <m:t>∙</m:t>
                      </m:r>
                      <m:sSup>
                        <m:sSupPr>
                          <m:ctrlPr>
                            <a:rPr lang="ro-RO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ro-RO" sz="2400" i="1">
                              <a:latin typeface="Cambria Math"/>
                            </a:rPr>
                            <m:t>𝑖</m:t>
                          </m:r>
                          <m:r>
                            <a:rPr lang="ro-RO" sz="2400" i="1">
                              <a:latin typeface="Cambria Math"/>
                            </a:rPr>
                            <m:t>∙</m:t>
                          </m:r>
                          <m:r>
                            <a:rPr lang="ro-RO" sz="2400" i="1">
                              <a:latin typeface="Cambria Math"/>
                            </a:rPr>
                            <m:t>𝜑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21F3962-2CDD-45A4-BDAD-E3DA8C6BC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5600" y="4117377"/>
                <a:ext cx="3887515" cy="121225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6C4FC7D9-2783-4FA3-82AC-732FBAF071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3175" y="1085697"/>
            <a:ext cx="3552825" cy="270510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75F264-4B35-4973-88DD-4B1E04347405}"/>
              </a:ext>
            </a:extLst>
          </p:cNvPr>
          <p:cNvGrpSpPr/>
          <p:nvPr/>
        </p:nvGrpSpPr>
        <p:grpSpPr>
          <a:xfrm>
            <a:off x="1508883" y="1240444"/>
            <a:ext cx="4400010" cy="2735019"/>
            <a:chOff x="1508883" y="1817958"/>
            <a:chExt cx="4400010" cy="273501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45B8ED6-9E01-43BA-B4B3-1AE7BCA21258}"/>
                </a:ext>
              </a:extLst>
            </p:cNvPr>
            <p:cNvSpPr txBox="1"/>
            <p:nvPr/>
          </p:nvSpPr>
          <p:spPr>
            <a:xfrm>
              <a:off x="5486400" y="1817958"/>
              <a:ext cx="422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o-RO" dirty="0"/>
                <a:t>c</a:t>
              </a:r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3F6F6A9-6246-4A0F-88A3-003E120D6F06}"/>
                </a:ext>
              </a:extLst>
            </p:cNvPr>
            <p:cNvSpPr txBox="1"/>
            <p:nvPr/>
          </p:nvSpPr>
          <p:spPr>
            <a:xfrm>
              <a:off x="3429000" y="4183645"/>
              <a:ext cx="14683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dirty="0"/>
                <a:t>parte reală</a:t>
              </a:r>
              <a:endParaRPr 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1C46E05-B3D8-40BC-ADF5-70816AFEEEAF}"/>
                </a:ext>
              </a:extLst>
            </p:cNvPr>
            <p:cNvSpPr txBox="1"/>
            <p:nvPr/>
          </p:nvSpPr>
          <p:spPr>
            <a:xfrm>
              <a:off x="1508883" y="2692595"/>
              <a:ext cx="110416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ro-RO" dirty="0"/>
                <a:t>parte imaginară</a:t>
              </a:r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99592B3-0A30-4A18-B2D5-9E7468479C34}"/>
                  </a:ext>
                </a:extLst>
              </p:cNvPr>
              <p:cNvSpPr txBox="1"/>
              <p:nvPr/>
            </p:nvSpPr>
            <p:spPr>
              <a:xfrm>
                <a:off x="409575" y="5401753"/>
                <a:ext cx="1137285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o-RO" dirty="0"/>
                  <a:t>Utilitate</a:t>
                </a:r>
              </a:p>
              <a:p>
                <a:pPr marL="285750" indent="-285750">
                  <a:buFontTx/>
                  <a:buChar char="-"/>
                </a:pPr>
                <a:r>
                  <a:rPr lang="ro-RO" dirty="0"/>
                  <a:t>matematică: descriere curbe, </a:t>
                </a:r>
                <a:r>
                  <a:rPr lang="ro-RO" i="1" dirty="0"/>
                  <a:t>calcule cu numere complexe</a:t>
                </a:r>
                <a:r>
                  <a:rPr lang="ro-RO" dirty="0"/>
                  <a:t>, integrale, diferențiale etc.</a:t>
                </a:r>
              </a:p>
              <a:p>
                <a:pPr marL="742950" lvl="1" indent="-285750">
                  <a:buFontTx/>
                  <a:buChar char="-"/>
                </a:pPr>
                <a:r>
                  <a:rPr lang="ro-RO" dirty="0"/>
                  <a:t>Spirala </a:t>
                </a:r>
                <a:r>
                  <a:rPr lang="en-US" dirty="0"/>
                  <a:t>l</a:t>
                </a:r>
                <a:r>
                  <a:rPr lang="ro-RO" dirty="0"/>
                  <a:t>ui Arhimede: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 </a:t>
                </a:r>
                <a:endParaRPr lang="ro-RO" dirty="0"/>
              </a:p>
              <a:p>
                <a:pPr marL="742950" lvl="1" indent="-285750">
                  <a:buFontTx/>
                  <a:buChar char="-"/>
                </a:pPr>
                <a:r>
                  <a:rPr lang="ro-RO" dirty="0"/>
                  <a:t>Roza polară: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ro-RO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cos</m:t>
                    </m:r>
                    <m:r>
                      <a:rPr lang="ro-R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⁡(</m:t>
                    </m:r>
                    <m:r>
                      <a:rPr lang="ro-R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ro-R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ro-R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(</a:t>
                </a:r>
                <a:r>
                  <a:rPr lang="en-US" dirty="0" err="1"/>
                  <a:t>vezi</a:t>
                </a:r>
                <a:r>
                  <a:rPr lang="en-US" dirty="0"/>
                  <a:t> </a:t>
                </a:r>
                <a:r>
                  <a:rPr lang="en-US" i="1" dirty="0" err="1"/>
                  <a:t>polare.m</a:t>
                </a:r>
                <a:r>
                  <a:rPr lang="en-US" dirty="0"/>
                  <a:t>)</a:t>
                </a:r>
                <a:endParaRPr lang="ro-RO" dirty="0"/>
              </a:p>
              <a:p>
                <a:pPr marL="285750" indent="-285750">
                  <a:buFontTx/>
                  <a:buChar char="-"/>
                </a:pPr>
                <a:r>
                  <a:rPr lang="ro-RO" dirty="0"/>
                  <a:t>practică: navigație, modelare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99592B3-0A30-4A18-B2D5-9E7468479C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575" y="5401753"/>
                <a:ext cx="11372850" cy="1477328"/>
              </a:xfrm>
              <a:prstGeom prst="rect">
                <a:avLst/>
              </a:prstGeom>
              <a:blipFill>
                <a:blip r:embed="rId6"/>
                <a:stretch>
                  <a:fillRect l="-429" t="-2066" b="-5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>
            <a:extLst>
              <a:ext uri="{FF2B5EF4-FFF2-40B4-BE49-F238E27FC236}">
                <a16:creationId xmlns:a16="http://schemas.microsoft.com/office/drawing/2014/main" id="{92AC45FE-4DE4-4DF7-B126-823D72FC8FA0}"/>
              </a:ext>
            </a:extLst>
          </p:cNvPr>
          <p:cNvSpPr/>
          <p:nvPr/>
        </p:nvSpPr>
        <p:spPr>
          <a:xfrm>
            <a:off x="542441" y="1038387"/>
            <a:ext cx="10957301" cy="420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0EC80BD-CC31-43BA-A7CE-4E604357A1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5362" y="1809750"/>
            <a:ext cx="3943350" cy="28575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DCE1544-EADB-41FB-967D-6F70D4DF19B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5812" y="1800386"/>
            <a:ext cx="4152900" cy="3238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101515-159C-1EB0-1A71-8C4E8D33DB9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3004" y="1871634"/>
            <a:ext cx="415290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221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8" grpId="0"/>
      <p:bldP spid="28" grpId="0" animBg="1"/>
      <p:bldP spid="28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D2728F3-0FAA-45E3-B73D-57D0BC8DC1C2}"/>
              </a:ext>
            </a:extLst>
          </p:cNvPr>
          <p:cNvSpPr txBox="1"/>
          <p:nvPr/>
        </p:nvSpPr>
        <p:spPr>
          <a:xfrm>
            <a:off x="0" y="7313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400" b="1" dirty="0"/>
              <a:t>Transformarea Fourier </a:t>
            </a:r>
            <a:r>
              <a:rPr lang="ro-RO" sz="2400" b="1" dirty="0">
                <a:sym typeface="Wingdings" panose="05000000000000000000" pitchFamily="2" charset="2"/>
              </a:rPr>
              <a:t></a:t>
            </a:r>
            <a:r>
              <a:rPr lang="ro-RO" sz="2400" b="1" dirty="0"/>
              <a:t> Numere complexe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F870B7D-386F-4569-AE78-BDC3CC89A69B}"/>
                  </a:ext>
                </a:extLst>
              </p:cNvPr>
              <p:cNvSpPr txBox="1"/>
              <p:nvPr/>
            </p:nvSpPr>
            <p:spPr>
              <a:xfrm>
                <a:off x="5698435" y="1801798"/>
                <a:ext cx="6056881" cy="4345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o-RO" sz="2000" i="1">
                              <a:latin typeface="Cambria Math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2000" i="1">
                              <a:latin typeface="Cambria Math"/>
                            </a:rPr>
                            <m:t>𝑛</m:t>
                          </m:r>
                          <m:r>
                            <a:rPr lang="ro-RO" sz="2000" i="1">
                              <a:latin typeface="Cambria Math"/>
                            </a:rPr>
                            <m:t>,</m:t>
                          </m:r>
                          <m:r>
                            <a:rPr lang="ro-RO" sz="2000" i="1">
                              <a:latin typeface="Cambria Math"/>
                            </a:rPr>
                            <m:t>𝑚</m:t>
                          </m:r>
                        </m:e>
                      </m:d>
                      <m:r>
                        <a:rPr lang="ro-RO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ro-RO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ℂ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↔ </m:t>
                      </m:r>
                      <m:acc>
                        <m:accPr>
                          <m:chr m:val="̂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o-RO" sz="2000" i="1">
                              <a:latin typeface="Cambria Math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2000" i="1">
                              <a:latin typeface="Cambria Math"/>
                            </a:rPr>
                            <m:t>𝑛</m:t>
                          </m:r>
                          <m:r>
                            <a:rPr lang="ro-RO" sz="2000" i="1">
                              <a:latin typeface="Cambria Math"/>
                            </a:rPr>
                            <m:t>,</m:t>
                          </m:r>
                          <m:r>
                            <a:rPr lang="ro-RO" sz="2000" i="1">
                              <a:latin typeface="Cambria Math"/>
                            </a:rPr>
                            <m:t>𝑚</m:t>
                          </m:r>
                        </m:e>
                      </m:d>
                      <m:r>
                        <a:rPr lang="ro-RO" sz="2000" i="1">
                          <a:latin typeface="Cambria Math"/>
                        </a:rPr>
                        <m:t>=</m:t>
                      </m:r>
                      <m:r>
                        <a:rPr lang="ro-RO" sz="2000" i="1">
                          <a:latin typeface="Cambria Math"/>
                        </a:rPr>
                        <m:t>𝑅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2000" i="1">
                              <a:latin typeface="Cambria Math"/>
                            </a:rPr>
                            <m:t>𝑛</m:t>
                          </m:r>
                          <m:r>
                            <a:rPr lang="ro-RO" sz="2000" i="1">
                              <a:latin typeface="Cambria Math"/>
                            </a:rPr>
                            <m:t>,</m:t>
                          </m:r>
                          <m:r>
                            <a:rPr lang="ro-RO" sz="2000" i="1">
                              <a:latin typeface="Cambria Math"/>
                            </a:rPr>
                            <m:t>𝑚</m:t>
                          </m:r>
                        </m:e>
                      </m:d>
                      <m:r>
                        <a:rPr lang="ro-RO" sz="2000" i="1">
                          <a:latin typeface="Cambria Math"/>
                        </a:rPr>
                        <m:t>+</m:t>
                      </m:r>
                      <m:r>
                        <a:rPr lang="ro-RO" sz="2000" i="1">
                          <a:latin typeface="Cambria Math"/>
                        </a:rPr>
                        <m:t>𝑖</m:t>
                      </m:r>
                      <m:r>
                        <a:rPr lang="ro-RO" sz="2000" i="1">
                          <a:latin typeface="Cambria Math"/>
                        </a:rPr>
                        <m:t>∙</m:t>
                      </m:r>
                      <m:r>
                        <a:rPr lang="ro-RO" sz="2000" i="1">
                          <a:latin typeface="Cambria Math"/>
                        </a:rPr>
                        <m:t>𝐼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2000" i="1">
                              <a:latin typeface="Cambria Math"/>
                            </a:rPr>
                            <m:t>𝑛</m:t>
                          </m:r>
                          <m:r>
                            <a:rPr lang="ro-RO" sz="2000" i="1">
                              <a:latin typeface="Cambria Math"/>
                            </a:rPr>
                            <m:t>,</m:t>
                          </m:r>
                          <m:r>
                            <a:rPr lang="ro-RO" sz="2000" i="1">
                              <a:latin typeface="Cambria Math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0" smtClean="0">
                          <a:latin typeface="Cambria Math"/>
                        </a:rPr>
                        <m:t> </m:t>
                      </m:r>
                      <m:acc>
                        <m:accPr>
                          <m:chr m:val="̂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o-RO" sz="2000" i="1">
                              <a:latin typeface="Cambria Math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2000" i="1">
                              <a:latin typeface="Cambria Math"/>
                            </a:rPr>
                            <m:t>𝑛</m:t>
                          </m:r>
                          <m:r>
                            <a:rPr lang="ro-RO" sz="2000" i="1">
                              <a:latin typeface="Cambria Math"/>
                            </a:rPr>
                            <m:t>,</m:t>
                          </m:r>
                          <m:r>
                            <a:rPr lang="ro-RO" sz="2000" i="1">
                              <a:latin typeface="Cambria Math"/>
                            </a:rPr>
                            <m:t>𝑚</m:t>
                          </m:r>
                        </m:e>
                      </m:d>
                      <m:r>
                        <a:rPr lang="ro-RO" sz="2000" i="1">
                          <a:latin typeface="Cambria Math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o-RO" sz="2000" i="1">
                                  <a:latin typeface="Cambria Math"/>
                                </a:rPr>
                                <m:t>𝑓</m:t>
                              </m:r>
                            </m:e>
                          </m:acc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2000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ro-RO" sz="2000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ro-RO" sz="2000" i="1">
                                  <a:latin typeface="Cambria Math"/>
                                </a:rPr>
                                <m:t>𝑚</m:t>
                              </m:r>
                            </m:e>
                          </m:d>
                        </m:e>
                      </m:d>
                      <m:r>
                        <a:rPr lang="ro-RO" sz="2000" i="1">
                          <a:latin typeface="Cambria Math"/>
                        </a:rPr>
                        <m:t>∙</m:t>
                      </m:r>
                      <m:sSup>
                        <m:sSupPr>
                          <m:ctrlPr>
                            <a:rPr lang="ro-RO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ro-RO" sz="2000" i="1">
                              <a:latin typeface="Cambria Math"/>
                            </a:rPr>
                            <m:t>𝑖</m:t>
                          </m:r>
                          <m:r>
                            <a:rPr lang="ro-RO" sz="2000" i="1">
                              <a:latin typeface="Cambria Math"/>
                            </a:rPr>
                            <m:t>∙</m:t>
                          </m:r>
                          <m:r>
                            <a:rPr lang="ro-RO" sz="2000" i="1">
                              <a:latin typeface="Cambria Math"/>
                            </a:rPr>
                            <m:t>𝜑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2000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ro-RO" sz="2000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ro-RO" sz="2000" i="1">
                                  <a:latin typeface="Cambria Math"/>
                                </a:rPr>
                                <m:t>𝑚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o-RO" sz="2000" i="1">
                                  <a:latin typeface="Cambria Math"/>
                                </a:rPr>
                                <m:t>𝑓</m:t>
                              </m:r>
                            </m:e>
                          </m:acc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2000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ro-RO" sz="2000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ro-RO" sz="2000" i="1">
                                  <a:latin typeface="Cambria Math"/>
                                </a:rPr>
                                <m:t>𝑚</m:t>
                              </m:r>
                            </m:e>
                          </m:d>
                        </m:e>
                      </m:d>
                      <m:r>
                        <a:rPr lang="ro-RO" sz="2000" i="1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sz="2000" i="1">
                                      <a:latin typeface="Cambria Math"/>
                                    </a:rPr>
                                    <m:t>𝑅</m:t>
                                  </m:r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o-RO" sz="2000" i="1">
                                          <a:latin typeface="Cambria Math"/>
                                        </a:rPr>
                                        <m:t>𝑛</m:t>
                                      </m:r>
                                      <m:r>
                                        <a:rPr lang="ro-RO" sz="2000" i="1">
                                          <a:latin typeface="Cambria Math"/>
                                        </a:rPr>
                                        <m:t>,</m:t>
                                      </m:r>
                                      <m:r>
                                        <a:rPr lang="ro-RO" sz="2000" i="1">
                                          <a:latin typeface="Cambria Math"/>
                                        </a:rPr>
                                        <m:t>𝑚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ro-RO" sz="20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ro-RO" sz="2000" i="1">
                              <a:latin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sz="2000" i="1">
                                      <a:latin typeface="Cambria Math"/>
                                    </a:rPr>
                                    <m:t>𝐼</m:t>
                                  </m:r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o-RO" sz="2000" i="1">
                                          <a:latin typeface="Cambria Math"/>
                                        </a:rPr>
                                        <m:t>𝑛</m:t>
                                      </m:r>
                                      <m:r>
                                        <a:rPr lang="ro-RO" sz="2000" i="1">
                                          <a:latin typeface="Cambria Math"/>
                                        </a:rPr>
                                        <m:t>,</m:t>
                                      </m:r>
                                      <m:r>
                                        <a:rPr lang="ro-RO" sz="2000" i="1">
                                          <a:latin typeface="Cambria Math"/>
                                        </a:rPr>
                                        <m:t>𝑚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ro-RO" sz="20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2000" i="1" smtClean="0">
                          <a:latin typeface="Cambria Math"/>
                        </a:rPr>
                        <m:t>𝜑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2000" i="1">
                              <a:latin typeface="Cambria Math"/>
                            </a:rPr>
                            <m:t>𝑛</m:t>
                          </m:r>
                          <m:r>
                            <a:rPr lang="ro-RO" sz="2000" i="1">
                              <a:latin typeface="Cambria Math"/>
                            </a:rPr>
                            <m:t>,</m:t>
                          </m:r>
                          <m:r>
                            <a:rPr lang="ro-RO" sz="2000" i="1">
                              <a:latin typeface="Cambria Math"/>
                            </a:rPr>
                            <m:t>𝑚</m:t>
                          </m:r>
                        </m:e>
                      </m:d>
                      <m:r>
                        <a:rPr lang="ro-RO" sz="2000" i="1">
                          <a:latin typeface="Cambria Math"/>
                        </a:rPr>
                        <m:t>=</m:t>
                      </m:r>
                      <m:r>
                        <a:rPr lang="ro-RO" sz="2000" i="1">
                          <a:latin typeface="Cambria Math"/>
                        </a:rPr>
                        <m:t>𝑎𝑟𝑐𝑡𝑎𝑛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o-RO" sz="2000" i="1">
                                  <a:latin typeface="Cambria Math"/>
                                </a:rPr>
                                <m:t>𝐼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sz="2000" i="1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ro-RO" sz="2000" i="1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ro-RO" sz="2000" i="1"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</m:d>
                            </m:num>
                            <m:den>
                              <m:r>
                                <a:rPr lang="ro-RO" sz="2000" i="1">
                                  <a:latin typeface="Cambria Math"/>
                                </a:rPr>
                                <m:t>𝑅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sz="2000" i="1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ro-RO" sz="2000" i="1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ro-RO" sz="2000" i="1"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2000" i="1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2000" i="1">
                              <a:latin typeface="Cambria Math"/>
                            </a:rPr>
                            <m:t>𝑛</m:t>
                          </m:r>
                          <m:r>
                            <a:rPr lang="ro-RO" sz="2000" i="1">
                              <a:latin typeface="Cambria Math"/>
                            </a:rPr>
                            <m:t>,</m:t>
                          </m:r>
                          <m:r>
                            <a:rPr lang="ro-RO" sz="2000" i="1">
                              <a:latin typeface="Cambria Math"/>
                            </a:rPr>
                            <m:t>𝑚</m:t>
                          </m:r>
                        </m:e>
                      </m:d>
                      <m:r>
                        <a:rPr lang="ro-RO" sz="20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2000" i="1">
                                  <a:latin typeface="Cambria Math"/>
                                </a:rPr>
                                <m:t>𝑅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sz="2000" i="1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ro-RO" sz="2000" i="1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ro-RO" sz="2000" i="1"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ro-RO" sz="20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ro-RO" sz="2000" i="1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2000" i="1">
                                  <a:latin typeface="Cambria Math"/>
                                </a:rPr>
                                <m:t>𝐼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sz="2000" i="1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ro-RO" sz="2000" i="1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ro-RO" sz="2000" i="1"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ro-RO" sz="20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o-RO" sz="2000" i="1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sz="2000" i="1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ro-RO" sz="2000" i="1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ro-RO" sz="2000" i="1"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F870B7D-386F-4569-AE78-BDC3CC89A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8435" y="1801798"/>
                <a:ext cx="6056881" cy="4345870"/>
              </a:xfrm>
              <a:prstGeom prst="rect">
                <a:avLst/>
              </a:prstGeom>
              <a:blipFill>
                <a:blip r:embed="rId3"/>
                <a:stretch>
                  <a:fillRect t="-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16B63B8C-7016-4BEF-9429-301EA23185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90741"/>
            <a:ext cx="5541404" cy="42765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524BB06-DCAF-45C8-A430-ACD9D19B4D09}"/>
                  </a:ext>
                </a:extLst>
              </p:cNvPr>
              <p:cNvSpPr txBox="1"/>
              <p:nvPr/>
            </p:nvSpPr>
            <p:spPr>
              <a:xfrm>
                <a:off x="2770702" y="5706501"/>
                <a:ext cx="31335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o-RO" sz="2000" dirty="0"/>
                  <a:t>Putere spectrală în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000" i="1">
                            <a:latin typeface="Cambria Math"/>
                          </a:rPr>
                          <m:t>𝑛</m:t>
                        </m:r>
                        <m:r>
                          <a:rPr lang="ro-RO" sz="2000" i="1">
                            <a:latin typeface="Cambria Math"/>
                          </a:rPr>
                          <m:t>,</m:t>
                        </m:r>
                        <m:r>
                          <a:rPr lang="ro-RO" sz="2000" i="1">
                            <a:latin typeface="Cambria Math"/>
                          </a:rPr>
                          <m:t>𝑚</m:t>
                        </m:r>
                      </m:e>
                    </m:d>
                    <m:r>
                      <a:rPr lang="ro-RO" sz="2000" b="0" i="0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ro-RO" sz="2000" dirty="0"/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524BB06-DCAF-45C8-A430-ACD9D19B4D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0702" y="5706501"/>
                <a:ext cx="3133572" cy="400110"/>
              </a:xfrm>
              <a:prstGeom prst="rect">
                <a:avLst/>
              </a:prstGeom>
              <a:blipFill>
                <a:blip r:embed="rId5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86C4529-F67F-8D52-17A5-876150256F51}"/>
              </a:ext>
            </a:extLst>
          </p:cNvPr>
          <p:cNvSpPr txBox="1"/>
          <p:nvPr/>
        </p:nvSpPr>
        <p:spPr>
          <a:xfrm>
            <a:off x="9058428" y="6488668"/>
            <a:ext cx="3133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dirty="0"/>
              <a:t>vezi</a:t>
            </a:r>
            <a:r>
              <a:rPr lang="ro-RO" i="1" dirty="0"/>
              <a:t> </a:t>
            </a:r>
            <a:r>
              <a:rPr lang="ro-RO" i="1" dirty="0" err="1"/>
              <a:t>ex_Fourier.m</a:t>
            </a:r>
            <a:endParaRPr lang="ro-RO" i="1" dirty="0"/>
          </a:p>
        </p:txBody>
      </p:sp>
    </p:spTree>
    <p:extLst>
      <p:ext uri="{BB962C8B-B14F-4D97-AF65-F5344CB8AC3E}">
        <p14:creationId xmlns:p14="http://schemas.microsoft.com/office/powerpoint/2010/main" val="1835790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767861" y="501161"/>
                <a:ext cx="10656277" cy="6135166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o-RO" sz="2400" b="1" dirty="0"/>
                  <a:t>Filtrarea în frecvențe </a:t>
                </a:r>
              </a:p>
              <a:p>
                <a:pPr marL="0" indent="0">
                  <a:buNone/>
                </a:pPr>
                <a:endParaRPr lang="ro-RO" sz="1800" b="1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𝑓</m:t>
                    </m:r>
                  </m:oMath>
                </a14:m>
                <a:r>
                  <a:rPr lang="ro-RO" sz="1800" dirty="0"/>
                  <a:t> –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𝑁</m:t>
                    </m:r>
                    <m:r>
                      <a:rPr lang="ro-RO" sz="1800" i="1">
                        <a:latin typeface="Cambria Math"/>
                      </a:rPr>
                      <m:t>×</m:t>
                    </m:r>
                    <m:r>
                      <a:rPr lang="ro-RO" sz="1800" i="1">
                        <a:latin typeface="Cambria Math"/>
                      </a:rPr>
                      <m:t>𝑀</m:t>
                    </m:r>
                  </m:oMath>
                </a14:m>
                <a:r>
                  <a:rPr lang="ro-RO" sz="1800" dirty="0"/>
                  <a:t> imaginea inițială</a:t>
                </a:r>
              </a:p>
              <a:p>
                <a:pPr marL="0" indent="0">
                  <a:buNone/>
                </a:pPr>
                <a:r>
                  <a:rPr lang="ro-RO" sz="1800" dirty="0"/>
                  <a:t>H – filtru în domeniul Fourier, funcție simetrică în raport cu centrul de simetrie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o-RO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o-RO" sz="18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o-RO" sz="1800" i="1">
                                <a:latin typeface="Cambria Math"/>
                              </a:rPr>
                              <m:t>𝑁</m:t>
                            </m:r>
                          </m:num>
                          <m:den>
                            <m:r>
                              <a:rPr lang="ro-RO" sz="1800" i="1">
                                <a:latin typeface="Cambria Math"/>
                              </a:rPr>
                              <m:t>2</m:t>
                            </m:r>
                          </m:den>
                        </m:f>
                        <m:r>
                          <a:rPr lang="ro-RO" sz="1800" i="1">
                            <a:latin typeface="Cambria Math"/>
                          </a:rPr>
                          <m:t>,</m:t>
                        </m:r>
                        <m:f>
                          <m:fPr>
                            <m:ctrlPr>
                              <a:rPr lang="ro-RO" sz="18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o-RO" sz="1800" i="1">
                                <a:latin typeface="Cambria Math"/>
                              </a:rPr>
                              <m:t>𝑀</m:t>
                            </m:r>
                          </m:num>
                          <m:den>
                            <m:r>
                              <a:rPr lang="ro-RO" sz="1800" i="1">
                                <a:latin typeface="Cambria Math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ro-RO" sz="1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o-RO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ro-RO" sz="18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o-RO" sz="1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o-RO" sz="1800" i="1">
                            <a:latin typeface="Cambria Math"/>
                          </a:rPr>
                          <m:t>𝑓</m:t>
                        </m:r>
                      </m:e>
                    </m:acc>
                  </m:oMath>
                </a14:m>
                <a:r>
                  <a:rPr lang="ro-RO" sz="1800" dirty="0"/>
                  <a:t> funcție </a:t>
                </a:r>
                <a:r>
                  <a:rPr lang="ro-RO" sz="1800" u="sng" dirty="0"/>
                  <a:t>centrată</a:t>
                </a:r>
              </a:p>
              <a:p>
                <a:pPr marL="0" indent="0">
                  <a:buNone/>
                </a:pPr>
                <a:endParaRPr lang="ro-RO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i="1" smtClean="0">
                          <a:latin typeface="Cambria Math"/>
                        </a:rPr>
                        <m:t>0≤</m:t>
                      </m:r>
                      <m:r>
                        <a:rPr lang="ro-RO" sz="1800" i="1" smtClean="0">
                          <a:latin typeface="Cambria Math"/>
                        </a:rPr>
                        <m:t>𝑥</m:t>
                      </m:r>
                      <m:r>
                        <a:rPr lang="ro-RO" sz="1800" i="1" smtClean="0">
                          <a:latin typeface="Cambria Math"/>
                        </a:rPr>
                        <m:t>≤</m:t>
                      </m:r>
                      <m:r>
                        <a:rPr lang="ro-RO" sz="1800" i="1" smtClean="0">
                          <a:latin typeface="Cambria Math"/>
                        </a:rPr>
                        <m:t>𝑁</m:t>
                      </m:r>
                      <m:r>
                        <a:rPr lang="ro-RO" sz="1800" i="1" smtClean="0">
                          <a:latin typeface="Cambria Math"/>
                        </a:rPr>
                        <m:t>−1</m:t>
                      </m:r>
                      <m:r>
                        <a:rPr lang="ro-RO" sz="1800" smtClean="0">
                          <a:latin typeface="Cambria Math"/>
                        </a:rPr>
                        <m:t>, </m:t>
                      </m:r>
                      <m:r>
                        <a:rPr lang="ro-RO" sz="1800" i="1">
                          <a:latin typeface="Cambria Math"/>
                        </a:rPr>
                        <m:t>0≤</m:t>
                      </m:r>
                      <m:r>
                        <a:rPr lang="ro-RO" sz="1800" i="1">
                          <a:latin typeface="Cambria Math"/>
                        </a:rPr>
                        <m:t>𝑦</m:t>
                      </m:r>
                      <m:r>
                        <a:rPr lang="ro-RO" sz="1800" i="1">
                          <a:latin typeface="Cambria Math"/>
                        </a:rPr>
                        <m:t>≤</m:t>
                      </m:r>
                      <m:r>
                        <a:rPr lang="ro-RO" sz="1800" i="1">
                          <a:latin typeface="Cambria Math"/>
                        </a:rPr>
                        <m:t>𝑀</m:t>
                      </m:r>
                      <m:r>
                        <a:rPr lang="ro-RO" sz="1800" i="1">
                          <a:latin typeface="Cambria Math"/>
                        </a:rPr>
                        <m:t>−1</m:t>
                      </m:r>
                      <m:r>
                        <a:rPr lang="ro-RO" sz="1800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o-RO" sz="1800" smtClean="0">
                          <a:latin typeface="Cambria Math"/>
                        </a:rPr>
                        <m:t>  </m:t>
                      </m:r>
                      <m:sSub>
                        <m:sSubPr>
                          <m:ctrlPr>
                            <a:rPr lang="ro-RO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18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ro-RO" sz="1800" i="1">
                              <a:latin typeface="Cambria Math"/>
                            </a:rPr>
                            <m:t>𝑐𝑒𝑛𝑡𝑟𝑎𝑡</m:t>
                          </m:r>
                        </m:sub>
                      </m:sSub>
                      <m:d>
                        <m:dPr>
                          <m:ctrlPr>
                            <a:rPr lang="ro-RO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i="1">
                              <a:latin typeface="Cambria Math"/>
                            </a:rPr>
                            <m:t>𝑥</m:t>
                          </m:r>
                          <m:r>
                            <a:rPr lang="ro-RO" sz="1800" i="1">
                              <a:latin typeface="Cambria Math"/>
                            </a:rPr>
                            <m:t>,</m:t>
                          </m:r>
                          <m:r>
                            <a:rPr lang="ro-RO" sz="1800" i="1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ro-RO" sz="1800" i="1">
                          <a:latin typeface="Cambria Math"/>
                        </a:rPr>
                        <m:t>=</m:t>
                      </m:r>
                      <m:r>
                        <a:rPr lang="ro-RO" sz="1800" i="1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ro-RO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i="1">
                              <a:latin typeface="Cambria Math"/>
                            </a:rPr>
                            <m:t>𝑥</m:t>
                          </m:r>
                          <m:r>
                            <a:rPr lang="ro-RO" sz="1800" i="1">
                              <a:latin typeface="Cambria Math"/>
                            </a:rPr>
                            <m:t>,</m:t>
                          </m:r>
                          <m:r>
                            <a:rPr lang="ro-RO" sz="1800" i="1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ro-RO" sz="1800" i="1">
                          <a:latin typeface="Cambria Math"/>
                        </a:rPr>
                        <m:t>∙</m:t>
                      </m:r>
                      <m:sSup>
                        <m:sSupPr>
                          <m:ctrlPr>
                            <a:rPr lang="ro-RO" sz="1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o-RO" sz="1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1800" i="1"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ro-RO" sz="1800" i="1">
                              <a:latin typeface="Cambria Math"/>
                            </a:rPr>
                            <m:t>𝑥</m:t>
                          </m:r>
                          <m:r>
                            <a:rPr lang="ro-RO" sz="1800" i="1">
                              <a:latin typeface="Cambria Math"/>
                            </a:rPr>
                            <m:t>+</m:t>
                          </m:r>
                          <m:r>
                            <a:rPr lang="ro-RO" sz="1800" i="1">
                              <a:latin typeface="Cambria Math"/>
                            </a:rPr>
                            <m:t>𝑦</m:t>
                          </m:r>
                        </m:sup>
                      </m:sSup>
                    </m:oMath>
                  </m:oMathPara>
                </a14:m>
                <a:endParaRPr lang="ro-RO" sz="1800" dirty="0"/>
              </a:p>
              <a:p>
                <a:pPr marL="0" indent="0">
                  <a:buNone/>
                </a:pPr>
                <a:endParaRPr lang="ro-RO" sz="1800" dirty="0"/>
              </a:p>
              <a:p>
                <a:pPr marL="0" indent="0">
                  <a:buNone/>
                </a:pPr>
                <a:r>
                  <a:rPr lang="ro-RO" sz="1800" dirty="0"/>
                  <a:t>g – imaginea filtrată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i="1">
                          <a:latin typeface="Cambria Math"/>
                        </a:rPr>
                        <m:t>𝑔</m:t>
                      </m:r>
                      <m:d>
                        <m:dPr>
                          <m:ctrlPr>
                            <a:rPr lang="ro-RO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i="1">
                              <a:latin typeface="Cambria Math"/>
                            </a:rPr>
                            <m:t>𝑥</m:t>
                          </m:r>
                          <m:r>
                            <a:rPr lang="ro-RO" sz="1800" i="1">
                              <a:latin typeface="Cambria Math"/>
                            </a:rPr>
                            <m:t>,</m:t>
                          </m:r>
                          <m:r>
                            <a:rPr lang="ro-RO" sz="1800" i="1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ro-RO" sz="1800" i="1">
                          <a:latin typeface="Cambria Math"/>
                        </a:rPr>
                        <m:t>=</m:t>
                      </m:r>
                      <m:r>
                        <a:rPr lang="ro-RO" sz="1800" i="1">
                          <a:latin typeface="Cambria Math"/>
                        </a:rPr>
                        <m:t>𝑇𝐹𝐷𝐼</m:t>
                      </m:r>
                      <m:r>
                        <a:rPr lang="ro-RO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o-RO" sz="1800" i="1">
                          <a:latin typeface="Cambria Math"/>
                        </a:rPr>
                        <m:t>𝐻</m:t>
                      </m:r>
                      <m:d>
                        <m:dPr>
                          <m:ctrlPr>
                            <a:rPr lang="ro-RO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i="1">
                              <a:latin typeface="Cambria Math"/>
                            </a:rPr>
                            <m:t>𝑛</m:t>
                          </m:r>
                          <m:r>
                            <a:rPr lang="ro-RO" sz="1800" i="1">
                              <a:latin typeface="Cambria Math"/>
                            </a:rPr>
                            <m:t>,</m:t>
                          </m:r>
                          <m:r>
                            <a:rPr lang="ro-RO" sz="1800" i="1">
                              <a:latin typeface="Cambria Math"/>
                            </a:rPr>
                            <m:t>𝑚</m:t>
                          </m:r>
                        </m:e>
                      </m:d>
                      <m:r>
                        <a:rPr lang="ro-RO" sz="1800" i="1">
                          <a:latin typeface="Cambria Math"/>
                        </a:rPr>
                        <m:t>∙</m:t>
                      </m:r>
                      <m:acc>
                        <m:accPr>
                          <m:chr m:val="̂"/>
                          <m:ctrlPr>
                            <a:rPr lang="ro-RO" sz="1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o-RO" sz="1800" i="1">
                              <a:latin typeface="Cambria Math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ro-RO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i="1">
                              <a:latin typeface="Cambria Math"/>
                            </a:rPr>
                            <m:t>𝑛</m:t>
                          </m:r>
                          <m:r>
                            <a:rPr lang="ro-RO" sz="1800" i="1">
                              <a:latin typeface="Cambria Math"/>
                            </a:rPr>
                            <m:t>,</m:t>
                          </m:r>
                          <m:r>
                            <a:rPr lang="ro-RO" sz="1800" i="1">
                              <a:latin typeface="Cambria Math"/>
                            </a:rPr>
                            <m:t>𝑚</m:t>
                          </m:r>
                        </m:e>
                      </m:d>
                      <m:r>
                        <a:rPr lang="ro-RO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o-RO" sz="18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0≤</m:t>
                    </m:r>
                    <m:r>
                      <a:rPr lang="ro-RO" sz="1800" i="1">
                        <a:latin typeface="Cambria Math"/>
                      </a:rPr>
                      <m:t>𝑛</m:t>
                    </m:r>
                    <m:r>
                      <a:rPr lang="ro-RO" sz="1800" i="1">
                        <a:latin typeface="Cambria Math"/>
                      </a:rPr>
                      <m:t>≤</m:t>
                    </m:r>
                    <m:r>
                      <a:rPr lang="ro-RO" sz="1800" i="1">
                        <a:latin typeface="Cambria Math"/>
                      </a:rPr>
                      <m:t>𝑁</m:t>
                    </m:r>
                    <m:r>
                      <a:rPr lang="ro-RO" sz="1800" i="1">
                        <a:latin typeface="Cambria Math"/>
                      </a:rPr>
                      <m:t>−1</m:t>
                    </m:r>
                  </m:oMath>
                </a14:m>
                <a:r>
                  <a:rPr lang="ro-RO" sz="1800" dirty="0"/>
                  <a:t>,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0≤</m:t>
                    </m:r>
                    <m:r>
                      <a:rPr lang="ro-RO" sz="1800" i="1">
                        <a:latin typeface="Cambria Math"/>
                      </a:rPr>
                      <m:t>𝑚</m:t>
                    </m:r>
                    <m:r>
                      <a:rPr lang="ro-RO" sz="1800" i="1">
                        <a:latin typeface="Cambria Math"/>
                      </a:rPr>
                      <m:t>≤</m:t>
                    </m:r>
                    <m:r>
                      <a:rPr lang="ro-RO" sz="1800" i="1">
                        <a:latin typeface="Cambria Math"/>
                      </a:rPr>
                      <m:t>𝑀</m:t>
                    </m:r>
                    <m:r>
                      <a:rPr lang="ro-RO" sz="1800" i="1">
                        <a:latin typeface="Cambria Math"/>
                      </a:rPr>
                      <m:t>−1</m:t>
                    </m:r>
                  </m:oMath>
                </a14:m>
                <a:r>
                  <a:rPr lang="ro-RO" sz="1800" dirty="0"/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o-RO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𝐻</m:t>
                        </m:r>
                        <m:r>
                          <a:rPr lang="ro-RO" sz="1800" i="1">
                            <a:latin typeface="Cambria Math"/>
                          </a:rPr>
                          <m:t>∙</m:t>
                        </m:r>
                        <m:acc>
                          <m:accPr>
                            <m:chr m:val="̂"/>
                            <m:ctrlPr>
                              <a:rPr lang="ro-RO" sz="18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𝑓</m:t>
                            </m:r>
                          </m:e>
                        </m:acc>
                      </m:e>
                    </m:d>
                    <m:d>
                      <m:dPr>
                        <m:ctrlPr>
                          <a:rPr lang="ro-RO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𝑚</m:t>
                        </m:r>
                        <m:r>
                          <a:rPr lang="ro-RO" sz="1800" i="1">
                            <a:latin typeface="Cambria Math"/>
                          </a:rPr>
                          <m:t>,</m:t>
                        </m:r>
                        <m:r>
                          <a:rPr lang="ro-RO" sz="1800" i="1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ro-RO" sz="1800" i="1">
                        <a:latin typeface="Cambria Math"/>
                      </a:rPr>
                      <m:t>=</m:t>
                    </m:r>
                    <m:r>
                      <a:rPr lang="ro-RO" sz="1800" i="1">
                        <a:latin typeface="Cambria Math"/>
                      </a:rPr>
                      <m:t>𝐻</m:t>
                    </m:r>
                    <m:d>
                      <m:dPr>
                        <m:ctrlPr>
                          <a:rPr lang="ro-RO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𝑚</m:t>
                        </m:r>
                        <m:r>
                          <a:rPr lang="ro-RO" sz="1800" i="1">
                            <a:latin typeface="Cambria Math"/>
                          </a:rPr>
                          <m:t>,</m:t>
                        </m:r>
                        <m:r>
                          <a:rPr lang="ro-RO" sz="1800" i="1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ro-RO" sz="1800" i="1">
                        <a:latin typeface="Cambria Math"/>
                      </a:rPr>
                      <m:t>∙</m:t>
                    </m:r>
                    <m:acc>
                      <m:accPr>
                        <m:chr m:val="̂"/>
                        <m:ctrlPr>
                          <a:rPr lang="ro-RO" sz="1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o-RO" sz="1800" i="1">
                            <a:latin typeface="Cambria Math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ro-RO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𝑚</m:t>
                        </m:r>
                        <m:r>
                          <a:rPr lang="ro-RO" sz="1800" i="1">
                            <a:latin typeface="Cambria Math"/>
                          </a:rPr>
                          <m:t>,</m:t>
                        </m:r>
                        <m:r>
                          <a:rPr lang="ro-RO" sz="1800" i="1">
                            <a:latin typeface="Cambria Math"/>
                          </a:rPr>
                          <m:t>𝑛</m:t>
                        </m:r>
                      </m:e>
                    </m:d>
                  </m:oMath>
                </a14:m>
                <a:r>
                  <a:rPr lang="ro-RO" sz="1800" dirty="0"/>
                  <a:t> </a:t>
                </a:r>
              </a:p>
              <a:p>
                <a:pPr marL="0" indent="0" algn="ctr">
                  <a:buNone/>
                </a:pPr>
                <a:endParaRPr lang="ro-RO" sz="1800" dirty="0"/>
              </a:p>
              <a:p>
                <a:pPr marL="0" indent="0">
                  <a:buNone/>
                </a:pPr>
                <a:endParaRPr lang="ro-RO" sz="1800" dirty="0"/>
              </a:p>
              <a:p>
                <a:pPr marL="0" indent="0" algn="just">
                  <a:buNone/>
                </a:pPr>
                <a:r>
                  <a:rPr lang="ro-RO" sz="1800" dirty="0"/>
                  <a:t>Legătura dintre filtrarea în domeniul de frecvențe și filtrarea spațială cu mască de dimensiunea imaginii filtrate este dată de </a:t>
                </a:r>
                <a:r>
                  <a:rPr lang="ro-RO" sz="1800" b="1" dirty="0"/>
                  <a:t>teorema de convoluție</a:t>
                </a:r>
                <a:r>
                  <a:rPr lang="ro-RO" sz="1800" dirty="0"/>
                  <a:t>: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ro-RO" sz="1800" b="1" i="1" smtClean="0">
                        <a:solidFill>
                          <a:schemeClr val="tx1"/>
                        </a:solidFill>
                        <a:latin typeface="Cambria Math"/>
                      </a:rPr>
                      <m:t>𝑻𝑭𝑫</m:t>
                    </m:r>
                    <m:d>
                      <m:dPr>
                        <m:ctrlPr>
                          <a:rPr lang="ro-RO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𝒇</m:t>
                        </m:r>
                        <m:r>
                          <a:rPr lang="ro-RO" sz="18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⨂</m:t>
                        </m:r>
                        <m:r>
                          <a:rPr lang="ro-RO" sz="18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𝒉</m:t>
                        </m:r>
                      </m:e>
                    </m:d>
                    <m:r>
                      <a:rPr lang="ro-RO" sz="1800" b="1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ro-RO" sz="1800" b="1" i="1">
                        <a:solidFill>
                          <a:schemeClr val="tx1"/>
                        </a:solidFill>
                        <a:latin typeface="Cambria Math"/>
                      </a:rPr>
                      <m:t>𝑻𝑭𝑫</m:t>
                    </m:r>
                    <m:r>
                      <a:rPr lang="ro-RO" sz="1800" b="1" i="1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ro-RO" sz="1800" b="1" i="1">
                        <a:solidFill>
                          <a:schemeClr val="tx1"/>
                        </a:solidFill>
                        <a:latin typeface="Cambria Math"/>
                      </a:rPr>
                      <m:t>𝒇</m:t>
                    </m:r>
                    <m:r>
                      <a:rPr lang="ro-RO" sz="1800" b="1" i="1">
                        <a:solidFill>
                          <a:schemeClr val="tx1"/>
                        </a:solidFill>
                        <a:latin typeface="Cambria Math"/>
                      </a:rPr>
                      <m:t>)∙</m:t>
                    </m:r>
                    <m:r>
                      <a:rPr lang="ro-RO" sz="1800" b="1" i="1">
                        <a:solidFill>
                          <a:schemeClr val="tx1"/>
                        </a:solidFill>
                        <a:latin typeface="Cambria Math"/>
                      </a:rPr>
                      <m:t>𝑻𝑭𝑫</m:t>
                    </m:r>
                    <m:r>
                      <a:rPr lang="ro-RO" sz="1800" b="1" i="1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ro-RO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𝒉</m:t>
                    </m:r>
                    <m:r>
                      <a:rPr lang="ro-RO" sz="1800" b="1" i="1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ro-RO" sz="1800" b="1" dirty="0">
                    <a:solidFill>
                      <a:schemeClr val="tx1"/>
                    </a:solidFill>
                  </a:rPr>
                  <a:t> </a:t>
                </a:r>
                <a:r>
                  <a:rPr lang="ro-RO" sz="1800" dirty="0">
                    <a:solidFill>
                      <a:schemeClr val="tx1"/>
                    </a:solidFill>
                  </a:rPr>
                  <a:t>adică  </a:t>
                </a:r>
              </a:p>
              <a:p>
                <a:pPr marL="0" indent="0" algn="ctr">
                  <a:buNone/>
                </a:pPr>
                <a:endParaRPr lang="ro-RO" sz="1800" i="1" dirty="0">
                  <a:solidFill>
                    <a:schemeClr val="tx1"/>
                  </a:solidFill>
                  <a:latin typeface="Cambria Math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ro-RO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o-RO" sz="1800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𝒇</m:t>
                          </m:r>
                          <m:r>
                            <a:rPr lang="ro-RO" sz="1800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⨂</m:t>
                          </m:r>
                          <m:r>
                            <a:rPr lang="ro-RO" sz="1800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𝒉</m:t>
                          </m:r>
                        </m:e>
                      </m:acc>
                      <m:r>
                        <a:rPr lang="ro-RO" sz="1800" b="1" i="1">
                          <a:solidFill>
                            <a:schemeClr val="tx1"/>
                          </a:solidFill>
                          <a:latin typeface="Cambria Math"/>
                        </a:rPr>
                        <m:t>= </m:t>
                      </m:r>
                      <m:acc>
                        <m:accPr>
                          <m:chr m:val="̂"/>
                          <m:ctrlPr>
                            <a:rPr lang="ro-RO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o-RO" sz="1800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𝒇</m:t>
                          </m:r>
                        </m:e>
                      </m:acc>
                      <m:r>
                        <a:rPr lang="ro-RO" sz="1800" b="1" i="1">
                          <a:solidFill>
                            <a:schemeClr val="tx1"/>
                          </a:solidFill>
                          <a:latin typeface="Cambria Math"/>
                        </a:rPr>
                        <m:t>∙</m:t>
                      </m:r>
                      <m:acc>
                        <m:accPr>
                          <m:chr m:val="̂"/>
                          <m:ctrlPr>
                            <a:rPr lang="ro-RO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o-RO" sz="1800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𝒉</m:t>
                          </m:r>
                        </m:e>
                      </m:acc>
                    </m:oMath>
                  </m:oMathPara>
                </a14:m>
                <a:endParaRPr lang="ro-RO" sz="18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767861" y="501161"/>
                <a:ext cx="10656277" cy="6135166"/>
              </a:xfrm>
              <a:blipFill>
                <a:blip r:embed="rId2"/>
                <a:stretch>
                  <a:fillRect l="-915" t="-1390" r="-4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1524001" y="31538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1524001" y="31490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1524001" y="16441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1524001" y="13012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63C39C-A990-D112-011D-379F22B102E2}"/>
              </a:ext>
            </a:extLst>
          </p:cNvPr>
          <p:cNvSpPr txBox="1"/>
          <p:nvPr/>
        </p:nvSpPr>
        <p:spPr>
          <a:xfrm>
            <a:off x="9058428" y="6488668"/>
            <a:ext cx="3133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dirty="0"/>
              <a:t>vezi</a:t>
            </a:r>
            <a:r>
              <a:rPr lang="ro-RO" i="1" dirty="0"/>
              <a:t> </a:t>
            </a:r>
            <a:r>
              <a:rPr lang="ro-RO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grafic_spectru_Fourier.m</a:t>
            </a:r>
            <a:endParaRPr lang="ro-RO" i="1" dirty="0"/>
          </a:p>
        </p:txBody>
      </p:sp>
    </p:spTree>
    <p:extLst>
      <p:ext uri="{BB962C8B-B14F-4D97-AF65-F5344CB8AC3E}">
        <p14:creationId xmlns:p14="http://schemas.microsoft.com/office/powerpoint/2010/main" val="1265211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384314" y="-1"/>
                <a:ext cx="11807686" cy="6858001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buNone/>
                </a:pPr>
                <a:r>
                  <a:rPr lang="ro-RO" sz="2400" b="1" dirty="0"/>
                  <a:t>Construire filtre</a:t>
                </a:r>
              </a:p>
              <a:p>
                <a:pPr marL="0" indent="0" algn="just">
                  <a:buNone/>
                </a:pPr>
                <a:endParaRPr lang="en-US" sz="1800" dirty="0"/>
              </a:p>
              <a:p>
                <a:pPr marL="0" indent="0" algn="just">
                  <a:buNone/>
                </a:pPr>
                <a:r>
                  <a:rPr lang="ro-RO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b="1" i="1"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ro-RO" sz="1800" b="1" i="1">
                            <a:latin typeface="Cambria Math"/>
                          </a:rPr>
                          <m:t>𝟎</m:t>
                        </m:r>
                      </m:sub>
                    </m:sSub>
                    <m:r>
                      <a:rPr lang="ro-RO" sz="1800" b="1" i="1">
                        <a:latin typeface="Cambria Math"/>
                      </a:rPr>
                      <m:t>&gt;</m:t>
                    </m:r>
                    <m:r>
                      <a:rPr lang="ro-RO" sz="1800" b="1" i="1">
                        <a:latin typeface="Cambria Math"/>
                      </a:rPr>
                      <m:t>𝟎</m:t>
                    </m:r>
                  </m:oMath>
                </a14:m>
                <a:r>
                  <a:rPr lang="ro-RO" sz="1800" b="1" dirty="0"/>
                  <a:t> – raza filtrului (prag)		trece-jos (</a:t>
                </a:r>
                <a:r>
                  <a:rPr lang="ro-RO" sz="1800" b="1" dirty="0" err="1"/>
                  <a:t>low-pass</a:t>
                </a:r>
                <a:r>
                  <a:rPr lang="ro-RO" sz="1800" b="1" dirty="0"/>
                  <a:t>) – netezire 	trece-sus (</a:t>
                </a:r>
                <a:r>
                  <a:rPr lang="ro-RO" sz="1800" b="1" dirty="0" err="1"/>
                  <a:t>high-pass</a:t>
                </a:r>
                <a:r>
                  <a:rPr lang="ro-RO" sz="1800" b="1" dirty="0"/>
                  <a:t>) – evidențiere contururi</a:t>
                </a:r>
              </a:p>
              <a:p>
                <a:pPr marL="0" indent="0" algn="just">
                  <a:buNone/>
                </a:pPr>
                <a:endParaRPr lang="en-US" sz="1800" b="1" dirty="0"/>
              </a:p>
              <a:p>
                <a:pPr marL="0" indent="0" algn="just">
                  <a:buNone/>
                </a:pPr>
                <a:endParaRPr lang="ro-RO" sz="1800" b="1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𝐷</m:t>
                    </m:r>
                    <m:d>
                      <m:dPr>
                        <m:ctrlPr>
                          <a:rPr lang="ro-RO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𝑛</m:t>
                        </m:r>
                        <m:r>
                          <a:rPr lang="ro-RO" sz="1800" i="1">
                            <a:latin typeface="Cambria Math"/>
                          </a:rPr>
                          <m:t>,</m:t>
                        </m:r>
                        <m:r>
                          <a:rPr lang="ro-RO" sz="1800" i="1">
                            <a:latin typeface="Cambria Math"/>
                          </a:rPr>
                          <m:t>𝑚</m:t>
                        </m:r>
                      </m:e>
                    </m:d>
                  </m:oMath>
                </a14:m>
                <a:r>
                  <a:rPr lang="ro-RO" sz="1800" dirty="0"/>
                  <a:t> este distanța de la punctul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o-RO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𝑛</m:t>
                        </m:r>
                        <m:r>
                          <a:rPr lang="ro-RO" sz="1800" i="1">
                            <a:latin typeface="Cambria Math"/>
                          </a:rPr>
                          <m:t>,</m:t>
                        </m:r>
                        <m:r>
                          <a:rPr lang="ro-RO" sz="1800" i="1">
                            <a:latin typeface="Cambria Math"/>
                          </a:rPr>
                          <m:t>𝑚</m:t>
                        </m:r>
                      </m:e>
                    </m:d>
                  </m:oMath>
                </a14:m>
                <a:r>
                  <a:rPr lang="ro-RO" sz="1800" dirty="0"/>
                  <a:t> la centrul de simetrie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o-RO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o-RO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o-RO" sz="1800" i="1">
                                <a:latin typeface="Cambria Math"/>
                              </a:rPr>
                              <m:t>𝑃</m:t>
                            </m:r>
                          </m:num>
                          <m:den>
                            <m:r>
                              <a:rPr lang="ro-RO" sz="1800" i="1">
                                <a:latin typeface="Cambria Math"/>
                              </a:rPr>
                              <m:t>2</m:t>
                            </m:r>
                          </m:den>
                        </m:f>
                        <m:r>
                          <a:rPr lang="ro-RO" sz="1800" i="1">
                            <a:latin typeface="Cambria Math"/>
                          </a:rPr>
                          <m:t>,</m:t>
                        </m:r>
                        <m:f>
                          <m:fPr>
                            <m:ctrlPr>
                              <a:rPr lang="ro-RO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o-RO" sz="1800" i="1">
                                <a:latin typeface="Cambria Math"/>
                              </a:rPr>
                              <m:t>𝑄</m:t>
                            </m:r>
                          </m:num>
                          <m:den>
                            <m:r>
                              <a:rPr lang="ro-RO" sz="1800" i="1">
                                <a:latin typeface="Cambria Math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ro-RO" sz="1800" dirty="0"/>
                  <a:t> </a:t>
                </a:r>
              </a:p>
              <a:p>
                <a:pPr marL="0" indent="0">
                  <a:buNone/>
                </a:pPr>
                <a:endParaRPr lang="ro-RO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i="1">
                          <a:latin typeface="Cambria Math"/>
                        </a:rPr>
                        <m:t>𝐷</m:t>
                      </m:r>
                      <m:d>
                        <m:dPr>
                          <m:ctrlPr>
                            <a:rPr lang="ro-RO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i="1">
                              <a:latin typeface="Cambria Math"/>
                            </a:rPr>
                            <m:t>𝑛</m:t>
                          </m:r>
                          <m:r>
                            <a:rPr lang="ro-RO" sz="1800" i="1">
                              <a:latin typeface="Cambria Math"/>
                            </a:rPr>
                            <m:t>,</m:t>
                          </m:r>
                          <m:r>
                            <a:rPr lang="ro-RO" sz="1800" i="1">
                              <a:latin typeface="Cambria Math"/>
                            </a:rPr>
                            <m:t>𝑚</m:t>
                          </m:r>
                        </m:e>
                      </m:d>
                      <m:r>
                        <a:rPr lang="ro-RO" sz="1800" i="1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ro-RO" sz="18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ro-RO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ro-RO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ro-RO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o-RO" sz="1800" i="1">
                                          <a:latin typeface="Cambria Math"/>
                                        </a:rPr>
                                        <m:t>𝑛</m:t>
                                      </m:r>
                                      <m:r>
                                        <a:rPr lang="ro-RO" sz="1800" i="1">
                                          <a:latin typeface="Cambria Math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ro-RO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ro-RO" sz="1800" i="1">
                                              <a:latin typeface="Cambria Math"/>
                                            </a:rPr>
                                            <m:t>𝑃</m:t>
                                          </m:r>
                                        </m:num>
                                        <m:den>
                                          <m:r>
                                            <a:rPr lang="ro-RO" sz="1800" i="1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ro-RO" sz="1800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ro-RO" sz="1800" i="1">
                                  <a:latin typeface="Cambria Math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ro-RO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ro-RO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o-RO" sz="1800" i="1">
                                          <a:latin typeface="Cambria Math"/>
                                        </a:rPr>
                                        <m:t>𝑚</m:t>
                                      </m:r>
                                      <m:r>
                                        <a:rPr lang="ro-RO" sz="1800" i="1">
                                          <a:latin typeface="Cambria Math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ro-RO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ro-RO" sz="1800" i="1">
                                              <a:latin typeface="Cambria Math"/>
                                            </a:rPr>
                                            <m:t>𝑄</m:t>
                                          </m:r>
                                        </m:num>
                                        <m:den>
                                          <m:r>
                                            <a:rPr lang="ro-RO" sz="1800" i="1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ro-RO" sz="1800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rad>
                    </m:oMath>
                  </m:oMathPara>
                </a14:m>
                <a:endParaRPr lang="ro-RO" sz="1800" dirty="0"/>
              </a:p>
              <a:p>
                <a:pPr marL="0" indent="0">
                  <a:buNone/>
                </a:pPr>
                <a:endParaRPr lang="ro-RO" sz="1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ro-RO" sz="1800" dirty="0"/>
                  <a:t> - raza cercului care include o cantitate specificată,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𝛼</m:t>
                    </m:r>
                  </m:oMath>
                </a14:m>
                <a:r>
                  <a:rPr lang="ro-RO" sz="1800" dirty="0"/>
                  <a:t>, din puterea spectrală totală a imaginii prelucrate</a:t>
                </a:r>
              </a:p>
              <a:p>
                <a:pPr marL="0" indent="0">
                  <a:buNone/>
                </a:pPr>
                <a:endParaRPr lang="ro-RO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i="1">
                          <a:latin typeface="Cambria Math"/>
                        </a:rPr>
                        <m:t>∝=100∙</m:t>
                      </m:r>
                      <m:d>
                        <m:dPr>
                          <m:begChr m:val="["/>
                          <m:endChr m:val="]"/>
                          <m:ctrlPr>
                            <a:rPr lang="ro-RO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ro-RO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limLoc m:val="undOvr"/>
                                  <m:supHide m:val="on"/>
                                  <m:ctrlPr>
                                    <a:rPr lang="ro-RO" sz="18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ro-RO" sz="1800" i="1">
                                      <a:latin typeface="Cambria Math"/>
                                    </a:rPr>
                                    <m:t>𝑛</m:t>
                                  </m:r>
                                </m:sub>
                                <m:sup/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supHide m:val="on"/>
                                      <m:ctrlPr>
                                        <a:rPr lang="ro-RO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eqArr>
                                        <m:eqArrPr>
                                          <m:ctrlPr>
                                            <a:rPr lang="ro-RO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ro-RO" sz="1800" i="1">
                                              <a:latin typeface="Cambria Math"/>
                                            </a:rPr>
                                            <m:t>𝑚</m:t>
                                          </m:r>
                                        </m:e>
                                        <m:e>
                                          <m:r>
                                            <a:rPr lang="ro-RO" sz="1800" i="1">
                                              <a:latin typeface="Cambria Math"/>
                                            </a:rPr>
                                            <m:t>𝐷</m:t>
                                          </m:r>
                                          <m:d>
                                            <m:dPr>
                                              <m:ctrlPr>
                                                <a:rPr lang="ro-RO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ro-RO" sz="1800" i="1">
                                                  <a:latin typeface="Cambria Math"/>
                                                </a:rPr>
                                                <m:t>𝑚</m:t>
                                              </m:r>
                                              <m:r>
                                                <a:rPr lang="ro-RO" sz="1800" i="1">
                                                  <a:latin typeface="Cambria Math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ro-RO" sz="1800" i="1">
                                                  <a:latin typeface="Cambria Math"/>
                                                </a:rPr>
                                                <m:t>𝑛</m:t>
                                              </m:r>
                                            </m:e>
                                          </m:d>
                                          <m:r>
                                            <a:rPr lang="ro-RO" sz="1800" i="1">
                                              <a:latin typeface="Cambria Math"/>
                                              <a:ea typeface="Cambria Math"/>
                                            </a:rPr>
                                            <m:t>≤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ro-RO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o-RO" sz="1800" i="1">
                                                  <a:latin typeface="Cambria Math"/>
                                                </a:rPr>
                                                <m:t>𝐷</m:t>
                                              </m:r>
                                            </m:e>
                                            <m:sub>
                                              <m:r>
                                                <a:rPr lang="ro-RO" sz="1800" i="1">
                                                  <a:latin typeface="Cambria Math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e>
                                      </m:eqArr>
                                    </m:sub>
                                    <m:sup/>
                                    <m:e>
                                      <m:r>
                                        <a:rPr lang="ro-RO" sz="1800" i="1">
                                          <a:latin typeface="Cambria Math"/>
                                        </a:rPr>
                                        <m:t>𝑃</m:t>
                                      </m:r>
                                      <m:d>
                                        <m:dPr>
                                          <m:ctrlPr>
                                            <a:rPr lang="ro-RO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ro-RO" sz="1800" i="1">
                                              <a:latin typeface="Cambria Math"/>
                                            </a:rPr>
                                            <m:t>𝑛</m:t>
                                          </m:r>
                                          <m:r>
                                            <a:rPr lang="ro-RO" sz="1800" i="1">
                                              <a:latin typeface="Cambria Math"/>
                                            </a:rPr>
                                            <m:t>,</m:t>
                                          </m:r>
                                          <m:r>
                                            <a:rPr lang="ro-RO" sz="1800" i="1">
                                              <a:latin typeface="Cambria Math"/>
                                            </a:rPr>
                                            <m:t>𝑚</m:t>
                                          </m:r>
                                        </m:e>
                                      </m:d>
                                    </m:e>
                                  </m:nary>
                                </m:e>
                              </m:nary>
                            </m:num>
                            <m:den>
                              <m:sSub>
                                <m:sSubPr>
                                  <m:ctrlPr>
                                    <a:rPr lang="ro-RO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o-RO" sz="1800" i="1">
                                      <a:latin typeface="Cambria Math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ro-RO" sz="1800" i="1">
                                      <a:latin typeface="Cambria Math"/>
                                    </a:rPr>
                                    <m:t>𝑇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ro-RO" sz="18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384314" y="-1"/>
                <a:ext cx="11807686" cy="6858001"/>
              </a:xfrm>
              <a:blipFill>
                <a:blip r:embed="rId2"/>
                <a:stretch>
                  <a:fillRect l="-774" t="-1244" b="-12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1524001" y="31538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1524001" y="31490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1524001" y="16441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1524001" y="13012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97CE236-45A3-4867-9B23-EFD2842AEC78}"/>
                  </a:ext>
                </a:extLst>
              </p:cNvPr>
              <p:cNvSpPr txBox="1"/>
              <p:nvPr/>
            </p:nvSpPr>
            <p:spPr>
              <a:xfrm>
                <a:off x="702366" y="1575962"/>
                <a:ext cx="5393634" cy="987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 algn="just">
                  <a:buNone/>
                </a:pPr>
                <a:r>
                  <a:rPr lang="ro-RO" sz="1800" b="1" dirty="0"/>
                  <a:t>Filtre ILP</a:t>
                </a:r>
                <a:endParaRPr lang="ro-RO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i="1">
                          <a:latin typeface="Cambria Math"/>
                        </a:rPr>
                        <m:t>𝐻</m:t>
                      </m:r>
                      <m:d>
                        <m:dPr>
                          <m:ctrlPr>
                            <a:rPr lang="ro-RO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i="1">
                              <a:latin typeface="Cambria Math"/>
                            </a:rPr>
                            <m:t>𝑛</m:t>
                          </m:r>
                          <m:r>
                            <a:rPr lang="ro-RO" sz="1800" i="1">
                              <a:latin typeface="Cambria Math"/>
                            </a:rPr>
                            <m:t>,</m:t>
                          </m:r>
                          <m:r>
                            <a:rPr lang="ro-RO" sz="1800" i="1">
                              <a:latin typeface="Cambria Math"/>
                            </a:rPr>
                            <m:t>𝑚</m:t>
                          </m:r>
                        </m:e>
                      </m:d>
                      <m:r>
                        <a:rPr lang="ro-RO" sz="1800" i="1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ro-RO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o-RO" sz="1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ro-RO" sz="1800" i="1">
                                  <a:latin typeface="Cambria Math"/>
                                </a:rPr>
                                <m:t>1,   </m:t>
                              </m:r>
                              <m:r>
                                <m:rPr>
                                  <m:sty m:val="p"/>
                                </m:rPr>
                                <a:rPr lang="ro-RO" sz="1800" i="0">
                                  <a:latin typeface="Cambria Math"/>
                                </a:rPr>
                                <m:t>dac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ă 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ro-RO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sz="1800" i="1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ro-RO" sz="1800" i="1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ro-RO" sz="1800" i="1"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</m:d>
                              <m:r>
                                <a:rPr lang="ro-RO" sz="1800" i="1">
                                  <a:latin typeface="Cambria Math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ro-RO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o-RO" sz="1800" i="1">
                                      <a:latin typeface="Cambria Math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ro-RO" sz="1800" i="1"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r>
                                <a:rPr lang="ro-RO" sz="1800" i="1">
                                  <a:latin typeface="Cambria Math"/>
                                </a:rPr>
                                <m:t>0,   </m:t>
                              </m:r>
                              <m:r>
                                <m:rPr>
                                  <m:sty m:val="p"/>
                                </m:rPr>
                                <a:rPr lang="ro-RO" sz="1800" i="0">
                                  <a:latin typeface="Cambria Math"/>
                                </a:rPr>
                                <m:t>dac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ă 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ro-RO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sz="1800" i="1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ro-RO" sz="1800" i="1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ro-RO" sz="1800" i="1"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</m:d>
                              <m:r>
                                <a:rPr lang="ro-RO" sz="1800" i="1">
                                  <a:latin typeface="Cambria Math"/>
                                </a:rPr>
                                <m:t>&gt;</m:t>
                              </m:r>
                              <m:sSub>
                                <m:sSubPr>
                                  <m:ctrlPr>
                                    <a:rPr lang="ro-RO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o-RO" sz="1800" i="1">
                                      <a:latin typeface="Cambria Math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ro-RO" sz="1800" i="1"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97CE236-45A3-4867-9B23-EFD2842AE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366" y="1575962"/>
                <a:ext cx="5393634" cy="987193"/>
              </a:xfrm>
              <a:prstGeom prst="rect">
                <a:avLst/>
              </a:prstGeom>
              <a:blipFill>
                <a:blip r:embed="rId3"/>
                <a:stretch>
                  <a:fillRect l="-904" t="-3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4150C35-5AF1-4A9A-A15A-B01BEBF6C9DD}"/>
                  </a:ext>
                </a:extLst>
              </p:cNvPr>
              <p:cNvSpPr txBox="1"/>
              <p:nvPr/>
            </p:nvSpPr>
            <p:spPr>
              <a:xfrm>
                <a:off x="6096000" y="1575961"/>
                <a:ext cx="5393634" cy="987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>
                  <a:buNone/>
                </a:pPr>
                <a:r>
                  <a:rPr lang="ro-RO" sz="1800" b="1" dirty="0"/>
                  <a:t>Filtre IHP</a:t>
                </a:r>
                <a:endParaRPr lang="ro-RO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i="1">
                          <a:latin typeface="Cambria Math"/>
                        </a:rPr>
                        <m:t>𝐻</m:t>
                      </m:r>
                      <m:d>
                        <m:dPr>
                          <m:ctrlPr>
                            <a:rPr lang="ro-RO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i="1">
                              <a:latin typeface="Cambria Math"/>
                            </a:rPr>
                            <m:t>𝑛</m:t>
                          </m:r>
                          <m:r>
                            <a:rPr lang="ro-RO" sz="1800" i="1">
                              <a:latin typeface="Cambria Math"/>
                            </a:rPr>
                            <m:t>,</m:t>
                          </m:r>
                          <m:r>
                            <a:rPr lang="ro-RO" sz="1800" i="1">
                              <a:latin typeface="Cambria Math"/>
                            </a:rPr>
                            <m:t>𝑚</m:t>
                          </m:r>
                        </m:e>
                      </m:d>
                      <m:r>
                        <a:rPr lang="ro-RO" sz="1800" i="1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ro-RO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o-RO" sz="1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ro-RO" sz="1800" i="1">
                                  <a:latin typeface="Cambria Math"/>
                                </a:rPr>
                                <m:t>0,   </m:t>
                              </m:r>
                              <m:r>
                                <m:rPr>
                                  <m:sty m:val="p"/>
                                </m:rPr>
                                <a:rPr lang="ro-RO" sz="1800" i="0">
                                  <a:latin typeface="Cambria Math"/>
                                </a:rPr>
                                <m:t>dac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ă 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ro-RO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sz="1800" i="1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ro-RO" sz="1800" i="1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ro-RO" sz="1800" i="1"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</m:d>
                              <m:r>
                                <a:rPr lang="ro-RO" sz="1800" i="1">
                                  <a:latin typeface="Cambria Math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ro-RO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o-RO" sz="1800" i="1">
                                      <a:latin typeface="Cambria Math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ro-RO" sz="1800" i="1"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r>
                                <a:rPr lang="ro-RO" sz="1800" i="1">
                                  <a:latin typeface="Cambria Math"/>
                                </a:rPr>
                                <m:t>1,   </m:t>
                              </m:r>
                              <m:r>
                                <m:rPr>
                                  <m:sty m:val="p"/>
                                </m:rPr>
                                <a:rPr lang="ro-RO" sz="1800" i="0">
                                  <a:latin typeface="Cambria Math"/>
                                </a:rPr>
                                <m:t>dac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ă 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ro-RO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sz="1800" i="1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ro-RO" sz="1800" i="1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ro-RO" sz="1800" i="1"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</m:d>
                              <m:r>
                                <a:rPr lang="ro-RO" sz="1800" i="1">
                                  <a:latin typeface="Cambria Math"/>
                                </a:rPr>
                                <m:t>&gt;</m:t>
                              </m:r>
                              <m:sSub>
                                <m:sSubPr>
                                  <m:ctrlPr>
                                    <a:rPr lang="ro-RO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o-RO" sz="1800" i="1">
                                      <a:latin typeface="Cambria Math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ro-RO" sz="1800" i="1"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ro-RO" sz="18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4150C35-5AF1-4A9A-A15A-B01BEBF6C9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575961"/>
                <a:ext cx="5393634" cy="987193"/>
              </a:xfrm>
              <a:prstGeom prst="rect">
                <a:avLst/>
              </a:prstGeom>
              <a:blipFill>
                <a:blip r:embed="rId4"/>
                <a:stretch>
                  <a:fillRect l="-904" t="-3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4833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E26ECFF-244D-4C39-BC6A-F35FF4B6DB9F}"/>
              </a:ext>
            </a:extLst>
          </p:cNvPr>
          <p:cNvSpPr/>
          <p:nvPr/>
        </p:nvSpPr>
        <p:spPr>
          <a:xfrm>
            <a:off x="5657139" y="546863"/>
            <a:ext cx="5734800" cy="53928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2AFF8F-9D66-4924-B5A7-F2C93955C9BF}"/>
              </a:ext>
            </a:extLst>
          </p:cNvPr>
          <p:cNvSpPr txBox="1"/>
          <p:nvPr/>
        </p:nvSpPr>
        <p:spPr>
          <a:xfrm>
            <a:off x="810777" y="954605"/>
            <a:ext cx="3429000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ro-RO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Expandare imagine</a:t>
            </a:r>
          </a:p>
          <a:p>
            <a:pPr lvl="1"/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o-RO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imagine </a:t>
            </a:r>
            <a:r>
              <a:rPr lang="ro-RO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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</a:t>
            </a:r>
            <a:endParaRPr lang="ro-RO" b="0" i="0" u="none" strike="noStrike" baseline="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o-RO" sz="12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  <a:p>
            <a:r>
              <a:rPr lang="ro-RO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Centrarea imaginii expandate</a:t>
            </a:r>
            <a:endParaRPr lang="en-US" sz="1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ro-RO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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fc</a:t>
            </a:r>
            <a:endParaRPr lang="ro-RO" sz="1800" b="0" i="0" u="none" strike="noStrike" baseline="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o-RO" sz="12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ro-RO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Transformarea Fourier</a:t>
            </a:r>
            <a:endParaRPr lang="en-US" sz="1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fc </a:t>
            </a:r>
            <a:r>
              <a:rPr lang="ro-RO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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fcTFD</a:t>
            </a:r>
            <a:endParaRPr lang="ro-RO" sz="1800" b="0" i="0" u="none" strike="noStrike" baseline="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o-RO" sz="12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ro-RO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Construire func</a:t>
            </a: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ț</a:t>
            </a:r>
            <a:r>
              <a:rPr lang="ro-RO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 filtru</a:t>
            </a:r>
            <a:endParaRPr lang="en-US" sz="1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ro-RO" sz="1800" b="0" i="0" u="none" strike="noStrike" baseline="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o-RO" sz="12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ro-RO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Aplicare funcție filtru</a:t>
            </a:r>
            <a:endParaRPr lang="en-US" sz="1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fcTFD</a:t>
            </a:r>
            <a:r>
              <a:rPr lang="ro-RO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.*</a:t>
            </a:r>
            <a:r>
              <a:rPr lang="ro-RO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ro-RO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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gTFD</a:t>
            </a:r>
            <a:endParaRPr lang="ro-RO" sz="1800" b="0" i="0" u="none" strike="noStrike" baseline="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o-RO" sz="12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ro-RO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Reconstruire imagine filtrată</a:t>
            </a:r>
            <a:endParaRPr lang="en-US" sz="1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gTFD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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gc</a:t>
            </a:r>
            <a:endParaRPr lang="ro-RO" sz="1800" b="0" i="0" u="none" strike="noStrike" baseline="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o-RO" sz="12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ro-RO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Eliminarea centrării</a:t>
            </a:r>
            <a:endParaRPr lang="en-US" sz="1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gc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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</a:t>
            </a:r>
            <a:endParaRPr lang="ro-RO" sz="1800" b="0" i="0" u="none" strike="noStrike" baseline="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o-RO" sz="12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ro-RO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Extragere imagine rezultat</a:t>
            </a:r>
            <a:endParaRPr lang="en-US" sz="1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ro-RO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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imagine </a:t>
            </a:r>
            <a:r>
              <a:rPr lang="en-US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filtrat</a:t>
            </a:r>
            <a:r>
              <a:rPr lang="ro-RO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ă</a:t>
            </a:r>
            <a:endParaRPr lang="ro-RO" sz="1800" b="0" i="0" u="none" strike="noStrike" baseline="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DEA991-694C-4D35-9E48-AAD540117D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0588" y="1895063"/>
            <a:ext cx="2867902" cy="2696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CCFB5C-9AF3-4033-ADD1-FE04F324BC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7514" y="546863"/>
            <a:ext cx="5734050" cy="53911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D47DB6E-98DB-406B-A815-99B8659563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7514" y="546863"/>
            <a:ext cx="5734050" cy="53911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0651264-FF72-4AC2-88C8-6AD03C3866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7514" y="546863"/>
            <a:ext cx="5734050" cy="53911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79664E9-B3FB-4228-8558-FF853A1FC7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7514" y="545213"/>
            <a:ext cx="5734050" cy="539115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05ACE24-73E1-4CBC-B79A-B5752E2EF75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7514" y="543563"/>
            <a:ext cx="5734050" cy="539115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FF3FCB0-3217-4D6C-9719-7E6EC3A9C61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7514" y="541913"/>
            <a:ext cx="5734050" cy="5391150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078C17D1-EED0-4CE0-942F-449135B2C315}"/>
              </a:ext>
            </a:extLst>
          </p:cNvPr>
          <p:cNvGrpSpPr/>
          <p:nvPr/>
        </p:nvGrpSpPr>
        <p:grpSpPr>
          <a:xfrm>
            <a:off x="5265019" y="184583"/>
            <a:ext cx="6391382" cy="6206592"/>
            <a:chOff x="5265019" y="184583"/>
            <a:chExt cx="6391382" cy="6206592"/>
          </a:xfrm>
          <a:solidFill>
            <a:schemeClr val="bg1"/>
          </a:solidFill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AE76AB6-C05A-4CC6-8CDE-3079E8AE5C5C}"/>
                </a:ext>
              </a:extLst>
            </p:cNvPr>
            <p:cNvSpPr/>
            <p:nvPr/>
          </p:nvSpPr>
          <p:spPr>
            <a:xfrm>
              <a:off x="5332396" y="184583"/>
              <a:ext cx="6324005" cy="17088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BCF97A4-724C-42F6-B62E-A7167C1C98CA}"/>
                </a:ext>
              </a:extLst>
            </p:cNvPr>
            <p:cNvSpPr/>
            <p:nvPr/>
          </p:nvSpPr>
          <p:spPr>
            <a:xfrm>
              <a:off x="5447899" y="4591463"/>
              <a:ext cx="6131293" cy="179971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E693DD1-33B4-43B0-B74F-44DBC79544BF}"/>
                </a:ext>
              </a:extLst>
            </p:cNvPr>
            <p:cNvSpPr/>
            <p:nvPr/>
          </p:nvSpPr>
          <p:spPr>
            <a:xfrm>
              <a:off x="5265019" y="184583"/>
              <a:ext cx="1825194" cy="62065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D023A93-818A-4DDA-9F8E-600F58A47A52}"/>
                </a:ext>
              </a:extLst>
            </p:cNvPr>
            <p:cNvSpPr/>
            <p:nvPr/>
          </p:nvSpPr>
          <p:spPr>
            <a:xfrm>
              <a:off x="9958490" y="184583"/>
              <a:ext cx="1615954" cy="62065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1512929E-4DEF-4330-A21D-312D0444BED8}"/>
              </a:ext>
            </a:extLst>
          </p:cNvPr>
          <p:cNvSpPr txBox="1"/>
          <p:nvPr/>
        </p:nvSpPr>
        <p:spPr>
          <a:xfrm>
            <a:off x="5208636" y="5918867"/>
            <a:ext cx="66318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solidFill>
                  <a:srgbClr val="FF0000"/>
                </a:solidFill>
              </a:rPr>
              <a:t>Atenție</a:t>
            </a:r>
            <a:r>
              <a:rPr lang="ro-RO" dirty="0"/>
              <a:t>: imaginile folosite pentru exemplificarea pașilor 2, 3, 5, 6 sunt rezultatul conversiei la uint8 a unor matrice cu elemente numere complexe/reale.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977BD4F-9E6F-4452-B173-49CE4AB2B941}"/>
              </a:ext>
            </a:extLst>
          </p:cNvPr>
          <p:cNvSpPr txBox="1"/>
          <p:nvPr/>
        </p:nvSpPr>
        <p:spPr>
          <a:xfrm>
            <a:off x="136054" y="311080"/>
            <a:ext cx="4777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400" b="1" dirty="0"/>
              <a:t>Algoritm filtrare în domeniul Fourier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236802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9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"/>
                            </p:stCondLst>
                            <p:childTnLst>
                              <p:par>
                                <p:cTn id="93" presetID="26" presetClass="emph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5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9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9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9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9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uiExpand="1" build="p"/>
      <p:bldP spid="30" grpId="0"/>
      <p:bldP spid="30" grpId="1"/>
      <p:bldP spid="30" grpId="2"/>
      <p:bldP spid="30" grpId="3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</TotalTime>
  <Words>559</Words>
  <Application>Microsoft Office PowerPoint</Application>
  <PresentationFormat>Widescreen</PresentationFormat>
  <Paragraphs>109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Garamond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</dc:creator>
  <cp:lastModifiedBy>X</cp:lastModifiedBy>
  <cp:revision>52</cp:revision>
  <dcterms:created xsi:type="dcterms:W3CDTF">2020-11-09T13:18:04Z</dcterms:created>
  <dcterms:modified xsi:type="dcterms:W3CDTF">2024-11-10T21:52:31Z</dcterms:modified>
</cp:coreProperties>
</file>