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47" autoAdjust="0"/>
    <p:restoredTop sz="94660"/>
  </p:normalViewPr>
  <p:slideViewPr>
    <p:cSldViewPr>
      <p:cViewPr varScale="1">
        <p:scale>
          <a:sx n="112" d="100"/>
          <a:sy n="112" d="100"/>
        </p:scale>
        <p:origin x="78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C42F1-53A4-432A-AF21-77FF2CAAE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2217D5-9E8C-495E-A36F-88F644418F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67B50-8FEB-40D9-8C6B-1FDADB891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8397D-0DF8-4272-A2B4-870BB736BE82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0210D-590C-4F08-9988-6EC5682F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6B360-5A44-4291-873E-B4B648E7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A138-DC5B-4794-9A96-1C8D04DB8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16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709D3-481E-460C-9BAB-3787D5BCB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C1E5E-4551-451E-A2EF-3E7524413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9B7E7-DE16-489D-BF5C-B0ED86965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8397D-0DF8-4272-A2B4-870BB736BE82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D7268-6ADE-4DAC-8857-A2C033F6A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07AB3-30A4-43BA-9178-4604323F7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A138-DC5B-4794-9A96-1C8D04DB8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30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3F4B0-4250-45C9-A7F2-8A38FCEE8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E3290E-B924-46F3-969E-ECEAF6821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AEC927-D25F-43B3-A22A-336504BF0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8397D-0DF8-4272-A2B4-870BB736BE82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853C8-07CA-45CF-8011-C36B3BA44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CABC2-1905-4CD7-8767-5DA04C674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A138-DC5B-4794-9A96-1C8D04DB8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6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B893D-2344-46F8-8195-A2B916E2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C735D-034D-41E4-8CFA-D8D1910653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2DF133-A59F-4440-8CD9-A8D6574B7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EB246-CA24-4D48-BB5E-914718735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8397D-0DF8-4272-A2B4-870BB736BE82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2BD0C-C138-426C-A4D3-4FF457DC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6B914-84D1-42DB-A255-0406F0FAF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A138-DC5B-4794-9A96-1C8D04DB8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6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C785E-688B-4BFE-A866-A38C89001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40131-20E2-411F-8C7C-1E427E220F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8AFAAB-71D5-4A51-BE80-1E93EBFD3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C822F-B1E0-407D-B465-5EFB7B3B1D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BE0B84-FB55-4B8A-AB2B-2D3BB93BB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E3D54B-1529-41AD-A32C-F09AEDED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8397D-0DF8-4272-A2B4-870BB736BE82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8DE7C9-36F8-4E06-95ED-45E2E5EE5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FA7108-E101-4648-A453-C1966C3B7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A138-DC5B-4794-9A96-1C8D04DB8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04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234E6-7128-4EAA-998A-C96483C4A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CE0DFA-8820-4388-90E0-EFFB966BF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8397D-0DF8-4272-A2B4-870BB736BE82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A8EA2-BECC-4555-9754-04FF7264A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A1D61-8930-4ED2-B8DD-31CA93269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A138-DC5B-4794-9A96-1C8D04DB8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81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5492EA-F710-411D-B13A-4C9A7255F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8397D-0DF8-4272-A2B4-870BB736BE82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6D34F4-9ABA-408D-B82A-5F5C0DDC3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26517-39AF-4844-B0A6-BA4CFD405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A138-DC5B-4794-9A96-1C8D04DB8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94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39615-0032-455F-A77D-75A22E838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3C896-18B8-404D-A799-E6701D362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0F749-1BA3-48AF-87CB-0693B17FF8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40FFA7-8852-40BB-92D3-883A8427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8397D-0DF8-4272-A2B4-870BB736BE82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F376D-A5DE-45DB-B020-FFDD4B76D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6F6A8-497D-4CA8-9ACF-F9A9482A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A138-DC5B-4794-9A96-1C8D04DB8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29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86AC0-06BD-4CD0-A52A-26B102F8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6ABA8D-B7A7-4EB8-A72B-91B8CC164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690C6-3EB7-413C-AD23-7EDECC555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CC62A8-B61E-4466-B194-1C553C554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8397D-0DF8-4272-A2B4-870BB736BE82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B3978-35C4-4072-8393-EE9BB6EA7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A3168-8864-4FB8-B858-B1BE66DFD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A138-DC5B-4794-9A96-1C8D04DB8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186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796E4-5336-4ED0-B301-05F73C792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19A06-116B-4410-9FD4-C3249C861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1497B-8728-48F5-AC20-0F8E79E7E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8397D-0DF8-4272-A2B4-870BB736BE82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5E0F7-357A-46B2-B094-52C88D0C3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0B02E-11B8-4023-B21B-C058A364E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A138-DC5B-4794-9A96-1C8D04DB8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580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908D1B-EC8B-4BAF-A7BD-7846947F18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72B5DA-8105-462B-9327-6B2099710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8F4C2-A529-4794-94ED-E12781B62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8397D-0DF8-4272-A2B4-870BB736BE82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FB4F3D-47B3-48F3-94F0-6235D2D9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6F227-CB01-4089-A953-D9DC724D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9A138-DC5B-4794-9A96-1C8D04DB8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437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409A7D-3754-4E23-BFE7-D33178AC9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ABC229-5B67-4AC2-89E8-BAAE53863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34F27-8F45-4BA2-B170-3BCA65753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D8397D-0DF8-4272-A2B4-870BB736BE82}" type="datetimeFigureOut">
              <a:rPr lang="en-US" smtClean="0"/>
              <a:t>9/26/2022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A424D-4F9F-476C-8886-53CAA0D319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2556D-6F14-4C2A-887F-F361364DF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9A138-DC5B-4794-9A96-1C8D04DB8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88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accent2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0A9F8BD-9121-459B-AFDC-3BBF107C6543}"/>
              </a:ext>
            </a:extLst>
          </p:cNvPr>
          <p:cNvSpPr/>
          <p:nvPr/>
        </p:nvSpPr>
        <p:spPr>
          <a:xfrm>
            <a:off x="3873691" y="610749"/>
            <a:ext cx="1196788" cy="685800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968594E-4C0B-40B3-A78B-E38C9B1917FB}"/>
              </a:ext>
            </a:extLst>
          </p:cNvPr>
          <p:cNvSpPr/>
          <p:nvPr/>
        </p:nvSpPr>
        <p:spPr>
          <a:xfrm>
            <a:off x="7154804" y="620688"/>
            <a:ext cx="1196788" cy="685800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F40A87E-3C3D-411C-BE63-29B15A964F74}"/>
              </a:ext>
            </a:extLst>
          </p:cNvPr>
          <p:cNvSpPr/>
          <p:nvPr/>
        </p:nvSpPr>
        <p:spPr>
          <a:xfrm>
            <a:off x="7307204" y="773088"/>
            <a:ext cx="1196788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A057ADD-E19E-4784-9D8A-4677F6EB1874}"/>
              </a:ext>
            </a:extLst>
          </p:cNvPr>
          <p:cNvSpPr/>
          <p:nvPr/>
        </p:nvSpPr>
        <p:spPr>
          <a:xfrm>
            <a:off x="7459604" y="925488"/>
            <a:ext cx="1196788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B40740B-D961-4197-893B-CDF0F6D4CDAF}"/>
              </a:ext>
            </a:extLst>
          </p:cNvPr>
          <p:cNvSpPr/>
          <p:nvPr/>
        </p:nvSpPr>
        <p:spPr>
          <a:xfrm>
            <a:off x="7154804" y="2170247"/>
            <a:ext cx="1196788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6173DCC-F4C8-4773-809F-412AAA9A9A29}"/>
              </a:ext>
            </a:extLst>
          </p:cNvPr>
          <p:cNvSpPr/>
          <p:nvPr/>
        </p:nvSpPr>
        <p:spPr>
          <a:xfrm>
            <a:off x="7307204" y="2322647"/>
            <a:ext cx="1196788" cy="68580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DB9C8A9E-8248-4474-B4B4-5BFFDEAB78D7}"/>
              </a:ext>
            </a:extLst>
          </p:cNvPr>
          <p:cNvSpPr/>
          <p:nvPr/>
        </p:nvSpPr>
        <p:spPr>
          <a:xfrm>
            <a:off x="7459604" y="2475047"/>
            <a:ext cx="1196788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8CA50C3-6182-48A9-97CE-AF3697909B2C}"/>
              </a:ext>
            </a:extLst>
          </p:cNvPr>
          <p:cNvSpPr/>
          <p:nvPr/>
        </p:nvSpPr>
        <p:spPr>
          <a:xfrm>
            <a:off x="7144865" y="3704519"/>
            <a:ext cx="1196788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9B5F482-1160-4B42-99A5-103106BD09C5}"/>
              </a:ext>
            </a:extLst>
          </p:cNvPr>
          <p:cNvSpPr/>
          <p:nvPr/>
        </p:nvSpPr>
        <p:spPr>
          <a:xfrm>
            <a:off x="7297265" y="3856919"/>
            <a:ext cx="1196788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AB616DE-EE1A-4976-BC5C-A2EF03C577EF}"/>
              </a:ext>
            </a:extLst>
          </p:cNvPr>
          <p:cNvSpPr/>
          <p:nvPr/>
        </p:nvSpPr>
        <p:spPr>
          <a:xfrm>
            <a:off x="7449665" y="4009319"/>
            <a:ext cx="1196788" cy="6858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390FC10-D470-4640-828C-9C2D052B11B4}"/>
              </a:ext>
            </a:extLst>
          </p:cNvPr>
          <p:cNvSpPr/>
          <p:nvPr/>
        </p:nvSpPr>
        <p:spPr>
          <a:xfrm>
            <a:off x="7144865" y="3704519"/>
            <a:ext cx="1196788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A0AC2E1A-4125-4651-B39D-C7C0A6BC78E6}"/>
              </a:ext>
            </a:extLst>
          </p:cNvPr>
          <p:cNvSpPr/>
          <p:nvPr/>
        </p:nvSpPr>
        <p:spPr>
          <a:xfrm>
            <a:off x="7297265" y="3856919"/>
            <a:ext cx="1196788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D94AB00-B42F-4BD0-9546-04D2A674727D}"/>
              </a:ext>
            </a:extLst>
          </p:cNvPr>
          <p:cNvSpPr/>
          <p:nvPr/>
        </p:nvSpPr>
        <p:spPr>
          <a:xfrm>
            <a:off x="7154804" y="2170246"/>
            <a:ext cx="1196788" cy="6858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80EF6E4-E25A-4452-80D5-7F839E9FC779}"/>
              </a:ext>
            </a:extLst>
          </p:cNvPr>
          <p:cNvSpPr/>
          <p:nvPr/>
        </p:nvSpPr>
        <p:spPr>
          <a:xfrm>
            <a:off x="7154804" y="620688"/>
            <a:ext cx="1196788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0E2C772-7D63-4CBC-B797-E80FBD4580C3}"/>
              </a:ext>
            </a:extLst>
          </p:cNvPr>
          <p:cNvSpPr/>
          <p:nvPr/>
        </p:nvSpPr>
        <p:spPr>
          <a:xfrm>
            <a:off x="714617" y="2229918"/>
            <a:ext cx="1196788" cy="685800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25FD47D-66FB-4E80-A6CD-86F8A994683A}"/>
              </a:ext>
            </a:extLst>
          </p:cNvPr>
          <p:cNvSpPr/>
          <p:nvPr/>
        </p:nvSpPr>
        <p:spPr>
          <a:xfrm>
            <a:off x="867017" y="2382318"/>
            <a:ext cx="1196788" cy="68580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A35B9C0-2FC6-49E6-9452-D62ADEF2B1EB}"/>
              </a:ext>
            </a:extLst>
          </p:cNvPr>
          <p:cNvSpPr/>
          <p:nvPr/>
        </p:nvSpPr>
        <p:spPr>
          <a:xfrm>
            <a:off x="1019417" y="2534718"/>
            <a:ext cx="1196788" cy="6858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7403C1-72B1-4592-A7EF-CBE54ED63EC7}"/>
              </a:ext>
            </a:extLst>
          </p:cNvPr>
          <p:cNvSpPr/>
          <p:nvPr/>
        </p:nvSpPr>
        <p:spPr>
          <a:xfrm>
            <a:off x="710039" y="2229715"/>
            <a:ext cx="1196788" cy="685800"/>
          </a:xfrm>
          <a:prstGeom prst="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E52DA9-62A0-43A7-A7FE-2E32E6B78231}"/>
              </a:ext>
            </a:extLst>
          </p:cNvPr>
          <p:cNvSpPr/>
          <p:nvPr/>
        </p:nvSpPr>
        <p:spPr>
          <a:xfrm>
            <a:off x="862439" y="2382115"/>
            <a:ext cx="1196788" cy="68580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8DF978-6F16-4C93-8D01-AF3D77E47001}"/>
              </a:ext>
            </a:extLst>
          </p:cNvPr>
          <p:cNvSpPr/>
          <p:nvPr/>
        </p:nvSpPr>
        <p:spPr>
          <a:xfrm>
            <a:off x="1014839" y="2534515"/>
            <a:ext cx="1196788" cy="6858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EE80B15-F028-4704-848B-D94FD9533EA0}"/>
              </a:ext>
            </a:extLst>
          </p:cNvPr>
          <p:cNvSpPr/>
          <p:nvPr/>
        </p:nvSpPr>
        <p:spPr>
          <a:xfrm>
            <a:off x="7307204" y="773088"/>
            <a:ext cx="1196788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11A8076-CF6A-4BEA-AB1F-732CD55AB2B8}"/>
              </a:ext>
            </a:extLst>
          </p:cNvPr>
          <p:cNvSpPr/>
          <p:nvPr/>
        </p:nvSpPr>
        <p:spPr>
          <a:xfrm>
            <a:off x="7307204" y="2322646"/>
            <a:ext cx="1196788" cy="6858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DFB0EA6-11CC-4513-836F-52D0D1DD8EA8}"/>
              </a:ext>
            </a:extLst>
          </p:cNvPr>
          <p:cNvSpPr/>
          <p:nvPr/>
        </p:nvSpPr>
        <p:spPr>
          <a:xfrm>
            <a:off x="7459604" y="925488"/>
            <a:ext cx="1196788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A577EE-1028-469E-B6BB-E7BFC15DCFBF}"/>
              </a:ext>
            </a:extLst>
          </p:cNvPr>
          <p:cNvSpPr/>
          <p:nvPr/>
        </p:nvSpPr>
        <p:spPr>
          <a:xfrm>
            <a:off x="3851561" y="2315209"/>
            <a:ext cx="1196788" cy="685800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961A4E4-8000-4C4E-8E5E-B1203DD9D70D}"/>
              </a:ext>
            </a:extLst>
          </p:cNvPr>
          <p:cNvSpPr/>
          <p:nvPr/>
        </p:nvSpPr>
        <p:spPr>
          <a:xfrm>
            <a:off x="7459604" y="2475046"/>
            <a:ext cx="1196788" cy="6858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4397CDD-E84F-44E1-8A82-02F42E6134D9}"/>
              </a:ext>
            </a:extLst>
          </p:cNvPr>
          <p:cNvSpPr/>
          <p:nvPr/>
        </p:nvSpPr>
        <p:spPr>
          <a:xfrm>
            <a:off x="7449665" y="4009319"/>
            <a:ext cx="1196788" cy="685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085AF07-20DA-427A-820B-DDCD2A71DA8F}"/>
              </a:ext>
            </a:extLst>
          </p:cNvPr>
          <p:cNvSpPr/>
          <p:nvPr/>
        </p:nvSpPr>
        <p:spPr>
          <a:xfrm>
            <a:off x="3851561" y="4009319"/>
            <a:ext cx="1196788" cy="6858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E181F65-2CB4-4ED1-BD49-715E81E2D67E}"/>
              </a:ext>
            </a:extLst>
          </p:cNvPr>
          <p:cNvSpPr txBox="1"/>
          <p:nvPr/>
        </p:nvSpPr>
        <p:spPr>
          <a:xfrm>
            <a:off x="380713" y="5229200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Imagine </a:t>
            </a:r>
            <a:r>
              <a:rPr lang="en-US" dirty="0" err="1"/>
              <a:t>ini</a:t>
            </a:r>
            <a:r>
              <a:rPr lang="ro-RO" dirty="0" err="1"/>
              <a:t>țială</a:t>
            </a:r>
            <a:r>
              <a:rPr lang="ro-RO" dirty="0"/>
              <a:t> RGB</a:t>
            </a:r>
          </a:p>
          <a:p>
            <a:pPr algn="ctr"/>
            <a:r>
              <a:rPr lang="ro-RO" dirty="0"/>
              <a:t>(3 plane)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A395DD4-C6ED-4E56-ADA2-D8A0C9531F47}"/>
              </a:ext>
            </a:extLst>
          </p:cNvPr>
          <p:cNvSpPr txBox="1"/>
          <p:nvPr/>
        </p:nvSpPr>
        <p:spPr>
          <a:xfrm>
            <a:off x="3287688" y="5227806"/>
            <a:ext cx="24381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/>
              <a:t>Imagini în nuanțe de gri</a:t>
            </a:r>
          </a:p>
          <a:p>
            <a:pPr algn="ctr"/>
            <a:r>
              <a:rPr lang="ro-RO" dirty="0"/>
              <a:t>(1 plan)</a:t>
            </a:r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1019192-176A-465B-B8F0-2A723CD5A15C}"/>
              </a:ext>
            </a:extLst>
          </p:cNvPr>
          <p:cNvSpPr txBox="1"/>
          <p:nvPr/>
        </p:nvSpPr>
        <p:spPr>
          <a:xfrm>
            <a:off x="6619683" y="4959850"/>
            <a:ext cx="23768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Imagin</a:t>
            </a:r>
            <a:r>
              <a:rPr lang="ro-RO" dirty="0"/>
              <a:t>i</a:t>
            </a:r>
            <a:r>
              <a:rPr lang="en-US" dirty="0"/>
              <a:t> </a:t>
            </a:r>
            <a:r>
              <a:rPr lang="ro-RO" dirty="0"/>
              <a:t>RGB nule</a:t>
            </a:r>
          </a:p>
          <a:p>
            <a:pPr algn="ctr"/>
            <a:r>
              <a:rPr lang="ro-RO" dirty="0"/>
              <a:t>(</a:t>
            </a:r>
            <a:r>
              <a:rPr lang="en-US" dirty="0" err="1"/>
              <a:t>negre</a:t>
            </a:r>
            <a:r>
              <a:rPr lang="ro-RO" dirty="0"/>
              <a:t>)</a:t>
            </a:r>
          </a:p>
          <a:p>
            <a:pPr algn="ctr"/>
            <a:r>
              <a:rPr lang="ro-RO" dirty="0"/>
              <a:t>(3 plane)</a:t>
            </a: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5FBDC08-3E29-4A95-957D-4D43705143DC}"/>
              </a:ext>
            </a:extLst>
          </p:cNvPr>
          <p:cNvSpPr txBox="1"/>
          <p:nvPr/>
        </p:nvSpPr>
        <p:spPr>
          <a:xfrm>
            <a:off x="10344472" y="4969986"/>
            <a:ext cx="15594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Imagin</a:t>
            </a:r>
            <a:r>
              <a:rPr lang="ro-RO" dirty="0"/>
              <a:t>e</a:t>
            </a:r>
            <a:r>
              <a:rPr lang="en-US" dirty="0"/>
              <a:t> </a:t>
            </a:r>
            <a:r>
              <a:rPr lang="ro-RO" dirty="0"/>
              <a:t>RGB</a:t>
            </a:r>
          </a:p>
          <a:p>
            <a:pPr algn="ctr"/>
            <a:r>
              <a:rPr lang="ro-RO" dirty="0"/>
              <a:t>reconstituită</a:t>
            </a:r>
          </a:p>
          <a:p>
            <a:pPr algn="ctr"/>
            <a:r>
              <a:rPr lang="ro-RO" dirty="0"/>
              <a:t>(3 plane)</a:t>
            </a:r>
            <a:endParaRPr lang="en-US" dirty="0"/>
          </a:p>
        </p:txBody>
      </p:sp>
      <p:sp>
        <p:nvSpPr>
          <p:cNvPr id="86" name="Arrow: Right 85">
            <a:extLst>
              <a:ext uri="{FF2B5EF4-FFF2-40B4-BE49-F238E27FC236}">
                <a16:creationId xmlns:a16="http://schemas.microsoft.com/office/drawing/2014/main" id="{F6FE371A-C6E3-40E7-914C-552802522931}"/>
              </a:ext>
            </a:extLst>
          </p:cNvPr>
          <p:cNvSpPr/>
          <p:nvPr/>
        </p:nvSpPr>
        <p:spPr>
          <a:xfrm>
            <a:off x="2477115" y="4400454"/>
            <a:ext cx="827746" cy="2062395"/>
          </a:xfrm>
          <a:prstGeom prst="rightArrow">
            <a:avLst>
              <a:gd name="adj1" fmla="val 68478"/>
              <a:gd name="adj2" fmla="val 520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o-RO" dirty="0"/>
              <a:t>Copiază fiecare plan</a:t>
            </a:r>
            <a:endParaRPr lang="en-US" dirty="0"/>
          </a:p>
        </p:txBody>
      </p: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082DB841-7493-4669-9FA5-8F782FD513D2}"/>
              </a:ext>
            </a:extLst>
          </p:cNvPr>
          <p:cNvSpPr/>
          <p:nvPr/>
        </p:nvSpPr>
        <p:spPr>
          <a:xfrm>
            <a:off x="5744858" y="3984140"/>
            <a:ext cx="1019860" cy="2895022"/>
          </a:xfrm>
          <a:prstGeom prst="rightArrow">
            <a:avLst>
              <a:gd name="adj1" fmla="val 79665"/>
              <a:gd name="adj2" fmla="val 520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o-RO" dirty="0"/>
              <a:t>Copiază în planul corespunzător R / G / B</a:t>
            </a:r>
            <a:endParaRPr lang="en-US" dirty="0"/>
          </a:p>
        </p:txBody>
      </p:sp>
      <p:sp>
        <p:nvSpPr>
          <p:cNvPr id="88" name="Arrow: Right 87">
            <a:extLst>
              <a:ext uri="{FF2B5EF4-FFF2-40B4-BE49-F238E27FC236}">
                <a16:creationId xmlns:a16="http://schemas.microsoft.com/office/drawing/2014/main" id="{1EEE5C90-A10C-4F2D-8130-D83A811C3424}"/>
              </a:ext>
            </a:extLst>
          </p:cNvPr>
          <p:cNvSpPr/>
          <p:nvPr/>
        </p:nvSpPr>
        <p:spPr>
          <a:xfrm>
            <a:off x="9017624" y="4231827"/>
            <a:ext cx="1326848" cy="2379375"/>
          </a:xfrm>
          <a:prstGeom prst="rightArrow">
            <a:avLst>
              <a:gd name="adj1" fmla="val 65211"/>
              <a:gd name="adj2" fmla="val 5202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ro-RO" dirty="0"/>
              <a:t>Suma imagini, plan cu plan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7FC9E95-A62F-4476-9EBA-8E1FEAE8AF14}"/>
              </a:ext>
            </a:extLst>
          </p:cNvPr>
          <p:cNvSpPr txBox="1"/>
          <p:nvPr/>
        </p:nvSpPr>
        <p:spPr>
          <a:xfrm>
            <a:off x="6619220" y="4941168"/>
            <a:ext cx="23768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Imagin</a:t>
            </a:r>
            <a:r>
              <a:rPr lang="ro-RO" dirty="0"/>
              <a:t>i</a:t>
            </a:r>
            <a:r>
              <a:rPr lang="en-US" dirty="0"/>
              <a:t> </a:t>
            </a:r>
            <a:r>
              <a:rPr lang="ro-RO" dirty="0"/>
              <a:t>RGB cu cîte un canal de culoare</a:t>
            </a:r>
          </a:p>
          <a:p>
            <a:pPr algn="ctr"/>
            <a:r>
              <a:rPr lang="ro-RO" dirty="0"/>
              <a:t>(3 plane)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20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5.92593E-6 L 0.25937 -0.23541 " pathEditMode="fixed" rAng="0" ptsTypes="AA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839" y="-1162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7037E-6 L 0.24479 -0.0097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40" y="-48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4.07407E-6 L 0.23229 0.21551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15" y="107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938 -0.23542 L 0.52852 -0.23542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45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5.55112E-17 L 0.28347 0.00116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28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500"/>
                            </p:stCondLst>
                            <p:childTnLst>
                              <p:par>
                                <p:cTn id="66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animClr clrSpc="rgb" dir="cw">
                                      <p:cBhvr>
                                        <p:cTn id="6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  <p:set>
                                      <p:cBhvr>
                                        <p:cTn id="6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0"/>
                            </p:stCondLst>
                            <p:childTnLst>
                              <p:par>
                                <p:cTn id="7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2.22222E-6 L 0.29519 3.7037E-6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27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000"/>
                            </p:stCondLst>
                            <p:childTnLst>
                              <p:par>
                                <p:cTn id="77" presetID="19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animClr clrSpc="rgb" dir="cw">
                                      <p:cBhvr>
                                        <p:cTn id="7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  <p:set>
                                      <p:cBhvr>
                                        <p:cTn id="8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7500"/>
                            </p:stCondLst>
                            <p:childTnLst>
                              <p:par>
                                <p:cTn id="103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7.40741E-7 L 0.23437 0.22917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19" y="11458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1.48148E-6 L 0.23268 0.23218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28" y="11597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7037E-6 L 0.23476 0.23149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32" y="1157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2.59259E-6 L 0.23437 0.00625 " pathEditMode="relative" rAng="0" ptsTypes="AA">
                                      <p:cBhvr>
                                        <p:cTn id="121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19" y="301"/>
                                    </p:animMotion>
                                  </p:childTnLst>
                                </p:cTn>
                              </p:par>
                              <p:par>
                                <p:cTn id="12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4.81481E-6 L 0.23437 0.00324 " pathEditMode="relative" rAng="0" ptsTypes="AA">
                                      <p:cBhvr>
                                        <p:cTn id="123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19" y="162"/>
                                    </p:animMotion>
                                  </p:childTnLst>
                                </p:cTn>
                              </p:par>
                              <p:par>
                                <p:cTn id="12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7037E-7 L 0.23476 0.00556 " pathEditMode="relative" rAng="0" ptsTypes="AA">
                                      <p:cBhvr>
                                        <p:cTn id="125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32" y="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4000"/>
                            </p:stCondLst>
                            <p:childTnLst>
                              <p:par>
                                <p:cTn id="12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4000"/>
                            </p:stCondLst>
                            <p:childTnLst>
                              <p:par>
                                <p:cTn id="130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2.22222E-6 L 0.23554 -0.21828 " pathEditMode="relative" rAng="0" ptsTypes="AA">
                                      <p:cBhvr>
                                        <p:cTn id="134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71" y="-10926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2.22222E-6 L 0.23515 -0.2206 " pathEditMode="relative" rAng="0" ptsTypes="AA">
                                      <p:cBhvr>
                                        <p:cTn id="136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58" y="-11042"/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0 L 0.23515 -0.21759 " pathEditMode="relative" rAng="0" ptsTypes="AA">
                                      <p:cBhvr>
                                        <p:cTn id="138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758" y="-10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6000"/>
                            </p:stCondLst>
                            <p:childTnLst>
                              <p:par>
                                <p:cTn id="140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6000"/>
                            </p:stCondLst>
                            <p:childTnLst>
                              <p:par>
                                <p:cTn id="1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56" grpId="0" animBg="1"/>
      <p:bldP spid="56" grpId="1" animBg="1"/>
      <p:bldP spid="56" grpId="2" animBg="1"/>
      <p:bldP spid="57" grpId="0" animBg="1"/>
      <p:bldP spid="57" grpId="1" animBg="1"/>
      <p:bldP spid="57" grpId="2" animBg="1"/>
      <p:bldP spid="53" grpId="0" animBg="1"/>
      <p:bldP spid="53" grpId="1" animBg="1"/>
      <p:bldP spid="53" grpId="2" animBg="1"/>
      <p:bldP spid="50" grpId="0" animBg="1"/>
      <p:bldP spid="50" grpId="1" animBg="1"/>
      <p:bldP spid="50" grpId="2" animBg="1"/>
      <p:bldP spid="4" grpId="0" animBg="1"/>
      <p:bldP spid="4" grpId="1" animBg="1"/>
      <p:bldP spid="4" grpId="2" animBg="1"/>
      <p:bldP spid="7" grpId="0" animBg="1"/>
      <p:bldP spid="8" grpId="0" animBg="1"/>
      <p:bldP spid="51" grpId="0" animBg="1"/>
      <p:bldP spid="51" grpId="1" animBg="1"/>
      <p:bldP spid="51" grpId="2" animBg="1"/>
      <p:bldP spid="54" grpId="0" animBg="1"/>
      <p:bldP spid="54" grpId="1" animBg="1"/>
      <p:bldP spid="54" grpId="2" animBg="1"/>
      <p:bldP spid="52" grpId="0" animBg="1"/>
      <p:bldP spid="52" grpId="1" animBg="1"/>
      <p:bldP spid="52" grpId="2" animBg="1"/>
      <p:bldP spid="29" grpId="0" animBg="1"/>
      <p:bldP spid="29" grpId="1" animBg="1"/>
      <p:bldP spid="29" grpId="2" animBg="1"/>
      <p:bldP spid="55" grpId="0" animBg="1"/>
      <p:bldP spid="55" grpId="1" animBg="1"/>
      <p:bldP spid="55" grpId="2" animBg="1"/>
      <p:bldP spid="58" grpId="0" animBg="1"/>
      <p:bldP spid="58" grpId="1" animBg="1"/>
      <p:bldP spid="58" grpId="2" animBg="1"/>
      <p:bldP spid="30" grpId="0" animBg="1"/>
      <p:bldP spid="30" grpId="1" animBg="1"/>
      <p:bldP spid="30" grpId="2" animBg="1"/>
      <p:bldP spid="73" grpId="0"/>
      <p:bldP spid="74" grpId="0"/>
      <p:bldP spid="74" grpId="1"/>
      <p:bldP spid="75" grpId="0"/>
      <p:bldP spid="86" grpId="0" animBg="1"/>
      <p:bldP spid="87" grpId="0" animBg="1"/>
      <p:bldP spid="88" grpId="0" animBg="1"/>
      <p:bldP spid="8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accent2">
              <a:lumMod val="40000"/>
              <a:lumOff val="6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622B1E1-980A-7088-0B0E-CDA266AA99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619157"/>
              </p:ext>
            </p:extLst>
          </p:nvPr>
        </p:nvGraphicFramePr>
        <p:xfrm>
          <a:off x="4421999" y="1052736"/>
          <a:ext cx="334800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8000">
                  <a:extLst>
                    <a:ext uri="{9D8B030D-6E8A-4147-A177-3AD203B41FA5}">
                      <a16:colId xmlns:a16="http://schemas.microsoft.com/office/drawing/2014/main" val="3070098780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1269769909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3200811410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3370182954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281922517"/>
                    </a:ext>
                  </a:extLst>
                </a:gridCol>
                <a:gridCol w="558000">
                  <a:extLst>
                    <a:ext uri="{9D8B030D-6E8A-4147-A177-3AD203B41FA5}">
                      <a16:colId xmlns:a16="http://schemas.microsoft.com/office/drawing/2014/main" val="265010786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σ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1,1</a:t>
                      </a:r>
                      <a:endParaRPr lang="en-US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σ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1,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US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σ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1,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lang="en-US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σ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1,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</a:t>
                      </a:r>
                      <a:endParaRPr lang="en-US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36567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σ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,1</a:t>
                      </a:r>
                      <a:endParaRPr lang="en-US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σ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,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US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σ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,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lang="en-US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σ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,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714721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σ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,1</a:t>
                      </a:r>
                      <a:endParaRPr lang="en-US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σ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,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US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σ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,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lang="en-US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σ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,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35377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4171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σ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,1</a:t>
                      </a:r>
                      <a:endParaRPr lang="en-US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σ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,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en-US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l-G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σ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,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lang="en-US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σ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m</a:t>
                      </a:r>
                      <a:r>
                        <a:rPr lang="en-US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,</a:t>
                      </a:r>
                      <a:r>
                        <a:rPr lang="ro-RO" baseline="-25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799597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847DA0-AD2C-CFCF-9936-67BDF1514FC3}"/>
                  </a:ext>
                </a:extLst>
              </p:cNvPr>
              <p:cNvSpPr txBox="1"/>
              <p:nvPr/>
            </p:nvSpPr>
            <p:spPr>
              <a:xfrm>
                <a:off x="479376" y="257832"/>
                <a:ext cx="32403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o-RO" dirty="0"/>
                  <a:t>Varianță maximă zgomot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ro-RO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7847DA0-AD2C-CFCF-9936-67BDF1514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6" y="257832"/>
                <a:ext cx="3240360" cy="369332"/>
              </a:xfrm>
              <a:prstGeom prst="rect">
                <a:avLst/>
              </a:prstGeom>
              <a:blipFill>
                <a:blip r:embed="rId2"/>
                <a:stretch>
                  <a:fillRect l="-37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E7D9FF9-F0CB-F2A0-4AC7-B57ACECD95EE}"/>
              </a:ext>
            </a:extLst>
          </p:cNvPr>
          <p:cNvSpPr txBox="1"/>
          <p:nvPr/>
        </p:nvSpPr>
        <p:spPr>
          <a:xfrm>
            <a:off x="1838757" y="1643970"/>
            <a:ext cx="25922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Matrice</a:t>
            </a:r>
            <a:r>
              <a:rPr lang="en-US" dirty="0"/>
              <a:t> </a:t>
            </a:r>
            <a:r>
              <a:rPr lang="ro-RO" dirty="0">
                <a:solidFill>
                  <a:srgbClr val="0000FF"/>
                </a:solidFill>
              </a:rPr>
              <a:t>varianță</a:t>
            </a:r>
            <a:r>
              <a:rPr lang="en-US" dirty="0"/>
              <a:t> </a:t>
            </a:r>
            <a:r>
              <a:rPr lang="en-US" dirty="0" err="1">
                <a:solidFill>
                  <a:srgbClr val="0000FF"/>
                </a:solidFill>
              </a:rPr>
              <a:t>zgomot</a:t>
            </a:r>
            <a:r>
              <a:rPr lang="en-US" dirty="0"/>
              <a:t> </a:t>
            </a:r>
            <a:r>
              <a:rPr lang="ro-RO" dirty="0"/>
              <a:t>pentru fiecare pixel</a:t>
            </a:r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45A83A0-EF58-6D03-E110-04D766103B97}"/>
              </a:ext>
            </a:extLst>
          </p:cNvPr>
          <p:cNvGrpSpPr/>
          <p:nvPr/>
        </p:nvGrpSpPr>
        <p:grpSpPr>
          <a:xfrm>
            <a:off x="893978" y="3366284"/>
            <a:ext cx="2753749" cy="3110810"/>
            <a:chOff x="893978" y="3366284"/>
            <a:chExt cx="2753749" cy="311081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894A68C-A0EB-AC4C-14D8-FCC9FBF4C4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3978" y="3888021"/>
              <a:ext cx="2753749" cy="258907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CD6441D-45BE-6D96-1B23-5314EFEE2498}"/>
                </a:ext>
              </a:extLst>
            </p:cNvPr>
            <p:cNvSpPr txBox="1"/>
            <p:nvPr/>
          </p:nvSpPr>
          <p:spPr>
            <a:xfrm>
              <a:off x="893978" y="3366284"/>
              <a:ext cx="2753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dirty="0"/>
                <a:t>Imagine</a:t>
              </a:r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FEEE3F8-7A10-C334-8A10-924E3377074F}"/>
              </a:ext>
            </a:extLst>
          </p:cNvPr>
          <p:cNvGrpSpPr/>
          <p:nvPr/>
        </p:nvGrpSpPr>
        <p:grpSpPr>
          <a:xfrm>
            <a:off x="8544272" y="3366284"/>
            <a:ext cx="2867025" cy="3217312"/>
            <a:chOff x="8544272" y="3366284"/>
            <a:chExt cx="2867025" cy="321731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7D7F8BA-EFE7-1F07-681D-036E9AC33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44272" y="3888021"/>
              <a:ext cx="2867025" cy="2695575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7E857D0-5CD1-8FD5-CD7B-87068DF14432}"/>
                </a:ext>
              </a:extLst>
            </p:cNvPr>
            <p:cNvSpPr txBox="1"/>
            <p:nvPr/>
          </p:nvSpPr>
          <p:spPr>
            <a:xfrm>
              <a:off x="8544272" y="3366284"/>
              <a:ext cx="2753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dirty="0">
                  <a:solidFill>
                    <a:srgbClr val="0000FF"/>
                  </a:solidFill>
                </a:rPr>
                <a:t>Imagine perturbată</a:t>
              </a:r>
              <a:endParaRPr lang="en-US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D49817B-5199-35E9-B737-4AFADB0AB983}"/>
              </a:ext>
            </a:extLst>
          </p:cNvPr>
          <p:cNvGrpSpPr/>
          <p:nvPr/>
        </p:nvGrpSpPr>
        <p:grpSpPr>
          <a:xfrm>
            <a:off x="4662487" y="3356992"/>
            <a:ext cx="2867025" cy="3226604"/>
            <a:chOff x="4662487" y="3356992"/>
            <a:chExt cx="2867025" cy="322660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BC190A3-4437-B7F5-583A-973EF085E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2487" y="3888021"/>
              <a:ext cx="2867025" cy="2695575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9E76CA6-A40A-4AC5-A851-4EACFF552E58}"/>
                </a:ext>
              </a:extLst>
            </p:cNvPr>
            <p:cNvSpPr txBox="1"/>
            <p:nvPr/>
          </p:nvSpPr>
          <p:spPr>
            <a:xfrm>
              <a:off x="4719124" y="3356992"/>
              <a:ext cx="27537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o-RO" dirty="0">
                  <a:solidFill>
                    <a:srgbClr val="0000FF"/>
                  </a:solidFill>
                </a:rPr>
                <a:t>Zgomot</a:t>
              </a:r>
              <a:endParaRPr lang="en-US" dirty="0">
                <a:solidFill>
                  <a:srgbClr val="0000FF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F0D40F9-C823-E72A-591D-9BC177A4FA2A}"/>
                  </a:ext>
                </a:extLst>
              </p:cNvPr>
              <p:cNvSpPr txBox="1"/>
              <p:nvPr/>
            </p:nvSpPr>
            <p:spPr>
              <a:xfrm>
                <a:off x="4025583" y="248242"/>
                <a:ext cx="7488832" cy="391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o-RO" dirty="0"/>
                  <a:t>Varianță zgomot pentru pixelul </a:t>
                </a:r>
                <a14:m>
                  <m:oMath xmlns:m="http://schemas.openxmlformats.org/officeDocument/2006/math">
                    <m:r>
                      <a:rPr lang="ro-RO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o-RO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ro-RO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o-RO" i="1" dirty="0" err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o-RO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ro-RO" dirty="0"/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ro-RO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ro-RO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ro-RO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ro-R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ro-RO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ro-RO" i="1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e>
                    </m:d>
                  </m:oMath>
                </a14:m>
                <a:r>
                  <a:rPr lang="ro-RO" dirty="0"/>
                  <a:t>, </a:t>
                </a:r>
                <a14:m>
                  <m:oMath xmlns:m="http://schemas.openxmlformats.org/officeDocument/2006/math">
                    <m:r>
                      <a:rPr lang="ro-R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ro-R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ro-RO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ro-RO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ro-RO" dirty="0"/>
                  <a:t>, </a:t>
                </a:r>
                <a14:m>
                  <m:oMath xmlns:m="http://schemas.openxmlformats.org/officeDocument/2006/math">
                    <m:r>
                      <a:rPr lang="ro-RO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ro-RO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ro-RO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ro-RO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ro-RO" dirty="0"/>
                  <a:t> </a:t>
                </a:r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F0D40F9-C823-E72A-591D-9BC177A4F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583" y="248242"/>
                <a:ext cx="7488832" cy="391646"/>
              </a:xfrm>
              <a:prstGeom prst="rect">
                <a:avLst/>
              </a:prstGeom>
              <a:blipFill>
                <a:blip r:embed="rId6"/>
                <a:stretch>
                  <a:fillRect t="-7813" b="-203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30A864E-2D9E-F681-A809-784AB9114A2C}"/>
                  </a:ext>
                </a:extLst>
              </p:cNvPr>
              <p:cNvSpPr txBox="1"/>
              <p:nvPr/>
            </p:nvSpPr>
            <p:spPr>
              <a:xfrm>
                <a:off x="3575720" y="119332"/>
                <a:ext cx="61539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30A864E-2D9E-F681-A809-784AB9114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720" y="119332"/>
                <a:ext cx="615391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CB75EB9-6852-46D6-D2B9-2F232A1C5921}"/>
                  </a:ext>
                </a:extLst>
              </p:cNvPr>
              <p:cNvSpPr txBox="1"/>
              <p:nvPr/>
            </p:nvSpPr>
            <p:spPr>
              <a:xfrm rot="5400000" flipH="1">
                <a:off x="5849521" y="442497"/>
                <a:ext cx="5632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CB75EB9-6852-46D6-D2B9-2F232A1C5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 flipH="1">
                <a:off x="5849521" y="442497"/>
                <a:ext cx="563224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C17955A-4379-72C3-A4C6-93844D48220E}"/>
                  </a:ext>
                </a:extLst>
              </p:cNvPr>
              <p:cNvSpPr txBox="1"/>
              <p:nvPr/>
            </p:nvSpPr>
            <p:spPr>
              <a:xfrm>
                <a:off x="7729196" y="4912642"/>
                <a:ext cx="6153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C17955A-4379-72C3-A4C6-93844D482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196" y="4912642"/>
                <a:ext cx="615392" cy="6463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FD322C2-BF0C-A07A-8EBB-48A522F6875C}"/>
                  </a:ext>
                </a:extLst>
              </p:cNvPr>
              <p:cNvSpPr txBox="1"/>
              <p:nvPr/>
            </p:nvSpPr>
            <p:spPr>
              <a:xfrm>
                <a:off x="3850734" y="4859391"/>
                <a:ext cx="60874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FD322C2-BF0C-A07A-8EBB-48A522F68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0734" y="4859391"/>
                <a:ext cx="608745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C3A7856-0599-D85B-911B-4CEE058D5C39}"/>
                  </a:ext>
                </a:extLst>
              </p:cNvPr>
              <p:cNvSpPr txBox="1"/>
              <p:nvPr/>
            </p:nvSpPr>
            <p:spPr>
              <a:xfrm rot="5400000" flipH="1">
                <a:off x="5835090" y="2872129"/>
                <a:ext cx="57606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C3A7856-0599-D85B-911B-4CEE058D5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 flipH="1">
                <a:off x="5835090" y="2872129"/>
                <a:ext cx="576062" cy="64633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957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19" grpId="0"/>
      <p:bldP spid="20" grpId="0"/>
      <p:bldP spid="23" grpId="0"/>
      <p:bldP spid="24" grpId="0"/>
      <p:bldP spid="25" grpId="0"/>
      <p:bldP spid="3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181</Words>
  <Application>Microsoft Office PowerPoint</Application>
  <PresentationFormat>Widescreen</PresentationFormat>
  <Paragraphs>56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</dc:creator>
  <cp:lastModifiedBy>X</cp:lastModifiedBy>
  <cp:revision>28</cp:revision>
  <dcterms:created xsi:type="dcterms:W3CDTF">2020-09-29T21:42:41Z</dcterms:created>
  <dcterms:modified xsi:type="dcterms:W3CDTF">2022-09-26T12:12:07Z</dcterms:modified>
</cp:coreProperties>
</file>